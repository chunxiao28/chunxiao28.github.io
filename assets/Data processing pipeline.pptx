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6.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7.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8.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9.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10.xml" ContentType="application/vnd.openxmlformats-officedocument.presentationml.notesSlide+xml"/>
  <Override PartName="/ppt/tags/tag38.xml" ContentType="application/vnd.openxmlformats-officedocument.presentationml.tags+xml"/>
  <Override PartName="/ppt/notesSlides/notesSlide11.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2.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13.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4.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15.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6.xml" ContentType="application/vnd.openxmlformats-officedocument.presentationml.notesSlide+xml"/>
  <Override PartName="/ppt/tags/tag62.xml" ContentType="application/vnd.openxmlformats-officedocument.presentationml.tags+xml"/>
  <Override PartName="/ppt/notesSlides/notesSlide17.xml" ContentType="application/vnd.openxmlformats-officedocument.presentationml.notesSlide+xml"/>
  <Override PartName="/ppt/tags/tag63.xml" ContentType="application/vnd.openxmlformats-officedocument.presentationml.tags+xml"/>
  <Override PartName="/ppt/notesSlides/notesSlide18.xml" ContentType="application/vnd.openxmlformats-officedocument.presentationml.notesSlide+xml"/>
  <Override PartName="/ppt/tags/tag64.xml" ContentType="application/vnd.openxmlformats-officedocument.presentationml.tags+xml"/>
  <Override PartName="/ppt/notesSlides/notesSlide19.xml" ContentType="application/vnd.openxmlformats-officedocument.presentationml.notesSlide+xml"/>
  <Override PartName="/ppt/tags/tag65.xml" ContentType="application/vnd.openxmlformats-officedocument.presentationml.tags+xml"/>
  <Override PartName="/ppt/notesSlides/notesSlide20.xml" ContentType="application/vnd.openxmlformats-officedocument.presentationml.notesSlide+xml"/>
  <Override PartName="/ppt/tags/tag66.xml" ContentType="application/vnd.openxmlformats-officedocument.presentationml.tags+xml"/>
  <Override PartName="/ppt/notesSlides/notesSlide21.xml" ContentType="application/vnd.openxmlformats-officedocument.presentationml.notesSlide+xml"/>
  <Override PartName="/ppt/tags/tag67.xml" ContentType="application/vnd.openxmlformats-officedocument.presentationml.tags+xml"/>
  <Override PartName="/ppt/notesSlides/notesSlide22.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23.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24.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25.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26.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27.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28.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notesSlides/notesSlide29.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30.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notesSlides/notesSlide31.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32.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33.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34.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notesSlides/notesSlide35.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notesSlides/notesSlide36.xml" ContentType="application/vnd.openxmlformats-officedocument.presentationml.notesSlide+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37.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notesSlides/notesSlide38.xml" ContentType="application/vnd.openxmlformats-officedocument.presentationml.notesSlide+xml"/>
  <Override PartName="/ppt/tags/tag190.xml" ContentType="application/vnd.openxmlformats-officedocument.presentationml.tags+xml"/>
  <Override PartName="/ppt/notesSlides/notesSlide39.xml" ContentType="application/vnd.openxmlformats-officedocument.presentationml.notesSlide+xml"/>
  <Override PartName="/ppt/tags/tag191.xml" ContentType="application/vnd.openxmlformats-officedocument.presentationml.tags+xml"/>
  <Override PartName="/ppt/notesSlides/notesSlide40.xml" ContentType="application/vnd.openxmlformats-officedocument.presentationml.notesSlide+xml"/>
  <Override PartName="/ppt/tags/tag192.xml" ContentType="application/vnd.openxmlformats-officedocument.presentationml.tags+xml"/>
  <Override PartName="/ppt/notesSlides/notesSlide41.xml" ContentType="application/vnd.openxmlformats-officedocument.presentationml.notesSlide+xml"/>
  <Override PartName="/ppt/tags/tag193.xml" ContentType="application/vnd.openxmlformats-officedocument.presentationml.tags+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7" r:id="rId2"/>
  </p:sldMasterIdLst>
  <p:notesMasterIdLst>
    <p:notesMasterId r:id="rId46"/>
  </p:notesMasterIdLst>
  <p:sldIdLst>
    <p:sldId id="256" r:id="rId3"/>
    <p:sldId id="257" r:id="rId4"/>
    <p:sldId id="258" r:id="rId5"/>
    <p:sldId id="301" r:id="rId6"/>
    <p:sldId id="302" r:id="rId7"/>
    <p:sldId id="303" r:id="rId8"/>
    <p:sldId id="304" r:id="rId9"/>
    <p:sldId id="305" r:id="rId10"/>
    <p:sldId id="306" r:id="rId11"/>
    <p:sldId id="307" r:id="rId12"/>
    <p:sldId id="263" r:id="rId13"/>
    <p:sldId id="308" r:id="rId14"/>
    <p:sldId id="309" r:id="rId15"/>
    <p:sldId id="310" r:id="rId16"/>
    <p:sldId id="311" r:id="rId17"/>
    <p:sldId id="312" r:id="rId18"/>
    <p:sldId id="264" r:id="rId19"/>
    <p:sldId id="265" r:id="rId20"/>
    <p:sldId id="266" r:id="rId21"/>
    <p:sldId id="268" r:id="rId22"/>
    <p:sldId id="275" r:id="rId23"/>
    <p:sldId id="277" r:id="rId24"/>
    <p:sldId id="300" r:id="rId25"/>
    <p:sldId id="287" r:id="rId26"/>
    <p:sldId id="313" r:id="rId27"/>
    <p:sldId id="314" r:id="rId28"/>
    <p:sldId id="315" r:id="rId29"/>
    <p:sldId id="316" r:id="rId30"/>
    <p:sldId id="317" r:id="rId31"/>
    <p:sldId id="318" r:id="rId32"/>
    <p:sldId id="319" r:id="rId33"/>
    <p:sldId id="320" r:id="rId34"/>
    <p:sldId id="321" r:id="rId35"/>
    <p:sldId id="322" r:id="rId36"/>
    <p:sldId id="323" r:id="rId37"/>
    <p:sldId id="324" r:id="rId38"/>
    <p:sldId id="325" r:id="rId39"/>
    <p:sldId id="326" r:id="rId40"/>
    <p:sldId id="327" r:id="rId41"/>
    <p:sldId id="295" r:id="rId42"/>
    <p:sldId id="281" r:id="rId43"/>
    <p:sldId id="282" r:id="rId44"/>
    <p:sldId id="284" r:id="rId45"/>
  </p:sldIdLst>
  <p:sldSz cx="12192000" cy="6858000"/>
  <p:notesSz cx="6799263" cy="9929813"/>
  <p:embeddedFontLst>
    <p:embeddedFont>
      <p:font typeface="Arimo" panose="020B0604020202020204" charset="0"/>
      <p:regular r:id="rId47"/>
      <p:bold r:id="rId48"/>
      <p:italic r:id="rId49"/>
      <p:boldItalic r:id="rId50"/>
    </p:embeddedFont>
    <p:embeddedFont>
      <p:font typeface="Verdana" panose="020B0604030504040204" pitchFamily="34"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hP8u7O5TzKtZDCFLvs0pn1LQgon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1FA9E6-977F-4CFD-A504-0D350430E2A8}" v="25" dt="2025-12-15T10:29:31.3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097" autoAdjust="0"/>
  </p:normalViewPr>
  <p:slideViewPr>
    <p:cSldViewPr snapToGrid="0" showGuides="1">
      <p:cViewPr varScale="1">
        <p:scale>
          <a:sx n="93" d="100"/>
          <a:sy n="93" d="100"/>
        </p:scale>
        <p:origin x="1152"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1.fntdata"/><Relationship Id="rId50" Type="http://schemas.openxmlformats.org/officeDocument/2006/relationships/font" Target="fonts/font4.fntdata"/><Relationship Id="rId55" Type="http://customschemas.google.com/relationships/presentationmetadata" Target="meta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7.fntdata"/><Relationship Id="rId58"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3.fntdata"/><Relationship Id="rId57" Type="http://schemas.openxmlformats.org/officeDocument/2006/relationships/viewProps" Target="viewProps.xml"/><Relationship Id="rId61"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6.fntdata"/><Relationship Id="rId60"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2.fntdata"/><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5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Chunxiao" userId="bc32f9a9-f54e-4a35-97d1-423a97fcbddd" providerId="ADAL" clId="{2A959F47-C8D2-44A6-BC4F-20F576B61DD9}"/>
    <pc:docChg chg="undo custSel addSld delSld modSld sldOrd">
      <pc:chgData name="WANG Chunxiao" userId="bc32f9a9-f54e-4a35-97d1-423a97fcbddd" providerId="ADAL" clId="{2A959F47-C8D2-44A6-BC4F-20F576B61DD9}" dt="2025-06-22T22:40:48.912" v="6327" actId="20577"/>
      <pc:docMkLst>
        <pc:docMk/>
      </pc:docMkLst>
      <pc:sldChg chg="modSp mod modNotesTx">
        <pc:chgData name="WANG Chunxiao" userId="bc32f9a9-f54e-4a35-97d1-423a97fcbddd" providerId="ADAL" clId="{2A959F47-C8D2-44A6-BC4F-20F576B61DD9}" dt="2025-06-21T21:52:48.593" v="973" actId="20577"/>
        <pc:sldMkLst>
          <pc:docMk/>
          <pc:sldMk cId="0" sldId="256"/>
        </pc:sldMkLst>
      </pc:sldChg>
      <pc:sldChg chg="modSp mod">
        <pc:chgData name="WANG Chunxiao" userId="bc32f9a9-f54e-4a35-97d1-423a97fcbddd" providerId="ADAL" clId="{2A959F47-C8D2-44A6-BC4F-20F576B61DD9}" dt="2025-06-22T21:12:08.412" v="2788"/>
        <pc:sldMkLst>
          <pc:docMk/>
          <pc:sldMk cId="0" sldId="257"/>
        </pc:sldMkLst>
      </pc:sldChg>
      <pc:sldChg chg="modSp del mod modNotesTx">
        <pc:chgData name="WANG Chunxiao" userId="bc32f9a9-f54e-4a35-97d1-423a97fcbddd" providerId="ADAL" clId="{2A959F47-C8D2-44A6-BC4F-20F576B61DD9}" dt="2025-06-22T20:58:51.114" v="2466" actId="47"/>
        <pc:sldMkLst>
          <pc:docMk/>
          <pc:sldMk cId="0" sldId="259"/>
        </pc:sldMkLst>
      </pc:sldChg>
      <pc:sldChg chg="del">
        <pc:chgData name="WANG Chunxiao" userId="bc32f9a9-f54e-4a35-97d1-423a97fcbddd" providerId="ADAL" clId="{2A959F47-C8D2-44A6-BC4F-20F576B61DD9}" dt="2025-06-20T15:36:06.884" v="339" actId="47"/>
        <pc:sldMkLst>
          <pc:docMk/>
          <pc:sldMk cId="0" sldId="260"/>
        </pc:sldMkLst>
      </pc:sldChg>
      <pc:sldChg chg="modSp mod modAnim modNotesTx">
        <pc:chgData name="WANG Chunxiao" userId="bc32f9a9-f54e-4a35-97d1-423a97fcbddd" providerId="ADAL" clId="{2A959F47-C8D2-44A6-BC4F-20F576B61DD9}" dt="2025-06-22T21:11:01.155" v="2741" actId="20577"/>
        <pc:sldMkLst>
          <pc:docMk/>
          <pc:sldMk cId="0" sldId="261"/>
        </pc:sldMkLst>
      </pc:sldChg>
      <pc:sldChg chg="addSp modSp mod modAnim modNotes modNotesTx">
        <pc:chgData name="WANG Chunxiao" userId="bc32f9a9-f54e-4a35-97d1-423a97fcbddd" providerId="ADAL" clId="{2A959F47-C8D2-44A6-BC4F-20F576B61DD9}" dt="2025-06-22T21:38:51.162" v="3708" actId="20577"/>
        <pc:sldMkLst>
          <pc:docMk/>
          <pc:sldMk cId="0" sldId="262"/>
        </pc:sldMkLst>
      </pc:sldChg>
      <pc:sldChg chg="del modNotes">
        <pc:chgData name="WANG Chunxiao" userId="bc32f9a9-f54e-4a35-97d1-423a97fcbddd" providerId="ADAL" clId="{2A959F47-C8D2-44A6-BC4F-20F576B61DD9}" dt="2025-06-21T20:38:24.029" v="819" actId="2696"/>
        <pc:sldMkLst>
          <pc:docMk/>
          <pc:sldMk cId="0" sldId="263"/>
        </pc:sldMkLst>
      </pc:sldChg>
      <pc:sldChg chg="modSp add mod">
        <pc:chgData name="WANG Chunxiao" userId="bc32f9a9-f54e-4a35-97d1-423a97fcbddd" providerId="ADAL" clId="{2A959F47-C8D2-44A6-BC4F-20F576B61DD9}" dt="2025-06-21T20:38:34.164" v="842" actId="20577"/>
        <pc:sldMkLst>
          <pc:docMk/>
          <pc:sldMk cId="4015868391" sldId="263"/>
        </pc:sldMkLst>
      </pc:sldChg>
      <pc:sldChg chg="modSp mod modNotes">
        <pc:chgData name="WANG Chunxiao" userId="bc32f9a9-f54e-4a35-97d1-423a97fcbddd" providerId="ADAL" clId="{2A959F47-C8D2-44A6-BC4F-20F576B61DD9}" dt="2025-06-22T21:24:14.394" v="3096" actId="20577"/>
        <pc:sldMkLst>
          <pc:docMk/>
          <pc:sldMk cId="0" sldId="264"/>
        </pc:sldMkLst>
      </pc:sldChg>
      <pc:sldChg chg="addSp modSp mod modNotes">
        <pc:chgData name="WANG Chunxiao" userId="bc32f9a9-f54e-4a35-97d1-423a97fcbddd" providerId="ADAL" clId="{2A959F47-C8D2-44A6-BC4F-20F576B61DD9}" dt="2025-06-22T22:23:41.125" v="5456" actId="20577"/>
        <pc:sldMkLst>
          <pc:docMk/>
          <pc:sldMk cId="0" sldId="265"/>
        </pc:sldMkLst>
      </pc:sldChg>
      <pc:sldChg chg="addSp modSp mod modNotes">
        <pc:chgData name="WANG Chunxiao" userId="bc32f9a9-f54e-4a35-97d1-423a97fcbddd" providerId="ADAL" clId="{2A959F47-C8D2-44A6-BC4F-20F576B61DD9}" dt="2025-06-22T22:23:33.563" v="5455" actId="1076"/>
        <pc:sldMkLst>
          <pc:docMk/>
          <pc:sldMk cId="0" sldId="266"/>
        </pc:sldMkLst>
      </pc:sldChg>
      <pc:sldChg chg="del modNotes">
        <pc:chgData name="WANG Chunxiao" userId="bc32f9a9-f54e-4a35-97d1-423a97fcbddd" providerId="ADAL" clId="{2A959F47-C8D2-44A6-BC4F-20F576B61DD9}" dt="2025-06-22T21:39:20.376" v="3709" actId="47"/>
        <pc:sldMkLst>
          <pc:docMk/>
          <pc:sldMk cId="0" sldId="267"/>
        </pc:sldMkLst>
      </pc:sldChg>
      <pc:sldChg chg="addSp modSp mod modNotes">
        <pc:chgData name="WANG Chunxiao" userId="bc32f9a9-f54e-4a35-97d1-423a97fcbddd" providerId="ADAL" clId="{2A959F47-C8D2-44A6-BC4F-20F576B61DD9}" dt="2025-06-22T22:24:39.382" v="5556" actId="1076"/>
        <pc:sldMkLst>
          <pc:docMk/>
          <pc:sldMk cId="0" sldId="268"/>
        </pc:sldMkLst>
      </pc:sldChg>
      <pc:sldChg chg="del modNotes">
        <pc:chgData name="WANG Chunxiao" userId="bc32f9a9-f54e-4a35-97d1-423a97fcbddd" providerId="ADAL" clId="{2A959F47-C8D2-44A6-BC4F-20F576B61DD9}" dt="2025-06-22T21:39:30.039" v="3710" actId="47"/>
        <pc:sldMkLst>
          <pc:docMk/>
          <pc:sldMk cId="0" sldId="269"/>
        </pc:sldMkLst>
      </pc:sldChg>
      <pc:sldChg chg="modNotes">
        <pc:chgData name="WANG Chunxiao" userId="bc32f9a9-f54e-4a35-97d1-423a97fcbddd" providerId="ADAL" clId="{2A959F47-C8D2-44A6-BC4F-20F576B61DD9}" dt="2025-06-20T15:30:28.636" v="175"/>
        <pc:sldMkLst>
          <pc:docMk/>
          <pc:sldMk cId="0" sldId="270"/>
        </pc:sldMkLst>
      </pc:sldChg>
      <pc:sldChg chg="modSp mod modNotes">
        <pc:chgData name="WANG Chunxiao" userId="bc32f9a9-f54e-4a35-97d1-423a97fcbddd" providerId="ADAL" clId="{2A959F47-C8D2-44A6-BC4F-20F576B61DD9}" dt="2025-06-22T22:25:09.024" v="5564" actId="14100"/>
        <pc:sldMkLst>
          <pc:docMk/>
          <pc:sldMk cId="0" sldId="271"/>
        </pc:sldMkLst>
      </pc:sldChg>
      <pc:sldChg chg="del modNotes">
        <pc:chgData name="WANG Chunxiao" userId="bc32f9a9-f54e-4a35-97d1-423a97fcbddd" providerId="ADAL" clId="{2A959F47-C8D2-44A6-BC4F-20F576B61DD9}" dt="2025-06-22T21:45:30.476" v="3744" actId="47"/>
        <pc:sldMkLst>
          <pc:docMk/>
          <pc:sldMk cId="0" sldId="272"/>
        </pc:sldMkLst>
      </pc:sldChg>
      <pc:sldChg chg="ord modNotes">
        <pc:chgData name="WANG Chunxiao" userId="bc32f9a9-f54e-4a35-97d1-423a97fcbddd" providerId="ADAL" clId="{2A959F47-C8D2-44A6-BC4F-20F576B61DD9}" dt="2025-06-22T21:52:47.089" v="3926"/>
        <pc:sldMkLst>
          <pc:docMk/>
          <pc:sldMk cId="0" sldId="273"/>
        </pc:sldMkLst>
      </pc:sldChg>
      <pc:sldChg chg="del modNotes">
        <pc:chgData name="WANG Chunxiao" userId="bc32f9a9-f54e-4a35-97d1-423a97fcbddd" providerId="ADAL" clId="{2A959F47-C8D2-44A6-BC4F-20F576B61DD9}" dt="2025-06-22T21:40:52.400" v="3739" actId="47"/>
        <pc:sldMkLst>
          <pc:docMk/>
          <pc:sldMk cId="0" sldId="274"/>
        </pc:sldMkLst>
      </pc:sldChg>
      <pc:sldChg chg="addSp modSp mod modNotes">
        <pc:chgData name="WANG Chunxiao" userId="bc32f9a9-f54e-4a35-97d1-423a97fcbddd" providerId="ADAL" clId="{2A959F47-C8D2-44A6-BC4F-20F576B61DD9}" dt="2025-06-22T22:26:00.511" v="5645" actId="1076"/>
        <pc:sldMkLst>
          <pc:docMk/>
          <pc:sldMk cId="0" sldId="275"/>
        </pc:sldMkLst>
      </pc:sldChg>
      <pc:sldChg chg="del modNotes">
        <pc:chgData name="WANG Chunxiao" userId="bc32f9a9-f54e-4a35-97d1-423a97fcbddd" providerId="ADAL" clId="{2A959F47-C8D2-44A6-BC4F-20F576B61DD9}" dt="2025-06-22T21:40:46.569" v="3738" actId="47"/>
        <pc:sldMkLst>
          <pc:docMk/>
          <pc:sldMk cId="0" sldId="276"/>
        </pc:sldMkLst>
      </pc:sldChg>
      <pc:sldChg chg="addSp modSp mod modNotes">
        <pc:chgData name="WANG Chunxiao" userId="bc32f9a9-f54e-4a35-97d1-423a97fcbddd" providerId="ADAL" clId="{2A959F47-C8D2-44A6-BC4F-20F576B61DD9}" dt="2025-06-22T22:26:26.908" v="5689" actId="20577"/>
        <pc:sldMkLst>
          <pc:docMk/>
          <pc:sldMk cId="0" sldId="277"/>
        </pc:sldMkLst>
      </pc:sldChg>
      <pc:sldChg chg="addSp modSp mod modNotes">
        <pc:chgData name="WANG Chunxiao" userId="bc32f9a9-f54e-4a35-97d1-423a97fcbddd" providerId="ADAL" clId="{2A959F47-C8D2-44A6-BC4F-20F576B61DD9}" dt="2025-06-22T22:27:17.145" v="5765" actId="1076"/>
        <pc:sldMkLst>
          <pc:docMk/>
          <pc:sldMk cId="0" sldId="278"/>
        </pc:sldMkLst>
      </pc:sldChg>
      <pc:sldChg chg="del modNotes">
        <pc:chgData name="WANG Chunxiao" userId="bc32f9a9-f54e-4a35-97d1-423a97fcbddd" providerId="ADAL" clId="{2A959F47-C8D2-44A6-BC4F-20F576B61DD9}" dt="2025-06-22T21:41:33.958" v="3740" actId="2696"/>
        <pc:sldMkLst>
          <pc:docMk/>
          <pc:sldMk cId="0" sldId="279"/>
        </pc:sldMkLst>
      </pc:sldChg>
      <pc:sldChg chg="add">
        <pc:chgData name="WANG Chunxiao" userId="bc32f9a9-f54e-4a35-97d1-423a97fcbddd" providerId="ADAL" clId="{2A959F47-C8D2-44A6-BC4F-20F576B61DD9}" dt="2025-06-22T21:41:37.690" v="3741"/>
        <pc:sldMkLst>
          <pc:docMk/>
          <pc:sldMk cId="1380108990" sldId="279"/>
        </pc:sldMkLst>
      </pc:sldChg>
      <pc:sldChg chg="del modNotes">
        <pc:chgData name="WANG Chunxiao" userId="bc32f9a9-f54e-4a35-97d1-423a97fcbddd" providerId="ADAL" clId="{2A959F47-C8D2-44A6-BC4F-20F576B61DD9}" dt="2025-06-22T21:41:33.958" v="3740" actId="2696"/>
        <pc:sldMkLst>
          <pc:docMk/>
          <pc:sldMk cId="0" sldId="280"/>
        </pc:sldMkLst>
      </pc:sldChg>
      <pc:sldChg chg="add">
        <pc:chgData name="WANG Chunxiao" userId="bc32f9a9-f54e-4a35-97d1-423a97fcbddd" providerId="ADAL" clId="{2A959F47-C8D2-44A6-BC4F-20F576B61DD9}" dt="2025-06-22T21:41:37.690" v="3741"/>
        <pc:sldMkLst>
          <pc:docMk/>
          <pc:sldMk cId="3345917393" sldId="280"/>
        </pc:sldMkLst>
      </pc:sldChg>
      <pc:sldChg chg="del modNotes">
        <pc:chgData name="WANG Chunxiao" userId="bc32f9a9-f54e-4a35-97d1-423a97fcbddd" providerId="ADAL" clId="{2A959F47-C8D2-44A6-BC4F-20F576B61DD9}" dt="2025-06-22T21:41:56.867" v="3742" actId="2696"/>
        <pc:sldMkLst>
          <pc:docMk/>
          <pc:sldMk cId="0" sldId="281"/>
        </pc:sldMkLst>
      </pc:sldChg>
      <pc:sldChg chg="add">
        <pc:chgData name="WANG Chunxiao" userId="bc32f9a9-f54e-4a35-97d1-423a97fcbddd" providerId="ADAL" clId="{2A959F47-C8D2-44A6-BC4F-20F576B61DD9}" dt="2025-06-22T21:42:00.105" v="3743"/>
        <pc:sldMkLst>
          <pc:docMk/>
          <pc:sldMk cId="3128606936" sldId="281"/>
        </pc:sldMkLst>
      </pc:sldChg>
      <pc:sldChg chg="del modNotes">
        <pc:chgData name="WANG Chunxiao" userId="bc32f9a9-f54e-4a35-97d1-423a97fcbddd" providerId="ADAL" clId="{2A959F47-C8D2-44A6-BC4F-20F576B61DD9}" dt="2025-06-22T21:41:56.867" v="3742" actId="2696"/>
        <pc:sldMkLst>
          <pc:docMk/>
          <pc:sldMk cId="0" sldId="282"/>
        </pc:sldMkLst>
      </pc:sldChg>
      <pc:sldChg chg="modSp add mod">
        <pc:chgData name="WANG Chunxiao" userId="bc32f9a9-f54e-4a35-97d1-423a97fcbddd" providerId="ADAL" clId="{2A959F47-C8D2-44A6-BC4F-20F576B61DD9}" dt="2025-06-22T22:38:45.661" v="6291" actId="20577"/>
        <pc:sldMkLst>
          <pc:docMk/>
          <pc:sldMk cId="759176794" sldId="282"/>
        </pc:sldMkLst>
      </pc:sldChg>
      <pc:sldChg chg="del modNotes">
        <pc:chgData name="WANG Chunxiao" userId="bc32f9a9-f54e-4a35-97d1-423a97fcbddd" providerId="ADAL" clId="{2A959F47-C8D2-44A6-BC4F-20F576B61DD9}" dt="2025-06-22T22:38:56.541" v="6292" actId="47"/>
        <pc:sldMkLst>
          <pc:docMk/>
          <pc:sldMk cId="0" sldId="283"/>
        </pc:sldMkLst>
      </pc:sldChg>
      <pc:sldChg chg="modSp add mod modAnim">
        <pc:chgData name="WANG Chunxiao" userId="bc32f9a9-f54e-4a35-97d1-423a97fcbddd" providerId="ADAL" clId="{2A959F47-C8D2-44A6-BC4F-20F576B61DD9}" dt="2025-06-22T22:40:48.912" v="6327" actId="20577"/>
        <pc:sldMkLst>
          <pc:docMk/>
          <pc:sldMk cId="504008383" sldId="285"/>
        </pc:sldMkLst>
      </pc:sldChg>
      <pc:sldChg chg="modSp add del mod">
        <pc:chgData name="WANG Chunxiao" userId="bc32f9a9-f54e-4a35-97d1-423a97fcbddd" providerId="ADAL" clId="{2A959F47-C8D2-44A6-BC4F-20F576B61DD9}" dt="2025-06-22T21:11:48.231" v="2785" actId="2696"/>
        <pc:sldMkLst>
          <pc:docMk/>
          <pc:sldMk cId="858873892" sldId="285"/>
        </pc:sldMkLst>
      </pc:sldChg>
      <pc:sldChg chg="modSp add del mod">
        <pc:chgData name="WANG Chunxiao" userId="bc32f9a9-f54e-4a35-97d1-423a97fcbddd" providerId="ADAL" clId="{2A959F47-C8D2-44A6-BC4F-20F576B61DD9}" dt="2025-06-21T20:38:55.702" v="861" actId="2696"/>
        <pc:sldMkLst>
          <pc:docMk/>
          <pc:sldMk cId="1807066802" sldId="285"/>
        </pc:sldMkLst>
      </pc:sldChg>
      <pc:sldChg chg="modSp add del mod">
        <pc:chgData name="WANG Chunxiao" userId="bc32f9a9-f54e-4a35-97d1-423a97fcbddd" providerId="ADAL" clId="{2A959F47-C8D2-44A6-BC4F-20F576B61DD9}" dt="2025-06-22T21:11:10.454" v="2742" actId="47"/>
        <pc:sldMkLst>
          <pc:docMk/>
          <pc:sldMk cId="3344069839" sldId="286"/>
        </pc:sldMkLst>
      </pc:sldChg>
      <pc:sldChg chg="modSp add del mod">
        <pc:chgData name="WANG Chunxiao" userId="bc32f9a9-f54e-4a35-97d1-423a97fcbddd" providerId="ADAL" clId="{2A959F47-C8D2-44A6-BC4F-20F576B61DD9}" dt="2025-06-22T21:11:48.231" v="2785" actId="2696"/>
        <pc:sldMkLst>
          <pc:docMk/>
          <pc:sldMk cId="1179714652" sldId="287"/>
        </pc:sldMkLst>
      </pc:sldChg>
      <pc:sldChg chg="add">
        <pc:chgData name="WANG Chunxiao" userId="bc32f9a9-f54e-4a35-97d1-423a97fcbddd" providerId="ADAL" clId="{2A959F47-C8D2-44A6-BC4F-20F576B61DD9}" dt="2025-06-22T21:11:56.384" v="2786"/>
        <pc:sldMkLst>
          <pc:docMk/>
          <pc:sldMk cId="3184856763" sldId="287"/>
        </pc:sldMkLst>
      </pc:sldChg>
      <pc:sldChg chg="addSp delSp modSp add mod modAnim modNotesTx">
        <pc:chgData name="WANG Chunxiao" userId="bc32f9a9-f54e-4a35-97d1-423a97fcbddd" providerId="ADAL" clId="{2A959F47-C8D2-44A6-BC4F-20F576B61DD9}" dt="2025-06-22T22:23:44.661" v="5457" actId="20577"/>
        <pc:sldMkLst>
          <pc:docMk/>
          <pc:sldMk cId="3705354645" sldId="288"/>
        </pc:sldMkLst>
      </pc:sldChg>
      <pc:sldChg chg="addSp modSp new mod ord modShow">
        <pc:chgData name="WANG Chunxiao" userId="bc32f9a9-f54e-4a35-97d1-423a97fcbddd" providerId="ADAL" clId="{2A959F47-C8D2-44A6-BC4F-20F576B61DD9}" dt="2025-06-22T21:26:36.725" v="3100" actId="729"/>
        <pc:sldMkLst>
          <pc:docMk/>
          <pc:sldMk cId="2509693179" sldId="289"/>
        </pc:sldMkLst>
      </pc:sldChg>
      <pc:sldChg chg="new del">
        <pc:chgData name="WANG Chunxiao" userId="bc32f9a9-f54e-4a35-97d1-423a97fcbddd" providerId="ADAL" clId="{2A959F47-C8D2-44A6-BC4F-20F576B61DD9}" dt="2025-06-22T21:15:48.458" v="2821" actId="680"/>
        <pc:sldMkLst>
          <pc:docMk/>
          <pc:sldMk cId="3492610239" sldId="289"/>
        </pc:sldMkLst>
      </pc:sldChg>
      <pc:sldChg chg="modSp add del mod modAnim">
        <pc:chgData name="WANG Chunxiao" userId="bc32f9a9-f54e-4a35-97d1-423a97fcbddd" providerId="ADAL" clId="{2A959F47-C8D2-44A6-BC4F-20F576B61DD9}" dt="2025-06-22T22:10:56.682" v="4804" actId="47"/>
        <pc:sldMkLst>
          <pc:docMk/>
          <pc:sldMk cId="1017654749" sldId="290"/>
        </pc:sldMkLst>
      </pc:sldChg>
      <pc:sldChg chg="addSp delSp modSp new mod modAnim modNotesTx">
        <pc:chgData name="WANG Chunxiao" userId="bc32f9a9-f54e-4a35-97d1-423a97fcbddd" providerId="ADAL" clId="{2A959F47-C8D2-44A6-BC4F-20F576B61DD9}" dt="2025-06-22T22:40:16.569" v="6323"/>
        <pc:sldMkLst>
          <pc:docMk/>
          <pc:sldMk cId="2521304252" sldId="291"/>
        </pc:sldMkLst>
      </pc:sldChg>
      <pc:sldChg chg="addSp modSp new mod modAnim modNotesTx">
        <pc:chgData name="WANG Chunxiao" userId="bc32f9a9-f54e-4a35-97d1-423a97fcbddd" providerId="ADAL" clId="{2A959F47-C8D2-44A6-BC4F-20F576B61DD9}" dt="2025-06-22T22:33:25.916" v="6228"/>
        <pc:sldMkLst>
          <pc:docMk/>
          <pc:sldMk cId="339510742" sldId="292"/>
        </pc:sldMkLst>
      </pc:sldChg>
      <pc:sldChg chg="addSp modSp new mod modAnim">
        <pc:chgData name="WANG Chunxiao" userId="bc32f9a9-f54e-4a35-97d1-423a97fcbddd" providerId="ADAL" clId="{2A959F47-C8D2-44A6-BC4F-20F576B61DD9}" dt="2025-06-22T22:18:14.816" v="5129" actId="207"/>
        <pc:sldMkLst>
          <pc:docMk/>
          <pc:sldMk cId="1773587188" sldId="293"/>
        </pc:sldMkLst>
      </pc:sldChg>
      <pc:sldChg chg="addSp modSp add mod">
        <pc:chgData name="WANG Chunxiao" userId="bc32f9a9-f54e-4a35-97d1-423a97fcbddd" providerId="ADAL" clId="{2A959F47-C8D2-44A6-BC4F-20F576B61DD9}" dt="2025-06-22T22:32:19.668" v="6183" actId="123"/>
        <pc:sldMkLst>
          <pc:docMk/>
          <pc:sldMk cId="3095922168" sldId="294"/>
        </pc:sldMkLst>
      </pc:sldChg>
      <pc:sldChg chg="addSp modSp new mod modNotesTx">
        <pc:chgData name="WANG Chunxiao" userId="bc32f9a9-f54e-4a35-97d1-423a97fcbddd" providerId="ADAL" clId="{2A959F47-C8D2-44A6-BC4F-20F576B61DD9}" dt="2025-06-22T22:37:30.426" v="6261"/>
        <pc:sldMkLst>
          <pc:docMk/>
          <pc:sldMk cId="2576982492" sldId="295"/>
        </pc:sldMkLst>
      </pc:sldChg>
    </pc:docChg>
  </pc:docChgLst>
  <pc:docChgLst>
    <pc:chgData name="WANG Chunxiao" userId="bc32f9a9-f54e-4a35-97d1-423a97fcbddd" providerId="ADAL" clId="{BC1FA9E6-977F-4CFD-A504-0D350430E2A8}"/>
    <pc:docChg chg="undo custSel addSld delSld modSld">
      <pc:chgData name="WANG Chunxiao" userId="bc32f9a9-f54e-4a35-97d1-423a97fcbddd" providerId="ADAL" clId="{BC1FA9E6-977F-4CFD-A504-0D350430E2A8}" dt="2025-12-15T10:33:13.902" v="1504" actId="729"/>
      <pc:docMkLst>
        <pc:docMk/>
      </pc:docMkLst>
      <pc:sldChg chg="modSp mod">
        <pc:chgData name="WANG Chunxiao" userId="bc32f9a9-f54e-4a35-97d1-423a97fcbddd" providerId="ADAL" clId="{BC1FA9E6-977F-4CFD-A504-0D350430E2A8}" dt="2025-12-15T09:54:27.794" v="132" actId="20577"/>
        <pc:sldMkLst>
          <pc:docMk/>
          <pc:sldMk cId="0" sldId="271"/>
        </pc:sldMkLst>
        <pc:spChg chg="mod">
          <ac:chgData name="WANG Chunxiao" userId="bc32f9a9-f54e-4a35-97d1-423a97fcbddd" providerId="ADAL" clId="{BC1FA9E6-977F-4CFD-A504-0D350430E2A8}" dt="2025-12-15T09:54:27.794" v="132" actId="20577"/>
          <ac:spMkLst>
            <pc:docMk/>
            <pc:sldMk cId="0" sldId="271"/>
            <ac:spMk id="255" creationId="{00000000-0000-0000-0000-000000000000}"/>
          </ac:spMkLst>
        </pc:spChg>
      </pc:sldChg>
      <pc:sldChg chg="mod modShow">
        <pc:chgData name="WANG Chunxiao" userId="bc32f9a9-f54e-4a35-97d1-423a97fcbddd" providerId="ADAL" clId="{BC1FA9E6-977F-4CFD-A504-0D350430E2A8}" dt="2025-12-15T10:33:02.682" v="1502" actId="729"/>
        <pc:sldMkLst>
          <pc:docMk/>
          <pc:sldMk cId="0" sldId="273"/>
        </pc:sldMkLst>
      </pc:sldChg>
      <pc:sldChg chg="delSp modSp mod">
        <pc:chgData name="WANG Chunxiao" userId="bc32f9a9-f54e-4a35-97d1-423a97fcbddd" providerId="ADAL" clId="{BC1FA9E6-977F-4CFD-A504-0D350430E2A8}" dt="2025-12-15T10:20:14.618" v="1447" actId="113"/>
        <pc:sldMkLst>
          <pc:docMk/>
          <pc:sldMk cId="0" sldId="275"/>
        </pc:sldMkLst>
        <pc:spChg chg="del">
          <ac:chgData name="WANG Chunxiao" userId="bc32f9a9-f54e-4a35-97d1-423a97fcbddd" providerId="ADAL" clId="{BC1FA9E6-977F-4CFD-A504-0D350430E2A8}" dt="2025-12-15T09:57:14.063" v="179" actId="478"/>
          <ac:spMkLst>
            <pc:docMk/>
            <pc:sldMk cId="0" sldId="275"/>
            <ac:spMk id="2" creationId="{18591A24-172C-833A-0504-7252EF3EF187}"/>
          </ac:spMkLst>
        </pc:spChg>
        <pc:spChg chg="mod">
          <ac:chgData name="WANG Chunxiao" userId="bc32f9a9-f54e-4a35-97d1-423a97fcbddd" providerId="ADAL" clId="{BC1FA9E6-977F-4CFD-A504-0D350430E2A8}" dt="2025-12-15T09:55:16.732" v="166" actId="20577"/>
          <ac:spMkLst>
            <pc:docMk/>
            <pc:sldMk cId="0" sldId="275"/>
            <ac:spMk id="291" creationId="{00000000-0000-0000-0000-000000000000}"/>
          </ac:spMkLst>
        </pc:spChg>
        <pc:spChg chg="mod">
          <ac:chgData name="WANG Chunxiao" userId="bc32f9a9-f54e-4a35-97d1-423a97fcbddd" providerId="ADAL" clId="{BC1FA9E6-977F-4CFD-A504-0D350430E2A8}" dt="2025-12-15T10:20:14.618" v="1447" actId="113"/>
          <ac:spMkLst>
            <pc:docMk/>
            <pc:sldMk cId="0" sldId="275"/>
            <ac:spMk id="292" creationId="{00000000-0000-0000-0000-000000000000}"/>
          </ac:spMkLst>
        </pc:spChg>
        <pc:spChg chg="del">
          <ac:chgData name="WANG Chunxiao" userId="bc32f9a9-f54e-4a35-97d1-423a97fcbddd" providerId="ADAL" clId="{BC1FA9E6-977F-4CFD-A504-0D350430E2A8}" dt="2025-12-15T09:57:12.397" v="178" actId="478"/>
          <ac:spMkLst>
            <pc:docMk/>
            <pc:sldMk cId="0" sldId="275"/>
            <ac:spMk id="295" creationId="{00000000-0000-0000-0000-000000000000}"/>
          </ac:spMkLst>
        </pc:spChg>
        <pc:picChg chg="del mod">
          <ac:chgData name="WANG Chunxiao" userId="bc32f9a9-f54e-4a35-97d1-423a97fcbddd" providerId="ADAL" clId="{BC1FA9E6-977F-4CFD-A504-0D350430E2A8}" dt="2025-12-15T09:55:29.744" v="168" actId="478"/>
          <ac:picMkLst>
            <pc:docMk/>
            <pc:sldMk cId="0" sldId="275"/>
            <ac:picMk id="294" creationId="{00000000-0000-0000-0000-000000000000}"/>
          </ac:picMkLst>
        </pc:picChg>
      </pc:sldChg>
      <pc:sldChg chg="modSp mod">
        <pc:chgData name="WANG Chunxiao" userId="bc32f9a9-f54e-4a35-97d1-423a97fcbddd" providerId="ADAL" clId="{BC1FA9E6-977F-4CFD-A504-0D350430E2A8}" dt="2025-12-15T10:04:47.601" v="547" actId="20577"/>
        <pc:sldMkLst>
          <pc:docMk/>
          <pc:sldMk cId="0" sldId="277"/>
        </pc:sldMkLst>
        <pc:spChg chg="mod">
          <ac:chgData name="WANG Chunxiao" userId="bc32f9a9-f54e-4a35-97d1-423a97fcbddd" providerId="ADAL" clId="{BC1FA9E6-977F-4CFD-A504-0D350430E2A8}" dt="2025-12-15T10:04:47.601" v="547" actId="20577"/>
          <ac:spMkLst>
            <pc:docMk/>
            <pc:sldMk cId="0" sldId="277"/>
            <ac:spMk id="2" creationId="{0228470B-723A-E26D-D948-FD83FB77C374}"/>
          </ac:spMkLst>
        </pc:spChg>
        <pc:spChg chg="mod">
          <ac:chgData name="WANG Chunxiao" userId="bc32f9a9-f54e-4a35-97d1-423a97fcbddd" providerId="ADAL" clId="{BC1FA9E6-977F-4CFD-A504-0D350430E2A8}" dt="2025-12-15T10:02:15.997" v="486" actId="20577"/>
          <ac:spMkLst>
            <pc:docMk/>
            <pc:sldMk cId="0" sldId="277"/>
            <ac:spMk id="310" creationId="{00000000-0000-0000-0000-000000000000}"/>
          </ac:spMkLst>
        </pc:spChg>
        <pc:spChg chg="mod">
          <ac:chgData name="WANG Chunxiao" userId="bc32f9a9-f54e-4a35-97d1-423a97fcbddd" providerId="ADAL" clId="{BC1FA9E6-977F-4CFD-A504-0D350430E2A8}" dt="2025-12-15T10:03:18.094" v="534" actId="33524"/>
          <ac:spMkLst>
            <pc:docMk/>
            <pc:sldMk cId="0" sldId="277"/>
            <ac:spMk id="311" creationId="{00000000-0000-0000-0000-000000000000}"/>
          </ac:spMkLst>
        </pc:spChg>
      </pc:sldChg>
      <pc:sldChg chg="modSp mod">
        <pc:chgData name="WANG Chunxiao" userId="bc32f9a9-f54e-4a35-97d1-423a97fcbddd" providerId="ADAL" clId="{BC1FA9E6-977F-4CFD-A504-0D350430E2A8}" dt="2025-12-15T10:04:50.512" v="548" actId="20577"/>
        <pc:sldMkLst>
          <pc:docMk/>
          <pc:sldMk cId="0" sldId="278"/>
        </pc:sldMkLst>
        <pc:spChg chg="mod">
          <ac:chgData name="WANG Chunxiao" userId="bc32f9a9-f54e-4a35-97d1-423a97fcbddd" providerId="ADAL" clId="{BC1FA9E6-977F-4CFD-A504-0D350430E2A8}" dt="2025-12-15T10:04:50.512" v="548" actId="20577"/>
          <ac:spMkLst>
            <pc:docMk/>
            <pc:sldMk cId="0" sldId="278"/>
            <ac:spMk id="2" creationId="{2C046862-847E-C351-FE0B-A12ACE6AE73A}"/>
          </ac:spMkLst>
        </pc:spChg>
        <pc:spChg chg="mod">
          <ac:chgData name="WANG Chunxiao" userId="bc32f9a9-f54e-4a35-97d1-423a97fcbddd" providerId="ADAL" clId="{BC1FA9E6-977F-4CFD-A504-0D350430E2A8}" dt="2025-12-15T10:03:01.713" v="532"/>
          <ac:spMkLst>
            <pc:docMk/>
            <pc:sldMk cId="0" sldId="278"/>
            <ac:spMk id="319" creationId="{00000000-0000-0000-0000-000000000000}"/>
          </ac:spMkLst>
        </pc:spChg>
      </pc:sldChg>
      <pc:sldChg chg="mod modShow">
        <pc:chgData name="WANG Chunxiao" userId="bc32f9a9-f54e-4a35-97d1-423a97fcbddd" providerId="ADAL" clId="{BC1FA9E6-977F-4CFD-A504-0D350430E2A8}" dt="2025-12-15T10:33:00.192" v="1501" actId="729"/>
        <pc:sldMkLst>
          <pc:docMk/>
          <pc:sldMk cId="1380108990" sldId="279"/>
        </pc:sldMkLst>
      </pc:sldChg>
      <pc:sldChg chg="mod modShow">
        <pc:chgData name="WANG Chunxiao" userId="bc32f9a9-f54e-4a35-97d1-423a97fcbddd" providerId="ADAL" clId="{BC1FA9E6-977F-4CFD-A504-0D350430E2A8}" dt="2025-12-15T10:32:58.423" v="1500" actId="729"/>
        <pc:sldMkLst>
          <pc:docMk/>
          <pc:sldMk cId="3345917393" sldId="280"/>
        </pc:sldMkLst>
      </pc:sldChg>
      <pc:sldChg chg="mod modShow">
        <pc:chgData name="WANG Chunxiao" userId="bc32f9a9-f54e-4a35-97d1-423a97fcbddd" providerId="ADAL" clId="{BC1FA9E6-977F-4CFD-A504-0D350430E2A8}" dt="2025-12-15T10:33:13.902" v="1504" actId="729"/>
        <pc:sldMkLst>
          <pc:docMk/>
          <pc:sldMk cId="2509693179" sldId="289"/>
        </pc:sldMkLst>
      </pc:sldChg>
      <pc:sldChg chg="modSp mod">
        <pc:chgData name="WANG Chunxiao" userId="bc32f9a9-f54e-4a35-97d1-423a97fcbddd" providerId="ADAL" clId="{BC1FA9E6-977F-4CFD-A504-0D350430E2A8}" dt="2025-12-15T10:32:03.888" v="1498" actId="20577"/>
        <pc:sldMkLst>
          <pc:docMk/>
          <pc:sldMk cId="339510742" sldId="292"/>
        </pc:sldMkLst>
        <pc:spChg chg="mod">
          <ac:chgData name="WANG Chunxiao" userId="bc32f9a9-f54e-4a35-97d1-423a97fcbddd" providerId="ADAL" clId="{BC1FA9E6-977F-4CFD-A504-0D350430E2A8}" dt="2025-12-15T10:32:03.888" v="1498" actId="20577"/>
          <ac:spMkLst>
            <pc:docMk/>
            <pc:sldMk cId="339510742" sldId="292"/>
            <ac:spMk id="6" creationId="{0D93D55E-A2B0-E035-FC7F-405DD6E04330}"/>
          </ac:spMkLst>
        </pc:spChg>
      </pc:sldChg>
      <pc:sldChg chg="mod modShow modNotesTx">
        <pc:chgData name="WANG Chunxiao" userId="bc32f9a9-f54e-4a35-97d1-423a97fcbddd" providerId="ADAL" clId="{BC1FA9E6-977F-4CFD-A504-0D350430E2A8}" dt="2025-12-15T10:02:46.692" v="530" actId="20577"/>
        <pc:sldMkLst>
          <pc:docMk/>
          <pc:sldMk cId="3095922168" sldId="294"/>
        </pc:sldMkLst>
      </pc:sldChg>
      <pc:sldChg chg="modSp mod">
        <pc:chgData name="WANG Chunxiao" userId="bc32f9a9-f54e-4a35-97d1-423a97fcbddd" providerId="ADAL" clId="{BC1FA9E6-977F-4CFD-A504-0D350430E2A8}" dt="2025-12-15T10:32:08.492" v="1499" actId="20577"/>
        <pc:sldMkLst>
          <pc:docMk/>
          <pc:sldMk cId="2576982492" sldId="295"/>
        </pc:sldMkLst>
        <pc:spChg chg="mod">
          <ac:chgData name="WANG Chunxiao" userId="bc32f9a9-f54e-4a35-97d1-423a97fcbddd" providerId="ADAL" clId="{BC1FA9E6-977F-4CFD-A504-0D350430E2A8}" dt="2025-12-15T10:32:08.492" v="1499" actId="20577"/>
          <ac:spMkLst>
            <pc:docMk/>
            <pc:sldMk cId="2576982492" sldId="295"/>
            <ac:spMk id="6" creationId="{D58B8C4A-0819-C446-CE91-601C0FE41B9C}"/>
          </ac:spMkLst>
        </pc:spChg>
      </pc:sldChg>
      <pc:sldChg chg="addSp delSp modSp add mod">
        <pc:chgData name="WANG Chunxiao" userId="bc32f9a9-f54e-4a35-97d1-423a97fcbddd" providerId="ADAL" clId="{BC1FA9E6-977F-4CFD-A504-0D350430E2A8}" dt="2025-12-15T10:16:59.587" v="1205" actId="1076"/>
        <pc:sldMkLst>
          <pc:docMk/>
          <pc:sldMk cId="2768292496" sldId="296"/>
        </pc:sldMkLst>
        <pc:spChg chg="mod">
          <ac:chgData name="WANG Chunxiao" userId="bc32f9a9-f54e-4a35-97d1-423a97fcbddd" providerId="ADAL" clId="{BC1FA9E6-977F-4CFD-A504-0D350430E2A8}" dt="2025-12-15T10:16:59.587" v="1205" actId="1076"/>
          <ac:spMkLst>
            <pc:docMk/>
            <pc:sldMk cId="2768292496" sldId="296"/>
            <ac:spMk id="2" creationId="{F2DC2FBA-08FC-6AF1-DDB8-5CE0BA7FD162}"/>
          </ac:spMkLst>
        </pc:spChg>
        <pc:spChg chg="add mod">
          <ac:chgData name="WANG Chunxiao" userId="bc32f9a9-f54e-4a35-97d1-423a97fcbddd" providerId="ADAL" clId="{BC1FA9E6-977F-4CFD-A504-0D350430E2A8}" dt="2025-12-15T10:01:55.517" v="482" actId="20577"/>
          <ac:spMkLst>
            <pc:docMk/>
            <pc:sldMk cId="2768292496" sldId="296"/>
            <ac:spMk id="6" creationId="{79D8DC79-8125-6717-433B-43D4ED092A07}"/>
          </ac:spMkLst>
        </pc:spChg>
        <pc:spChg chg="mod">
          <ac:chgData name="WANG Chunxiao" userId="bc32f9a9-f54e-4a35-97d1-423a97fcbddd" providerId="ADAL" clId="{BC1FA9E6-977F-4CFD-A504-0D350430E2A8}" dt="2025-12-15T09:57:25.564" v="190" actId="313"/>
          <ac:spMkLst>
            <pc:docMk/>
            <pc:sldMk cId="2768292496" sldId="296"/>
            <ac:spMk id="291" creationId="{1FC85CAB-52A5-28A6-D5F3-0A061CDAB174}"/>
          </ac:spMkLst>
        </pc:spChg>
        <pc:spChg chg="del mod">
          <ac:chgData name="WANG Chunxiao" userId="bc32f9a9-f54e-4a35-97d1-423a97fcbddd" providerId="ADAL" clId="{BC1FA9E6-977F-4CFD-A504-0D350430E2A8}" dt="2025-12-15T09:56:48.780" v="175" actId="478"/>
          <ac:spMkLst>
            <pc:docMk/>
            <pc:sldMk cId="2768292496" sldId="296"/>
            <ac:spMk id="292" creationId="{5AE45CA3-D079-5103-7F40-7AAED138A160}"/>
          </ac:spMkLst>
        </pc:spChg>
        <pc:spChg chg="del">
          <ac:chgData name="WANG Chunxiao" userId="bc32f9a9-f54e-4a35-97d1-423a97fcbddd" providerId="ADAL" clId="{BC1FA9E6-977F-4CFD-A504-0D350430E2A8}" dt="2025-12-15T09:56:38.164" v="170" actId="478"/>
          <ac:spMkLst>
            <pc:docMk/>
            <pc:sldMk cId="2768292496" sldId="296"/>
            <ac:spMk id="295" creationId="{1088B3C6-DA79-CFC1-4588-4096CEF9771D}"/>
          </ac:spMkLst>
        </pc:spChg>
        <pc:picChg chg="add mod">
          <ac:chgData name="WANG Chunxiao" userId="bc32f9a9-f54e-4a35-97d1-423a97fcbddd" providerId="ADAL" clId="{BC1FA9E6-977F-4CFD-A504-0D350430E2A8}" dt="2025-12-15T10:02:01.771" v="483" actId="1076"/>
          <ac:picMkLst>
            <pc:docMk/>
            <pc:sldMk cId="2768292496" sldId="296"/>
            <ac:picMk id="4" creationId="{26AF8A63-090C-C693-D040-8E2E21A97D42}"/>
          </ac:picMkLst>
        </pc:picChg>
        <pc:picChg chg="add mod">
          <ac:chgData name="WANG Chunxiao" userId="bc32f9a9-f54e-4a35-97d1-423a97fcbddd" providerId="ADAL" clId="{BC1FA9E6-977F-4CFD-A504-0D350430E2A8}" dt="2025-12-15T09:59:16.237" v="314"/>
          <ac:picMkLst>
            <pc:docMk/>
            <pc:sldMk cId="2768292496" sldId="296"/>
            <ac:picMk id="8" creationId="{87F60650-E70B-7564-A4E4-B933013D9A8B}"/>
          </ac:picMkLst>
        </pc:picChg>
      </pc:sldChg>
      <pc:sldChg chg="addSp delSp modSp add del mod">
        <pc:chgData name="WANG Chunxiao" userId="bc32f9a9-f54e-4a35-97d1-423a97fcbddd" providerId="ADAL" clId="{BC1FA9E6-977F-4CFD-A504-0D350430E2A8}" dt="2025-12-15T10:04:40.490" v="546" actId="47"/>
        <pc:sldMkLst>
          <pc:docMk/>
          <pc:sldMk cId="2666925061" sldId="297"/>
        </pc:sldMkLst>
        <pc:spChg chg="mod">
          <ac:chgData name="WANG Chunxiao" userId="bc32f9a9-f54e-4a35-97d1-423a97fcbddd" providerId="ADAL" clId="{BC1FA9E6-977F-4CFD-A504-0D350430E2A8}" dt="2025-12-15T10:01:06.467" v="423" actId="1076"/>
          <ac:spMkLst>
            <pc:docMk/>
            <pc:sldMk cId="2666925061" sldId="297"/>
            <ac:spMk id="2" creationId="{C3B0EC6C-3801-180B-F1F6-6E273E91B58D}"/>
          </ac:spMkLst>
        </pc:spChg>
        <pc:picChg chg="del">
          <ac:chgData name="WANG Chunxiao" userId="bc32f9a9-f54e-4a35-97d1-423a97fcbddd" providerId="ADAL" clId="{BC1FA9E6-977F-4CFD-A504-0D350430E2A8}" dt="2025-12-15T09:59:24.925" v="316" actId="478"/>
          <ac:picMkLst>
            <pc:docMk/>
            <pc:sldMk cId="2666925061" sldId="297"/>
            <ac:picMk id="4" creationId="{87FBD0D1-AF2B-5A6A-E95A-E6E909C829BB}"/>
          </ac:picMkLst>
        </pc:picChg>
        <pc:picChg chg="add mod modCrop">
          <ac:chgData name="WANG Chunxiao" userId="bc32f9a9-f54e-4a35-97d1-423a97fcbddd" providerId="ADAL" clId="{BC1FA9E6-977F-4CFD-A504-0D350430E2A8}" dt="2025-12-15T10:01:21.751" v="426" actId="1076"/>
          <ac:picMkLst>
            <pc:docMk/>
            <pc:sldMk cId="2666925061" sldId="297"/>
            <ac:picMk id="5" creationId="{419B5FA6-078F-1377-B178-F2F73EDCEE26}"/>
          </ac:picMkLst>
        </pc:picChg>
      </pc:sldChg>
      <pc:sldChg chg="addSp delSp modSp new mod">
        <pc:chgData name="WANG Chunxiao" userId="bc32f9a9-f54e-4a35-97d1-423a97fcbddd" providerId="ADAL" clId="{BC1FA9E6-977F-4CFD-A504-0D350430E2A8}" dt="2025-12-15T10:05:10.403" v="596" actId="20577"/>
        <pc:sldMkLst>
          <pc:docMk/>
          <pc:sldMk cId="1963759820" sldId="298"/>
        </pc:sldMkLst>
        <pc:spChg chg="mod">
          <ac:chgData name="WANG Chunxiao" userId="bc32f9a9-f54e-4a35-97d1-423a97fcbddd" providerId="ADAL" clId="{BC1FA9E6-977F-4CFD-A504-0D350430E2A8}" dt="2025-12-15T10:05:10.403" v="596" actId="20577"/>
          <ac:spMkLst>
            <pc:docMk/>
            <pc:sldMk cId="1963759820" sldId="298"/>
            <ac:spMk id="2" creationId="{E1060734-73E6-6BDC-BB4A-FF71B68255BB}"/>
          </ac:spMkLst>
        </pc:spChg>
        <pc:spChg chg="del">
          <ac:chgData name="WANG Chunxiao" userId="bc32f9a9-f54e-4a35-97d1-423a97fcbddd" providerId="ADAL" clId="{BC1FA9E6-977F-4CFD-A504-0D350430E2A8}" dt="2025-12-15T10:04:33.917" v="544" actId="478"/>
          <ac:spMkLst>
            <pc:docMk/>
            <pc:sldMk cId="1963759820" sldId="298"/>
            <ac:spMk id="4" creationId="{895BB243-431E-9204-92FA-5FBB45580FC0}"/>
          </ac:spMkLst>
        </pc:spChg>
        <pc:spChg chg="add mod">
          <ac:chgData name="WANG Chunxiao" userId="bc32f9a9-f54e-4a35-97d1-423a97fcbddd" providerId="ADAL" clId="{BC1FA9E6-977F-4CFD-A504-0D350430E2A8}" dt="2025-12-15T10:04:54.721" v="549" actId="20577"/>
          <ac:spMkLst>
            <pc:docMk/>
            <pc:sldMk cId="1963759820" sldId="298"/>
            <ac:spMk id="7" creationId="{5D133408-B80C-DAEE-1227-7BE700CBD9BC}"/>
          </ac:spMkLst>
        </pc:spChg>
        <pc:picChg chg="add mod modCrop">
          <ac:chgData name="WANG Chunxiao" userId="bc32f9a9-f54e-4a35-97d1-423a97fcbddd" providerId="ADAL" clId="{BC1FA9E6-977F-4CFD-A504-0D350430E2A8}" dt="2025-12-15T10:04:23.994" v="543" actId="732"/>
          <ac:picMkLst>
            <pc:docMk/>
            <pc:sldMk cId="1963759820" sldId="298"/>
            <ac:picMk id="6" creationId="{4F943A16-6FDC-6D38-9B8F-BF3012473AFE}"/>
          </ac:picMkLst>
        </pc:picChg>
      </pc:sldChg>
      <pc:sldChg chg="addSp delSp modSp add mod">
        <pc:chgData name="WANG Chunxiao" userId="bc32f9a9-f54e-4a35-97d1-423a97fcbddd" providerId="ADAL" clId="{BC1FA9E6-977F-4CFD-A504-0D350430E2A8}" dt="2025-12-15T10:07:48.523" v="741" actId="1076"/>
        <pc:sldMkLst>
          <pc:docMk/>
          <pc:sldMk cId="3249589316" sldId="299"/>
        </pc:sldMkLst>
        <pc:spChg chg="mod">
          <ac:chgData name="WANG Chunxiao" userId="bc32f9a9-f54e-4a35-97d1-423a97fcbddd" providerId="ADAL" clId="{BC1FA9E6-977F-4CFD-A504-0D350430E2A8}" dt="2025-12-15T10:06:43.745" v="658" actId="20577"/>
          <ac:spMkLst>
            <pc:docMk/>
            <pc:sldMk cId="3249589316" sldId="299"/>
            <ac:spMk id="2" creationId="{B40E0688-A25C-4AD3-39A5-23EEA6918464}"/>
          </ac:spMkLst>
        </pc:spChg>
        <pc:spChg chg="mod">
          <ac:chgData name="WANG Chunxiao" userId="bc32f9a9-f54e-4a35-97d1-423a97fcbddd" providerId="ADAL" clId="{BC1FA9E6-977F-4CFD-A504-0D350430E2A8}" dt="2025-12-15T10:07:48.523" v="741" actId="1076"/>
          <ac:spMkLst>
            <pc:docMk/>
            <pc:sldMk cId="3249589316" sldId="299"/>
            <ac:spMk id="7" creationId="{410C22D1-AAC3-5F45-D2C2-98220CF8436C}"/>
          </ac:spMkLst>
        </pc:spChg>
        <pc:picChg chg="add mod modCrop">
          <ac:chgData name="WANG Chunxiao" userId="bc32f9a9-f54e-4a35-97d1-423a97fcbddd" providerId="ADAL" clId="{BC1FA9E6-977F-4CFD-A504-0D350430E2A8}" dt="2025-12-15T10:07:06.014" v="664" actId="14100"/>
          <ac:picMkLst>
            <pc:docMk/>
            <pc:sldMk cId="3249589316" sldId="299"/>
            <ac:picMk id="5" creationId="{DD618E05-1D92-0FC6-1763-E6105B54466A}"/>
          </ac:picMkLst>
        </pc:picChg>
        <pc:picChg chg="del">
          <ac:chgData name="WANG Chunxiao" userId="bc32f9a9-f54e-4a35-97d1-423a97fcbddd" providerId="ADAL" clId="{BC1FA9E6-977F-4CFD-A504-0D350430E2A8}" dt="2025-12-15T10:06:47.912" v="659" actId="478"/>
          <ac:picMkLst>
            <pc:docMk/>
            <pc:sldMk cId="3249589316" sldId="299"/>
            <ac:picMk id="6" creationId="{29378809-6965-CC27-ED1A-CB1E554A35B5}"/>
          </ac:picMkLst>
        </pc:picChg>
      </pc:sldChg>
      <pc:sldChg chg="modSp new mod">
        <pc:chgData name="WANG Chunxiao" userId="bc32f9a9-f54e-4a35-97d1-423a97fcbddd" providerId="ADAL" clId="{BC1FA9E6-977F-4CFD-A504-0D350430E2A8}" dt="2025-12-15T10:29:05.409" v="1497" actId="20577"/>
        <pc:sldMkLst>
          <pc:docMk/>
          <pc:sldMk cId="997212426" sldId="300"/>
        </pc:sldMkLst>
        <pc:spChg chg="mod">
          <ac:chgData name="WANG Chunxiao" userId="bc32f9a9-f54e-4a35-97d1-423a97fcbddd" providerId="ADAL" clId="{BC1FA9E6-977F-4CFD-A504-0D350430E2A8}" dt="2025-12-15T10:09:58.740" v="785" actId="20577"/>
          <ac:spMkLst>
            <pc:docMk/>
            <pc:sldMk cId="997212426" sldId="300"/>
            <ac:spMk id="2" creationId="{D5DEFC92-2F12-F887-4673-FEAD0BD49B16}"/>
          </ac:spMkLst>
        </pc:spChg>
        <pc:spChg chg="mod">
          <ac:chgData name="WANG Chunxiao" userId="bc32f9a9-f54e-4a35-97d1-423a97fcbddd" providerId="ADAL" clId="{BC1FA9E6-977F-4CFD-A504-0D350430E2A8}" dt="2025-12-15T10:29:05.409" v="1497" actId="20577"/>
          <ac:spMkLst>
            <pc:docMk/>
            <pc:sldMk cId="997212426" sldId="300"/>
            <ac:spMk id="4" creationId="{935090EE-9F2F-1BC3-D308-31FCA64A82C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84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1275" y="0"/>
            <a:ext cx="2946400" cy="4984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1" y="4778376"/>
            <a:ext cx="5440363" cy="391001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31339"/>
            <a:ext cx="2946400" cy="4984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1275" y="9431339"/>
            <a:ext cx="2946400" cy="4984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cf4cb65bdb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Imaginez que vous deviez juger la qualité d’un film, mais qu’il vous manque une image sur cinq et que certaines scènes soient floues. C’est exactement ce qui se passe quand nous voulons vérifier la fiabilité des simulations énergétiques d’une ville : nos “images” sont des données de capteurs, et elles sont parfois absentes ou entachées de bruit. </a:t>
            </a:r>
          </a:p>
          <a:p>
            <a:pPr marL="0" lvl="0" indent="0" algn="l" rtl="0">
              <a:lnSpc>
                <a:spcPct val="100000"/>
              </a:lnSpc>
              <a:spcBef>
                <a:spcPts val="0"/>
              </a:spcBef>
              <a:spcAft>
                <a:spcPts val="0"/>
              </a:spcAft>
              <a:buSzPts val="1400"/>
              <a:buNone/>
            </a:pPr>
            <a:endParaRPr dirty="0"/>
          </a:p>
        </p:txBody>
      </p:sp>
      <p:sp>
        <p:nvSpPr>
          <p:cNvPr id="116" name="Google Shape;116;g2cf4cb65bdb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txBox="1">
            <a:spLocks noGrp="1"/>
          </p:cNvSpPr>
          <p:nvPr>
            <p:ph type="body" idx="1"/>
          </p:nvPr>
        </p:nvSpPr>
        <p:spPr>
          <a:xfrm>
            <a:off x="679451" y="4778376"/>
            <a:ext cx="5440363" cy="39100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2: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cf4cb65bdb_0_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g2cf4cb65bdb_0_7: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g2cf4cb65bdb_0_7: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5022506002_0_7: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g35022506002_0_7: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b="1" dirty="0"/>
              <a:t>Urban Building Energy </a:t>
            </a:r>
            <a:r>
              <a:rPr lang="fr-FR" b="1" dirty="0" err="1"/>
              <a:t>Modelling</a:t>
            </a:r>
            <a:r>
              <a:rPr lang="fr-FR" b="1" dirty="0"/>
              <a:t> (UBEM)</a:t>
            </a:r>
            <a:r>
              <a:rPr lang="fr-FR" dirty="0"/>
              <a:t> désigne une démarche de </a:t>
            </a:r>
            <a:r>
              <a:rPr lang="fr-FR" b="1" dirty="0"/>
              <a:t>modélisation thermo-énergétique des bâtiments</a:t>
            </a:r>
            <a:r>
              <a:rPr lang="fr-FR" dirty="0"/>
              <a:t> appliquée à l’échelle urbaine.</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a:t>L’exemple de ce type d’outil est P10. couplage des calculs</a:t>
            </a:r>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b="1" dirty="0"/>
              <a:t>La validation du modèle</a:t>
            </a:r>
            <a:r>
              <a:rPr lang="fr-FR" dirty="0"/>
              <a:t>, c’est la phase où l’on confronte ces prédictions aux mesures réelles. Tant que le modèle n’est pas validé, il reste un joli exercice de calcul ;</a:t>
            </a:r>
            <a:br>
              <a:rPr lang="fr-FR" dirty="0"/>
            </a:br>
            <a:r>
              <a:rPr lang="fr-FR" dirty="0"/>
              <a:t>une fois validé, il devient un outil de décision auquel on est capable de donner une confiance juste. Il sera prêt à être exploité à une échelle plus grande.</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500"/>
              </a:spcBef>
              <a:spcAft>
                <a:spcPts val="0"/>
              </a:spcAft>
              <a:buSzPts val="2400"/>
              <a:buNone/>
            </a:pPr>
            <a:r>
              <a:rPr lang="fr-FR" sz="1200" dirty="0">
                <a:solidFill>
                  <a:srgbClr val="253356"/>
                </a:solidFill>
              </a:rPr>
              <a:t>Avec le développement dans le domaine d’UBEM, on a de plus en plus de cas d’usage demandant les prédictions dynamiques précises. Exemples : intégration des ENR&amp;R, études de flexibilité, etc. </a:t>
            </a:r>
          </a:p>
          <a:p>
            <a:pPr marL="0" lvl="0" indent="0" algn="l" rtl="0">
              <a:lnSpc>
                <a:spcPct val="100000"/>
              </a:lnSpc>
              <a:spcBef>
                <a:spcPts val="500"/>
              </a:spcBef>
              <a:spcAft>
                <a:spcPts val="0"/>
              </a:spcAft>
              <a:buSzPts val="2400"/>
              <a:buNone/>
            </a:pPr>
            <a:r>
              <a:rPr lang="fr-FR" sz="1200" dirty="0">
                <a:solidFill>
                  <a:srgbClr val="253356"/>
                </a:solidFill>
              </a:rPr>
              <a:t>Dans ces applications, les utilisateurs comptent sur des outils fiables, non seulement dans le calcul des consommations annuelles, mais plutôt dans les prédictions de consommation heure par heure. </a:t>
            </a:r>
          </a:p>
          <a:p>
            <a:pPr marL="0" lvl="0" indent="0" algn="l" rtl="0">
              <a:lnSpc>
                <a:spcPct val="100000"/>
              </a:lnSpc>
              <a:spcBef>
                <a:spcPts val="500"/>
              </a:spcBef>
              <a:spcAft>
                <a:spcPts val="0"/>
              </a:spcAft>
              <a:buSzPts val="2400"/>
              <a:buNone/>
            </a:pPr>
            <a:r>
              <a:rPr lang="fr-FR" sz="1200" dirty="0">
                <a:solidFill>
                  <a:srgbClr val="253356"/>
                </a:solidFill>
              </a:rPr>
              <a:t>C’est pourquoi ma thèse s’attaque précisément à cette lacune dans la littérature : … </a:t>
            </a:r>
          </a:p>
          <a:p>
            <a:pPr marL="0" lvl="0" indent="0" algn="l" rtl="0">
              <a:lnSpc>
                <a:spcPct val="100000"/>
              </a:lnSpc>
              <a:spcBef>
                <a:spcPts val="0"/>
              </a:spcBef>
              <a:spcAft>
                <a:spcPts val="0"/>
              </a:spcAft>
              <a:buSzPts val="1400"/>
              <a:buNone/>
            </a:pPr>
            <a:endParaRPr dirty="0"/>
          </a:p>
        </p:txBody>
      </p:sp>
      <p:sp>
        <p:nvSpPr>
          <p:cNvPr id="150" name="Google Shape;150;g35022506002_0_7: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4</a:t>
            </a:fld>
            <a:endParaRPr/>
          </a:p>
        </p:txBody>
      </p:sp>
    </p:spTree>
    <p:extLst>
      <p:ext uri="{BB962C8B-B14F-4D97-AF65-F5344CB8AC3E}">
        <p14:creationId xmlns:p14="http://schemas.microsoft.com/office/powerpoint/2010/main" val="3608690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5022506002_0_7: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g35022506002_0_7: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b="1" dirty="0"/>
              <a:t>Urban Building Energy </a:t>
            </a:r>
            <a:r>
              <a:rPr lang="fr-FR" b="1" dirty="0" err="1"/>
              <a:t>Modelling</a:t>
            </a:r>
            <a:r>
              <a:rPr lang="fr-FR" b="1" dirty="0"/>
              <a:t> (UBEM)</a:t>
            </a:r>
            <a:r>
              <a:rPr lang="fr-FR" dirty="0"/>
              <a:t> désigne une démarche de </a:t>
            </a:r>
            <a:r>
              <a:rPr lang="fr-FR" b="1" dirty="0"/>
              <a:t>modélisation thermo-énergétique des bâtiments</a:t>
            </a:r>
            <a:r>
              <a:rPr lang="fr-FR" dirty="0"/>
              <a:t> appliquée à l’échelle urbaine.</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a:t>L’exemple de ce type d’outil est P10. couplage des calculs</a:t>
            </a:r>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b="1" dirty="0"/>
              <a:t>La validation du modèle</a:t>
            </a:r>
            <a:r>
              <a:rPr lang="fr-FR" dirty="0"/>
              <a:t>, c’est la phase où l’on confronte ces prédictions aux mesures réelles. Tant que le modèle n’est pas validé, il reste un joli exercice de calcul ;</a:t>
            </a:r>
            <a:br>
              <a:rPr lang="fr-FR" dirty="0"/>
            </a:br>
            <a:r>
              <a:rPr lang="fr-FR" dirty="0"/>
              <a:t>une fois validé, il devient un outil de décision auquel on est capable de donner une confiance juste. Il sera prêt à être exploité à une échelle plus grande.</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500"/>
              </a:spcBef>
              <a:spcAft>
                <a:spcPts val="0"/>
              </a:spcAft>
              <a:buSzPts val="2400"/>
              <a:buNone/>
            </a:pPr>
            <a:r>
              <a:rPr lang="fr-FR" sz="1200" dirty="0">
                <a:solidFill>
                  <a:srgbClr val="253356"/>
                </a:solidFill>
              </a:rPr>
              <a:t>Avec le développement dans le domaine d’UBEM, on a de plus en plus de cas d’usage demandant les prédictions dynamiques précises. Exemples : intégration des ENR&amp;R, études de flexibilité, etc. </a:t>
            </a:r>
          </a:p>
          <a:p>
            <a:pPr marL="0" lvl="0" indent="0" algn="l" rtl="0">
              <a:lnSpc>
                <a:spcPct val="100000"/>
              </a:lnSpc>
              <a:spcBef>
                <a:spcPts val="500"/>
              </a:spcBef>
              <a:spcAft>
                <a:spcPts val="0"/>
              </a:spcAft>
              <a:buSzPts val="2400"/>
              <a:buNone/>
            </a:pPr>
            <a:r>
              <a:rPr lang="fr-FR" sz="1200" dirty="0">
                <a:solidFill>
                  <a:srgbClr val="253356"/>
                </a:solidFill>
              </a:rPr>
              <a:t>Dans ces applications, les utilisateurs comptent sur des outils fiables, non seulement dans le calcul des consommations annuelles, mais plutôt dans les prédictions de consommation heure par heure. </a:t>
            </a:r>
          </a:p>
          <a:p>
            <a:pPr marL="0" lvl="0" indent="0" algn="l" rtl="0">
              <a:lnSpc>
                <a:spcPct val="100000"/>
              </a:lnSpc>
              <a:spcBef>
                <a:spcPts val="500"/>
              </a:spcBef>
              <a:spcAft>
                <a:spcPts val="0"/>
              </a:spcAft>
              <a:buSzPts val="2400"/>
              <a:buNone/>
            </a:pPr>
            <a:r>
              <a:rPr lang="fr-FR" sz="1200" dirty="0">
                <a:solidFill>
                  <a:srgbClr val="253356"/>
                </a:solidFill>
              </a:rPr>
              <a:t>C’est pourquoi ma thèse s’attaque précisément à cette lacune dans la littérature : … </a:t>
            </a:r>
          </a:p>
          <a:p>
            <a:pPr marL="0" lvl="0" indent="0" algn="l" rtl="0">
              <a:lnSpc>
                <a:spcPct val="100000"/>
              </a:lnSpc>
              <a:spcBef>
                <a:spcPts val="0"/>
              </a:spcBef>
              <a:spcAft>
                <a:spcPts val="0"/>
              </a:spcAft>
              <a:buSzPts val="1400"/>
              <a:buNone/>
            </a:pPr>
            <a:endParaRPr dirty="0"/>
          </a:p>
        </p:txBody>
      </p:sp>
      <p:sp>
        <p:nvSpPr>
          <p:cNvPr id="150" name="Google Shape;150;g35022506002_0_7: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5</a:t>
            </a:fld>
            <a:endParaRPr/>
          </a:p>
        </p:txBody>
      </p:sp>
    </p:spTree>
    <p:extLst>
      <p:ext uri="{BB962C8B-B14F-4D97-AF65-F5344CB8AC3E}">
        <p14:creationId xmlns:p14="http://schemas.microsoft.com/office/powerpoint/2010/main" val="3608690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5022506002_0_7: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g35022506002_0_7: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b="1" dirty="0"/>
              <a:t>Urban Building Energy </a:t>
            </a:r>
            <a:r>
              <a:rPr lang="fr-FR" b="1" dirty="0" err="1"/>
              <a:t>Modelling</a:t>
            </a:r>
            <a:r>
              <a:rPr lang="fr-FR" b="1" dirty="0"/>
              <a:t> (UBEM)</a:t>
            </a:r>
            <a:r>
              <a:rPr lang="fr-FR" dirty="0"/>
              <a:t> désigne une démarche de </a:t>
            </a:r>
            <a:r>
              <a:rPr lang="fr-FR" b="1" dirty="0"/>
              <a:t>modélisation thermo-énergétique des bâtiments</a:t>
            </a:r>
            <a:r>
              <a:rPr lang="fr-FR" dirty="0"/>
              <a:t> appliquée à l’échelle urbaine.</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a:t>L’exemple de ce type d’outil est P10. couplage des calculs</a:t>
            </a:r>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b="1" dirty="0"/>
              <a:t>La validation du modèle</a:t>
            </a:r>
            <a:r>
              <a:rPr lang="fr-FR" dirty="0"/>
              <a:t>, c’est la phase où l’on confronte ces prédictions aux mesures réelles. Tant que le modèle n’est pas validé, il reste un joli exercice de calcul ;</a:t>
            </a:r>
            <a:br>
              <a:rPr lang="fr-FR" dirty="0"/>
            </a:br>
            <a:r>
              <a:rPr lang="fr-FR" dirty="0"/>
              <a:t>une fois validé, il devient un outil de décision auquel on est capable de donner une confiance juste. Il sera prêt à être exploité à une échelle plus grande.</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500"/>
              </a:spcBef>
              <a:spcAft>
                <a:spcPts val="0"/>
              </a:spcAft>
              <a:buSzPts val="2400"/>
              <a:buNone/>
            </a:pPr>
            <a:r>
              <a:rPr lang="fr-FR" sz="1200" dirty="0">
                <a:solidFill>
                  <a:srgbClr val="253356"/>
                </a:solidFill>
              </a:rPr>
              <a:t>Avec le développement dans le domaine d’UBEM, on a de plus en plus de cas d’usage demandant les prédictions dynamiques précises. Exemples : intégration des ENR&amp;R, études de flexibilité, etc. </a:t>
            </a:r>
          </a:p>
          <a:p>
            <a:pPr marL="0" lvl="0" indent="0" algn="l" rtl="0">
              <a:lnSpc>
                <a:spcPct val="100000"/>
              </a:lnSpc>
              <a:spcBef>
                <a:spcPts val="500"/>
              </a:spcBef>
              <a:spcAft>
                <a:spcPts val="0"/>
              </a:spcAft>
              <a:buSzPts val="2400"/>
              <a:buNone/>
            </a:pPr>
            <a:r>
              <a:rPr lang="fr-FR" sz="1200" dirty="0">
                <a:solidFill>
                  <a:srgbClr val="253356"/>
                </a:solidFill>
              </a:rPr>
              <a:t>Dans ces applications, les utilisateurs comptent sur des outils fiables, non seulement dans le calcul des consommations annuelles, mais plutôt dans les prédictions de consommation heure par heure. </a:t>
            </a:r>
          </a:p>
          <a:p>
            <a:pPr marL="0" lvl="0" indent="0" algn="l" rtl="0">
              <a:lnSpc>
                <a:spcPct val="100000"/>
              </a:lnSpc>
              <a:spcBef>
                <a:spcPts val="500"/>
              </a:spcBef>
              <a:spcAft>
                <a:spcPts val="0"/>
              </a:spcAft>
              <a:buSzPts val="2400"/>
              <a:buNone/>
            </a:pPr>
            <a:r>
              <a:rPr lang="fr-FR" sz="1200" dirty="0">
                <a:solidFill>
                  <a:srgbClr val="253356"/>
                </a:solidFill>
              </a:rPr>
              <a:t>C’est pourquoi ma thèse s’attaque précisément à cette lacune dans la littérature : … </a:t>
            </a:r>
          </a:p>
          <a:p>
            <a:pPr marL="0" lvl="0" indent="0" algn="l" rtl="0">
              <a:lnSpc>
                <a:spcPct val="100000"/>
              </a:lnSpc>
              <a:spcBef>
                <a:spcPts val="0"/>
              </a:spcBef>
              <a:spcAft>
                <a:spcPts val="0"/>
              </a:spcAft>
              <a:buSzPts val="1400"/>
              <a:buNone/>
            </a:pPr>
            <a:endParaRPr dirty="0"/>
          </a:p>
        </p:txBody>
      </p:sp>
      <p:sp>
        <p:nvSpPr>
          <p:cNvPr id="150" name="Google Shape;150;g35022506002_0_7: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6</a:t>
            </a:fld>
            <a:endParaRPr/>
          </a:p>
        </p:txBody>
      </p:sp>
    </p:spTree>
    <p:extLst>
      <p:ext uri="{BB962C8B-B14F-4D97-AF65-F5344CB8AC3E}">
        <p14:creationId xmlns:p14="http://schemas.microsoft.com/office/powerpoint/2010/main" val="3608690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5022506002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g35022506002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sz="1200" dirty="0">
                <a:solidFill>
                  <a:srgbClr val="314462"/>
                </a:solidFill>
              </a:rPr>
              <a:t>0.15% - 22.1% Morewood2023</a:t>
            </a:r>
            <a:endParaRPr dirty="0"/>
          </a:p>
        </p:txBody>
      </p:sp>
      <p:sp>
        <p:nvSpPr>
          <p:cNvPr id="167" name="Google Shape;167;g35022506002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5022506002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g35022506002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sz="1200" dirty="0">
                <a:solidFill>
                  <a:srgbClr val="314462"/>
                </a:solidFill>
              </a:rPr>
              <a:t>0.15% - 22.1% Morewood2023</a:t>
            </a:r>
            <a:endParaRPr dirty="0"/>
          </a:p>
        </p:txBody>
      </p:sp>
      <p:sp>
        <p:nvSpPr>
          <p:cNvPr id="167" name="Google Shape;167;g35022506002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5022506002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g35022506002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sz="1200" dirty="0">
                <a:solidFill>
                  <a:srgbClr val="314462"/>
                </a:solidFill>
              </a:rPr>
              <a:t>0.15% - 22.1% Morewood2023</a:t>
            </a:r>
            <a:endParaRPr dirty="0"/>
          </a:p>
        </p:txBody>
      </p:sp>
      <p:sp>
        <p:nvSpPr>
          <p:cNvPr id="167" name="Google Shape;167;g35022506002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5022506002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g35022506002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sz="1200" dirty="0">
                <a:solidFill>
                  <a:srgbClr val="314462"/>
                </a:solidFill>
              </a:rPr>
              <a:t>0.15% - 22.1% Morewood2023</a:t>
            </a:r>
            <a:endParaRPr dirty="0"/>
          </a:p>
        </p:txBody>
      </p:sp>
      <p:sp>
        <p:nvSpPr>
          <p:cNvPr id="167" name="Google Shape;167;g35022506002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15fc2b25ae_0_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g315fc2b25ae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g315fc2b25ae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05046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5094c70174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5094c70174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Avant de juger le modèle, il faut être sûr que ce qu’on compare est propre. L’objectif de ce traitement de données est de </a:t>
            </a:r>
            <a:r>
              <a:rPr lang="fr-FR" sz="1200" dirty="0">
                <a:solidFill>
                  <a:srgbClr val="253356"/>
                </a:solidFill>
              </a:rPr>
              <a:t>garantir l’interprétabilité de résultats de validation : ce résultat doit nous permettre d’évaluer la validité du modèle.</a:t>
            </a:r>
          </a:p>
          <a:p>
            <a:pPr marL="0" lvl="0" indent="0" algn="l" rtl="0">
              <a:lnSpc>
                <a:spcPct val="100000"/>
              </a:lnSpc>
              <a:spcBef>
                <a:spcPts val="500"/>
              </a:spcBef>
              <a:spcAft>
                <a:spcPts val="0"/>
              </a:spcAft>
              <a:buSzPts val="2400"/>
              <a:buNone/>
            </a:pPr>
            <a:r>
              <a:rPr lang="fr-FR" sz="1200" b="1" dirty="0">
                <a:solidFill>
                  <a:srgbClr val="253356"/>
                </a:solidFill>
              </a:rPr>
              <a:t>Question</a:t>
            </a:r>
            <a:r>
              <a:rPr lang="fr-FR" sz="1200" dirty="0">
                <a:solidFill>
                  <a:srgbClr val="253356"/>
                </a:solidFill>
              </a:rPr>
              <a:t> de départ : Un écart simulation – mesure reflète-t-il toujours un défaut du modèle ?</a:t>
            </a:r>
          </a:p>
          <a:p>
            <a:pPr marL="0" lvl="0" indent="0" algn="l" rtl="0">
              <a:lnSpc>
                <a:spcPct val="100000"/>
              </a:lnSpc>
              <a:spcBef>
                <a:spcPts val="500"/>
              </a:spcBef>
              <a:spcAft>
                <a:spcPts val="0"/>
              </a:spcAft>
              <a:buSzPts val="2400"/>
              <a:buNone/>
            </a:pPr>
            <a:r>
              <a:rPr lang="fr-FR" sz="1200" dirty="0">
                <a:solidFill>
                  <a:srgbClr val="253356"/>
                </a:solidFill>
              </a:rPr>
              <a:t>La réponse est claire : pas forcément. Les mesures ne sont jamais parfaites. </a:t>
            </a:r>
          </a:p>
          <a:p>
            <a:pPr marL="0" lvl="0" indent="0" algn="l" rtl="0">
              <a:lnSpc>
                <a:spcPct val="100000"/>
              </a:lnSpc>
              <a:spcBef>
                <a:spcPts val="0"/>
              </a:spcBef>
              <a:spcAft>
                <a:spcPts val="0"/>
              </a:spcAft>
              <a:buSzPts val="1400"/>
              <a:buNone/>
            </a:pPr>
            <a:br>
              <a:rPr lang="fr-FR" dirty="0"/>
            </a:br>
            <a:r>
              <a:rPr lang="fr-FR" dirty="0"/>
              <a:t>Notre règle est simple : si la différence entre simulation et mesure peut provenir d’un problème de capteur ou de relevé, on l’écarte. Cela passe par une détection d’anomalies sur toutes les variables enregistrées. </a:t>
            </a:r>
          </a:p>
          <a:p>
            <a:pPr marL="0" lvl="0" indent="0" algn="l" rtl="0">
              <a:lnSpc>
                <a:spcPct val="100000"/>
              </a:lnSpc>
              <a:spcBef>
                <a:spcPts val="0"/>
              </a:spcBef>
              <a:spcAft>
                <a:spcPts val="0"/>
              </a:spcAft>
              <a:buSzPts val="1400"/>
              <a:buNone/>
            </a:pPr>
            <a:r>
              <a:rPr lang="fr-FR" dirty="0"/>
              <a:t>A la fin, on souhaite que les écarts restants reflètent vraiment la performance du modèle, pas un bruit dans les données.</a:t>
            </a:r>
            <a:endParaRPr dirty="0"/>
          </a:p>
        </p:txBody>
      </p:sp>
      <p:sp>
        <p:nvSpPr>
          <p:cNvPr id="175" name="Google Shape;175;g35094c70174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5094c70174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5094c70174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Avant de juger le modèle, il faut être sûr que ce qu’on compare est propre. L’objectif de ce traitement de données est de </a:t>
            </a:r>
            <a:r>
              <a:rPr lang="fr-FR" sz="1200" dirty="0">
                <a:solidFill>
                  <a:srgbClr val="253356"/>
                </a:solidFill>
              </a:rPr>
              <a:t>garantir l’interprétabilité de résultats de validation : ce résultat doit nous permettre d’évaluer la validité du modèle.</a:t>
            </a:r>
          </a:p>
          <a:p>
            <a:pPr marL="0" lvl="0" indent="0" algn="l" rtl="0">
              <a:lnSpc>
                <a:spcPct val="100000"/>
              </a:lnSpc>
              <a:spcBef>
                <a:spcPts val="500"/>
              </a:spcBef>
              <a:spcAft>
                <a:spcPts val="0"/>
              </a:spcAft>
              <a:buSzPts val="2400"/>
              <a:buNone/>
            </a:pPr>
            <a:r>
              <a:rPr lang="fr-FR" sz="1200" b="1" dirty="0">
                <a:solidFill>
                  <a:srgbClr val="253356"/>
                </a:solidFill>
              </a:rPr>
              <a:t>Question</a:t>
            </a:r>
            <a:r>
              <a:rPr lang="fr-FR" sz="1200" dirty="0">
                <a:solidFill>
                  <a:srgbClr val="253356"/>
                </a:solidFill>
              </a:rPr>
              <a:t> de départ : Un écart simulation – mesure reflète-t-il toujours un défaut du modèle ?</a:t>
            </a:r>
          </a:p>
          <a:p>
            <a:pPr marL="0" lvl="0" indent="0" algn="l" rtl="0">
              <a:lnSpc>
                <a:spcPct val="100000"/>
              </a:lnSpc>
              <a:spcBef>
                <a:spcPts val="500"/>
              </a:spcBef>
              <a:spcAft>
                <a:spcPts val="0"/>
              </a:spcAft>
              <a:buSzPts val="2400"/>
              <a:buNone/>
            </a:pPr>
            <a:r>
              <a:rPr lang="fr-FR" sz="1200" dirty="0">
                <a:solidFill>
                  <a:srgbClr val="253356"/>
                </a:solidFill>
              </a:rPr>
              <a:t>La réponse est claire : pas forcément. Les mesures ne sont jamais parfaites. </a:t>
            </a:r>
          </a:p>
          <a:p>
            <a:pPr marL="0" lvl="0" indent="0" algn="l" rtl="0">
              <a:lnSpc>
                <a:spcPct val="100000"/>
              </a:lnSpc>
              <a:spcBef>
                <a:spcPts val="0"/>
              </a:spcBef>
              <a:spcAft>
                <a:spcPts val="0"/>
              </a:spcAft>
              <a:buSzPts val="1400"/>
              <a:buNone/>
            </a:pPr>
            <a:br>
              <a:rPr lang="fr-FR" dirty="0"/>
            </a:br>
            <a:r>
              <a:rPr lang="fr-FR" dirty="0"/>
              <a:t>Notre règle est simple : si la différence entre simulation et mesure peut provenir d’un problème de capteur ou de relevé, on l’écarte. Cela passe par une détection d’anomalies sur toutes les variables enregistrées. </a:t>
            </a:r>
          </a:p>
          <a:p>
            <a:pPr marL="0" lvl="0" indent="0" algn="l" rtl="0">
              <a:lnSpc>
                <a:spcPct val="100000"/>
              </a:lnSpc>
              <a:spcBef>
                <a:spcPts val="0"/>
              </a:spcBef>
              <a:spcAft>
                <a:spcPts val="0"/>
              </a:spcAft>
              <a:buSzPts val="1400"/>
              <a:buNone/>
            </a:pPr>
            <a:r>
              <a:rPr lang="fr-FR" dirty="0"/>
              <a:t>A la fin, on souhaite que les écarts restants reflètent vraiment la performance du modèle, pas un bruit dans les données.</a:t>
            </a:r>
            <a:endParaRPr dirty="0"/>
          </a:p>
        </p:txBody>
      </p:sp>
      <p:sp>
        <p:nvSpPr>
          <p:cNvPr id="175" name="Google Shape;175;g35094c70174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5094c70174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5094c70174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Avant de juger le modèle, il faut être sûr que ce qu’on compare est propre. L’objectif de ce traitement de données est de </a:t>
            </a:r>
            <a:r>
              <a:rPr lang="fr-FR" sz="1200" dirty="0">
                <a:solidFill>
                  <a:srgbClr val="253356"/>
                </a:solidFill>
              </a:rPr>
              <a:t>garantir l’interprétabilité de résultats de validation : ce résultat doit nous permettre d’évaluer la validité du modèle.</a:t>
            </a:r>
          </a:p>
          <a:p>
            <a:pPr marL="0" lvl="0" indent="0" algn="l" rtl="0">
              <a:lnSpc>
                <a:spcPct val="100000"/>
              </a:lnSpc>
              <a:spcBef>
                <a:spcPts val="500"/>
              </a:spcBef>
              <a:spcAft>
                <a:spcPts val="0"/>
              </a:spcAft>
              <a:buSzPts val="2400"/>
              <a:buNone/>
            </a:pPr>
            <a:r>
              <a:rPr lang="fr-FR" sz="1200" b="1" dirty="0">
                <a:solidFill>
                  <a:srgbClr val="253356"/>
                </a:solidFill>
              </a:rPr>
              <a:t>Question</a:t>
            </a:r>
            <a:r>
              <a:rPr lang="fr-FR" sz="1200" dirty="0">
                <a:solidFill>
                  <a:srgbClr val="253356"/>
                </a:solidFill>
              </a:rPr>
              <a:t> de départ : Un écart simulation – mesure reflète-t-il toujours un défaut du modèle ?</a:t>
            </a:r>
          </a:p>
          <a:p>
            <a:pPr marL="0" lvl="0" indent="0" algn="l" rtl="0">
              <a:lnSpc>
                <a:spcPct val="100000"/>
              </a:lnSpc>
              <a:spcBef>
                <a:spcPts val="500"/>
              </a:spcBef>
              <a:spcAft>
                <a:spcPts val="0"/>
              </a:spcAft>
              <a:buSzPts val="2400"/>
              <a:buNone/>
            </a:pPr>
            <a:r>
              <a:rPr lang="fr-FR" sz="1200" dirty="0">
                <a:solidFill>
                  <a:srgbClr val="253356"/>
                </a:solidFill>
              </a:rPr>
              <a:t>La réponse est claire : pas forcément. Les mesures ne sont jamais parfaites. </a:t>
            </a:r>
          </a:p>
          <a:p>
            <a:pPr marL="0" lvl="0" indent="0" algn="l" rtl="0">
              <a:lnSpc>
                <a:spcPct val="100000"/>
              </a:lnSpc>
              <a:spcBef>
                <a:spcPts val="0"/>
              </a:spcBef>
              <a:spcAft>
                <a:spcPts val="0"/>
              </a:spcAft>
              <a:buSzPts val="1400"/>
              <a:buNone/>
            </a:pPr>
            <a:br>
              <a:rPr lang="fr-FR" dirty="0"/>
            </a:br>
            <a:r>
              <a:rPr lang="fr-FR" dirty="0"/>
              <a:t>Notre règle est simple : si la différence entre simulation et mesure peut provenir d’un problème de capteur ou de relevé, on l’écarte. Cela passe par une détection d’anomalies sur toutes les variables enregistrées. </a:t>
            </a:r>
          </a:p>
          <a:p>
            <a:pPr marL="0" lvl="0" indent="0" algn="l" rtl="0">
              <a:lnSpc>
                <a:spcPct val="100000"/>
              </a:lnSpc>
              <a:spcBef>
                <a:spcPts val="0"/>
              </a:spcBef>
              <a:spcAft>
                <a:spcPts val="0"/>
              </a:spcAft>
              <a:buSzPts val="1400"/>
              <a:buNone/>
            </a:pPr>
            <a:r>
              <a:rPr lang="fr-FR" dirty="0"/>
              <a:t>A la fin, on souhaite que les écarts restants reflètent vraiment la performance du modèle, pas un bruit dans les données.</a:t>
            </a:r>
            <a:endParaRPr dirty="0"/>
          </a:p>
        </p:txBody>
      </p:sp>
      <p:sp>
        <p:nvSpPr>
          <p:cNvPr id="175" name="Google Shape;175;g35094c70174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5094c70174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5094c70174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Avant de juger le modèle, il faut être sûr que ce qu’on compare est propre. L’objectif de ce traitement de données est de </a:t>
            </a:r>
            <a:r>
              <a:rPr lang="fr-FR" sz="1200" dirty="0">
                <a:solidFill>
                  <a:srgbClr val="253356"/>
                </a:solidFill>
              </a:rPr>
              <a:t>garantir l’interprétabilité de résultats de validation : ce résultat doit nous permettre d’évaluer la validité du modèle.</a:t>
            </a:r>
          </a:p>
          <a:p>
            <a:pPr marL="0" lvl="0" indent="0" algn="l" rtl="0">
              <a:lnSpc>
                <a:spcPct val="100000"/>
              </a:lnSpc>
              <a:spcBef>
                <a:spcPts val="500"/>
              </a:spcBef>
              <a:spcAft>
                <a:spcPts val="0"/>
              </a:spcAft>
              <a:buSzPts val="2400"/>
              <a:buNone/>
            </a:pPr>
            <a:r>
              <a:rPr lang="fr-FR" sz="1200" b="1" dirty="0">
                <a:solidFill>
                  <a:srgbClr val="253356"/>
                </a:solidFill>
              </a:rPr>
              <a:t>Question</a:t>
            </a:r>
            <a:r>
              <a:rPr lang="fr-FR" sz="1200" dirty="0">
                <a:solidFill>
                  <a:srgbClr val="253356"/>
                </a:solidFill>
              </a:rPr>
              <a:t> de départ : Un écart simulation – mesure reflète-t-il toujours un défaut du modèle ?</a:t>
            </a:r>
          </a:p>
          <a:p>
            <a:pPr marL="0" lvl="0" indent="0" algn="l" rtl="0">
              <a:lnSpc>
                <a:spcPct val="100000"/>
              </a:lnSpc>
              <a:spcBef>
                <a:spcPts val="500"/>
              </a:spcBef>
              <a:spcAft>
                <a:spcPts val="0"/>
              </a:spcAft>
              <a:buSzPts val="2400"/>
              <a:buNone/>
            </a:pPr>
            <a:r>
              <a:rPr lang="fr-FR" sz="1200" dirty="0">
                <a:solidFill>
                  <a:srgbClr val="253356"/>
                </a:solidFill>
              </a:rPr>
              <a:t>La réponse est claire : pas forcément. Les mesures ne sont jamais parfaites. </a:t>
            </a:r>
          </a:p>
          <a:p>
            <a:pPr marL="0" lvl="0" indent="0" algn="l" rtl="0">
              <a:lnSpc>
                <a:spcPct val="100000"/>
              </a:lnSpc>
              <a:spcBef>
                <a:spcPts val="0"/>
              </a:spcBef>
              <a:spcAft>
                <a:spcPts val="0"/>
              </a:spcAft>
              <a:buSzPts val="1400"/>
              <a:buNone/>
            </a:pPr>
            <a:br>
              <a:rPr lang="fr-FR" dirty="0"/>
            </a:br>
            <a:r>
              <a:rPr lang="fr-FR" dirty="0"/>
              <a:t>Notre règle est simple : si la différence entre simulation et mesure peut provenir d’un problème de capteur ou de relevé, on l’écarte. Cela passe par une détection d’anomalies sur toutes les variables enregistrées. </a:t>
            </a:r>
          </a:p>
          <a:p>
            <a:pPr marL="0" lvl="0" indent="0" algn="l" rtl="0">
              <a:lnSpc>
                <a:spcPct val="100000"/>
              </a:lnSpc>
              <a:spcBef>
                <a:spcPts val="0"/>
              </a:spcBef>
              <a:spcAft>
                <a:spcPts val="0"/>
              </a:spcAft>
              <a:buSzPts val="1400"/>
              <a:buNone/>
            </a:pPr>
            <a:r>
              <a:rPr lang="fr-FR" dirty="0"/>
              <a:t>A la fin, on souhaite que les écarts restants reflètent vraiment la performance du modèle, pas un bruit dans les données.</a:t>
            </a:r>
            <a:endParaRPr dirty="0"/>
          </a:p>
        </p:txBody>
      </p:sp>
      <p:sp>
        <p:nvSpPr>
          <p:cNvPr id="175" name="Google Shape;175;g35094c70174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5094c70174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5094c70174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Avant de juger le modèle, il faut être sûr que ce qu’on compare est propre. L’objectif de ce traitement de données est de </a:t>
            </a:r>
            <a:r>
              <a:rPr lang="fr-FR" sz="1200" dirty="0">
                <a:solidFill>
                  <a:srgbClr val="253356"/>
                </a:solidFill>
              </a:rPr>
              <a:t>garantir l’interprétabilité de résultats de validation : ce résultat doit nous permettre d’évaluer la validité du modèle.</a:t>
            </a:r>
          </a:p>
          <a:p>
            <a:pPr marL="0" lvl="0" indent="0" algn="l" rtl="0">
              <a:lnSpc>
                <a:spcPct val="100000"/>
              </a:lnSpc>
              <a:spcBef>
                <a:spcPts val="500"/>
              </a:spcBef>
              <a:spcAft>
                <a:spcPts val="0"/>
              </a:spcAft>
              <a:buSzPts val="2400"/>
              <a:buNone/>
            </a:pPr>
            <a:r>
              <a:rPr lang="fr-FR" sz="1200" b="1" dirty="0">
                <a:solidFill>
                  <a:srgbClr val="253356"/>
                </a:solidFill>
              </a:rPr>
              <a:t>Question</a:t>
            </a:r>
            <a:r>
              <a:rPr lang="fr-FR" sz="1200" dirty="0">
                <a:solidFill>
                  <a:srgbClr val="253356"/>
                </a:solidFill>
              </a:rPr>
              <a:t> de départ : Un écart simulation – mesure reflète-t-il toujours un défaut du modèle ?</a:t>
            </a:r>
          </a:p>
          <a:p>
            <a:pPr marL="0" lvl="0" indent="0" algn="l" rtl="0">
              <a:lnSpc>
                <a:spcPct val="100000"/>
              </a:lnSpc>
              <a:spcBef>
                <a:spcPts val="500"/>
              </a:spcBef>
              <a:spcAft>
                <a:spcPts val="0"/>
              </a:spcAft>
              <a:buSzPts val="2400"/>
              <a:buNone/>
            </a:pPr>
            <a:r>
              <a:rPr lang="fr-FR" sz="1200" dirty="0">
                <a:solidFill>
                  <a:srgbClr val="253356"/>
                </a:solidFill>
              </a:rPr>
              <a:t>La réponse est claire : pas forcément. Les mesures ne sont jamais parfaites. </a:t>
            </a:r>
          </a:p>
          <a:p>
            <a:pPr marL="0" lvl="0" indent="0" algn="l" rtl="0">
              <a:lnSpc>
                <a:spcPct val="100000"/>
              </a:lnSpc>
              <a:spcBef>
                <a:spcPts val="0"/>
              </a:spcBef>
              <a:spcAft>
                <a:spcPts val="0"/>
              </a:spcAft>
              <a:buSzPts val="1400"/>
              <a:buNone/>
            </a:pPr>
            <a:br>
              <a:rPr lang="fr-FR" dirty="0"/>
            </a:br>
            <a:r>
              <a:rPr lang="fr-FR" dirty="0"/>
              <a:t>Notre règle est simple : si la différence entre simulation et mesure peut provenir d’un problème de capteur ou de relevé, on l’écarte. Cela passe par une détection d’anomalies sur toutes les variables enregistrées. </a:t>
            </a:r>
          </a:p>
          <a:p>
            <a:pPr marL="0" lvl="0" indent="0" algn="l" rtl="0">
              <a:lnSpc>
                <a:spcPct val="100000"/>
              </a:lnSpc>
              <a:spcBef>
                <a:spcPts val="0"/>
              </a:spcBef>
              <a:spcAft>
                <a:spcPts val="0"/>
              </a:spcAft>
              <a:buSzPts val="1400"/>
              <a:buNone/>
            </a:pPr>
            <a:r>
              <a:rPr lang="fr-FR" dirty="0"/>
              <a:t>A la fin, on souhaite que les écarts restants reflètent vraiment la performance du modèle, pas un bruit dans les données.</a:t>
            </a:r>
            <a:endParaRPr dirty="0"/>
          </a:p>
        </p:txBody>
      </p:sp>
      <p:sp>
        <p:nvSpPr>
          <p:cNvPr id="175" name="Google Shape;175;g35094c70174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e9e33ca579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g2e9e33ca579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g2e9e33ca579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094c70174_0_56: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g35094c70174_0_56: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g35094c70174_0_56: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5094c70174_0_21: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g35094c70174_0_21: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g35094c70174_0_21: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5094c70174_0_38: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5094c70174_0_38: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g35094c70174_0_38: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5094c70174_0_77: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g35094c70174_0_77: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g35094c70174_0_77: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5094c70174_0_96: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g35094c70174_0_96: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8" name="Google Shape;308;g35094c70174_0_96: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15fc2b25ae_0_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g315fc2b25ae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g315fc2b25ae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770610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5022506002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g35022506002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g35022506002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25</a:t>
            </a:fld>
            <a:endParaRPr/>
          </a:p>
        </p:txBody>
      </p:sp>
    </p:spTree>
    <p:extLst>
      <p:ext uri="{BB962C8B-B14F-4D97-AF65-F5344CB8AC3E}">
        <p14:creationId xmlns:p14="http://schemas.microsoft.com/office/powerpoint/2010/main" val="27117741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5022506002_0_0: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g35022506002_0_0: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g35022506002_0_0: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26</a:t>
            </a:fld>
            <a:endParaRPr/>
          </a:p>
        </p:txBody>
      </p:sp>
    </p:spTree>
    <p:extLst>
      <p:ext uri="{BB962C8B-B14F-4D97-AF65-F5344CB8AC3E}">
        <p14:creationId xmlns:p14="http://schemas.microsoft.com/office/powerpoint/2010/main" val="27117741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Dans les enquêtes, la non-réponse partielle se traite soit par </a:t>
            </a:r>
            <a:r>
              <a:rPr lang="fr-FR" b="1" dirty="0"/>
              <a:t>pondération</a:t>
            </a:r>
            <a:r>
              <a:rPr lang="fr-FR" dirty="0"/>
              <a:t>, soit par </a:t>
            </a:r>
            <a:r>
              <a:rPr lang="fr-FR" b="1" dirty="0"/>
              <a:t>imputation</a:t>
            </a:r>
            <a:r>
              <a:rPr lang="fr-FR" dirty="0"/>
              <a:t>.</a:t>
            </a:r>
          </a:p>
          <a:p>
            <a:pPr>
              <a:buFont typeface="Arial" panose="020B0604020202020204" pitchFamily="34" charset="0"/>
              <a:buChar char="•"/>
            </a:pPr>
            <a:r>
              <a:rPr lang="fr-FR" b="1" dirty="0"/>
              <a:t>Pondération</a:t>
            </a:r>
            <a:r>
              <a:rPr lang="fr-FR" dirty="0"/>
              <a:t> : on ajuste le poids des observations disponibles pour que l’échantillon reflète mieux la population cible.</a:t>
            </a:r>
          </a:p>
          <a:p>
            <a:pPr marL="742950" lvl="1" indent="-285750">
              <a:buFont typeface="Arial" panose="020B0604020202020204" pitchFamily="34" charset="0"/>
              <a:buChar char="•"/>
            </a:pPr>
            <a:r>
              <a:rPr lang="fr-FR" dirty="0"/>
              <a:t>Ici, chaque mesure reçoit un poids appliqué lors du calcul des erreurs de validation afin de corriger la sous-représentation de certains états météorologiques.</a:t>
            </a:r>
          </a:p>
          <a:p>
            <a:pPr marL="742950" lvl="1" indent="-285750">
              <a:buFont typeface="Arial" panose="020B0604020202020204" pitchFamily="34" charset="0"/>
              <a:buChar char="•"/>
            </a:pPr>
            <a:r>
              <a:rPr lang="fr-FR" dirty="0"/>
              <a:t>Deux méthodes utilisées :</a:t>
            </a:r>
          </a:p>
          <a:p>
            <a:pPr marL="1143000" lvl="2" indent="-228600">
              <a:buFont typeface="Arial" panose="020B0604020202020204" pitchFamily="34" charset="0"/>
              <a:buChar char="•"/>
            </a:pPr>
            <a:r>
              <a:rPr lang="fr-FR" b="1" dirty="0"/>
              <a:t>Pondération par cellules</a:t>
            </a:r>
            <a:r>
              <a:rPr lang="fr-FR" dirty="0"/>
              <a:t> : la population est découpée en groupes (cellules) selon des caractéristiques connues ; le poids de chaque observation est ramené à la proportion réelle de son groupe.</a:t>
            </a:r>
          </a:p>
          <a:p>
            <a:pPr marL="1143000" lvl="2" indent="-228600">
              <a:buFont typeface="Arial" panose="020B0604020202020204" pitchFamily="34" charset="0"/>
              <a:buChar char="•"/>
            </a:pPr>
            <a:r>
              <a:rPr lang="fr-FR" b="1" dirty="0"/>
              <a:t>Pondération par calage (</a:t>
            </a:r>
            <a:r>
              <a:rPr lang="fr-FR" b="1" dirty="0" err="1"/>
              <a:t>raking</a:t>
            </a:r>
            <a:r>
              <a:rPr lang="fr-FR" b="1" dirty="0"/>
              <a:t>)</a:t>
            </a:r>
            <a:r>
              <a:rPr lang="fr-FR" dirty="0"/>
              <a:t> : les poids sont ajustés itérativement pour que les distributions marginales observées coïncident avec celles de la population, jusqu’à convergence.</a:t>
            </a:r>
          </a:p>
          <a:p>
            <a:pPr>
              <a:buFont typeface="Arial" panose="020B0604020202020204" pitchFamily="34" charset="0"/>
              <a:buChar char="•"/>
            </a:pPr>
            <a:r>
              <a:rPr lang="fr-FR" b="1" dirty="0"/>
              <a:t>Imputation</a:t>
            </a:r>
            <a:r>
              <a:rPr lang="fr-FR" dirty="0"/>
              <a:t> : on prédit les valeurs manquantes, on complète la série temporelle puis on analyse l’ensemble complété.</a:t>
            </a:r>
          </a:p>
          <a:p>
            <a:pPr marL="742950" lvl="1" indent="-285750">
              <a:buFont typeface="Arial" panose="020B0604020202020204" pitchFamily="34" charset="0"/>
              <a:buChar char="•"/>
            </a:pPr>
            <a:r>
              <a:rPr lang="fr-FR" dirty="0"/>
              <a:t>Dans cette étude, l’imputation multivariée par régression a été employée pour estimer les données manquantes.</a:t>
            </a:r>
          </a:p>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27</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952719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Dans les enquêtes, la non-réponse partielle se traite soit par </a:t>
            </a:r>
            <a:r>
              <a:rPr lang="fr-FR" b="1" dirty="0"/>
              <a:t>pondération</a:t>
            </a:r>
            <a:r>
              <a:rPr lang="fr-FR" dirty="0"/>
              <a:t>, soit par </a:t>
            </a:r>
            <a:r>
              <a:rPr lang="fr-FR" b="1" dirty="0"/>
              <a:t>imputation</a:t>
            </a:r>
            <a:r>
              <a:rPr lang="fr-FR" dirty="0"/>
              <a:t>.</a:t>
            </a:r>
          </a:p>
          <a:p>
            <a:pPr>
              <a:buFont typeface="Arial" panose="020B0604020202020204" pitchFamily="34" charset="0"/>
              <a:buChar char="•"/>
            </a:pPr>
            <a:r>
              <a:rPr lang="fr-FR" b="1" dirty="0"/>
              <a:t>Pondération</a:t>
            </a:r>
            <a:r>
              <a:rPr lang="fr-FR" dirty="0"/>
              <a:t> : on ajuste le poids des observations disponibles pour que l’échantillon reflète mieux la population cible.</a:t>
            </a:r>
          </a:p>
          <a:p>
            <a:pPr marL="742950" lvl="1" indent="-285750">
              <a:buFont typeface="Arial" panose="020B0604020202020204" pitchFamily="34" charset="0"/>
              <a:buChar char="•"/>
            </a:pPr>
            <a:r>
              <a:rPr lang="fr-FR" dirty="0"/>
              <a:t>Ici, chaque mesure reçoit un poids appliqué lors du calcul des erreurs de validation afin de corriger la sous-représentation de certains états météorologiques.</a:t>
            </a:r>
          </a:p>
          <a:p>
            <a:pPr marL="742950" lvl="1" indent="-285750">
              <a:buFont typeface="Arial" panose="020B0604020202020204" pitchFamily="34" charset="0"/>
              <a:buChar char="•"/>
            </a:pPr>
            <a:r>
              <a:rPr lang="fr-FR" dirty="0"/>
              <a:t>Deux méthodes utilisées :</a:t>
            </a:r>
          </a:p>
          <a:p>
            <a:pPr marL="1143000" lvl="2" indent="-228600">
              <a:buFont typeface="Arial" panose="020B0604020202020204" pitchFamily="34" charset="0"/>
              <a:buChar char="•"/>
            </a:pPr>
            <a:r>
              <a:rPr lang="fr-FR" b="1" dirty="0"/>
              <a:t>Pondération par cellules</a:t>
            </a:r>
            <a:r>
              <a:rPr lang="fr-FR" dirty="0"/>
              <a:t> : la population est découpée en groupes (cellules) selon des caractéristiques connues ; le poids de chaque observation est ramené à la proportion réelle de son groupe.</a:t>
            </a:r>
          </a:p>
          <a:p>
            <a:pPr marL="1143000" lvl="2" indent="-228600">
              <a:buFont typeface="Arial" panose="020B0604020202020204" pitchFamily="34" charset="0"/>
              <a:buChar char="•"/>
            </a:pPr>
            <a:r>
              <a:rPr lang="fr-FR" b="1" dirty="0"/>
              <a:t>Pondération par calage (</a:t>
            </a:r>
            <a:r>
              <a:rPr lang="fr-FR" b="1" dirty="0" err="1"/>
              <a:t>raking</a:t>
            </a:r>
            <a:r>
              <a:rPr lang="fr-FR" b="1" dirty="0"/>
              <a:t>)</a:t>
            </a:r>
            <a:r>
              <a:rPr lang="fr-FR" dirty="0"/>
              <a:t> : les poids sont ajustés itérativement pour que les distributions marginales observées coïncident avec celles de la population, jusqu’à convergence.</a:t>
            </a:r>
          </a:p>
          <a:p>
            <a:pPr>
              <a:buFont typeface="Arial" panose="020B0604020202020204" pitchFamily="34" charset="0"/>
              <a:buChar char="•"/>
            </a:pPr>
            <a:r>
              <a:rPr lang="fr-FR" b="1" dirty="0"/>
              <a:t>Imputation</a:t>
            </a:r>
            <a:r>
              <a:rPr lang="fr-FR" dirty="0"/>
              <a:t> : on prédit les valeurs manquantes, on complète la série temporelle puis on analyse l’ensemble complété.</a:t>
            </a:r>
          </a:p>
          <a:p>
            <a:pPr marL="742950" lvl="1" indent="-285750">
              <a:buFont typeface="Arial" panose="020B0604020202020204" pitchFamily="34" charset="0"/>
              <a:buChar char="•"/>
            </a:pPr>
            <a:r>
              <a:rPr lang="fr-FR" dirty="0"/>
              <a:t>Dans cette étude, l’imputation multivariée par régression a été employée pour estimer les données manquantes.</a:t>
            </a:r>
          </a:p>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28</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952719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Dans les enquêtes, la non-réponse partielle se traite soit par </a:t>
            </a:r>
            <a:r>
              <a:rPr lang="fr-FR" b="1" dirty="0"/>
              <a:t>pondération</a:t>
            </a:r>
            <a:r>
              <a:rPr lang="fr-FR" dirty="0"/>
              <a:t>, soit par </a:t>
            </a:r>
            <a:r>
              <a:rPr lang="fr-FR" b="1" dirty="0"/>
              <a:t>imputation</a:t>
            </a:r>
            <a:r>
              <a:rPr lang="fr-FR" dirty="0"/>
              <a:t>.</a:t>
            </a:r>
          </a:p>
          <a:p>
            <a:pPr>
              <a:buFont typeface="Arial" panose="020B0604020202020204" pitchFamily="34" charset="0"/>
              <a:buChar char="•"/>
            </a:pPr>
            <a:r>
              <a:rPr lang="fr-FR" b="1" dirty="0"/>
              <a:t>Pondération</a:t>
            </a:r>
            <a:r>
              <a:rPr lang="fr-FR" dirty="0"/>
              <a:t> : on ajuste le poids des observations disponibles pour que l’échantillon reflète mieux la population cible.</a:t>
            </a:r>
          </a:p>
          <a:p>
            <a:pPr marL="742950" lvl="1" indent="-285750">
              <a:buFont typeface="Arial" panose="020B0604020202020204" pitchFamily="34" charset="0"/>
              <a:buChar char="•"/>
            </a:pPr>
            <a:r>
              <a:rPr lang="fr-FR" dirty="0"/>
              <a:t>Ici, chaque mesure reçoit un poids appliqué lors du calcul des erreurs de validation afin de corriger la sous-représentation de certains états météorologiques.</a:t>
            </a:r>
          </a:p>
          <a:p>
            <a:pPr marL="742950" lvl="1" indent="-285750">
              <a:buFont typeface="Arial" panose="020B0604020202020204" pitchFamily="34" charset="0"/>
              <a:buChar char="•"/>
            </a:pPr>
            <a:r>
              <a:rPr lang="fr-FR" dirty="0"/>
              <a:t>Deux méthodes utilisées :</a:t>
            </a:r>
          </a:p>
          <a:p>
            <a:pPr marL="1143000" lvl="2" indent="-228600">
              <a:buFont typeface="Arial" panose="020B0604020202020204" pitchFamily="34" charset="0"/>
              <a:buChar char="•"/>
            </a:pPr>
            <a:r>
              <a:rPr lang="fr-FR" b="1" dirty="0"/>
              <a:t>Pondération par cellules</a:t>
            </a:r>
            <a:r>
              <a:rPr lang="fr-FR" dirty="0"/>
              <a:t> : la population est découpée en groupes (cellules) selon des caractéristiques connues ; le poids de chaque observation est ramené à la proportion réelle de son groupe.</a:t>
            </a:r>
          </a:p>
          <a:p>
            <a:pPr marL="1143000" lvl="2" indent="-228600">
              <a:buFont typeface="Arial" panose="020B0604020202020204" pitchFamily="34" charset="0"/>
              <a:buChar char="•"/>
            </a:pPr>
            <a:r>
              <a:rPr lang="fr-FR" b="1" dirty="0"/>
              <a:t>Pondération par calage (</a:t>
            </a:r>
            <a:r>
              <a:rPr lang="fr-FR" b="1" dirty="0" err="1"/>
              <a:t>raking</a:t>
            </a:r>
            <a:r>
              <a:rPr lang="fr-FR" b="1" dirty="0"/>
              <a:t>)</a:t>
            </a:r>
            <a:r>
              <a:rPr lang="fr-FR" dirty="0"/>
              <a:t> : les poids sont ajustés itérativement pour que les distributions marginales observées coïncident avec celles de la population, jusqu’à convergence.</a:t>
            </a:r>
          </a:p>
          <a:p>
            <a:pPr>
              <a:buFont typeface="Arial" panose="020B0604020202020204" pitchFamily="34" charset="0"/>
              <a:buChar char="•"/>
            </a:pPr>
            <a:r>
              <a:rPr lang="fr-FR" b="1" dirty="0"/>
              <a:t>Imputation</a:t>
            </a:r>
            <a:r>
              <a:rPr lang="fr-FR" dirty="0"/>
              <a:t> : on prédit les valeurs manquantes, on complète la série temporelle puis on analyse l’ensemble complété.</a:t>
            </a:r>
          </a:p>
          <a:p>
            <a:pPr marL="742950" lvl="1" indent="-285750">
              <a:buFont typeface="Arial" panose="020B0604020202020204" pitchFamily="34" charset="0"/>
              <a:buChar char="•"/>
            </a:pPr>
            <a:r>
              <a:rPr lang="fr-FR" dirty="0"/>
              <a:t>Dans cette étude, l’imputation multivariée par régression a été employée pour estimer les données manquantes.</a:t>
            </a:r>
          </a:p>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29</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952719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Dans les enquêtes, la non-réponse partielle se traite soit par </a:t>
            </a:r>
            <a:r>
              <a:rPr lang="fr-FR" b="1" dirty="0"/>
              <a:t>pondération</a:t>
            </a:r>
            <a:r>
              <a:rPr lang="fr-FR" dirty="0"/>
              <a:t>, soit par </a:t>
            </a:r>
            <a:r>
              <a:rPr lang="fr-FR" b="1" dirty="0"/>
              <a:t>imputation</a:t>
            </a:r>
            <a:r>
              <a:rPr lang="fr-FR" dirty="0"/>
              <a:t>.</a:t>
            </a:r>
          </a:p>
          <a:p>
            <a:pPr>
              <a:buFont typeface="Arial" panose="020B0604020202020204" pitchFamily="34" charset="0"/>
              <a:buChar char="•"/>
            </a:pPr>
            <a:r>
              <a:rPr lang="fr-FR" b="1" dirty="0"/>
              <a:t>Pondération</a:t>
            </a:r>
            <a:r>
              <a:rPr lang="fr-FR" dirty="0"/>
              <a:t> : on ajuste le poids des observations disponibles pour que l’échantillon reflète mieux la population cible.</a:t>
            </a:r>
          </a:p>
          <a:p>
            <a:pPr marL="742950" lvl="1" indent="-285750">
              <a:buFont typeface="Arial" panose="020B0604020202020204" pitchFamily="34" charset="0"/>
              <a:buChar char="•"/>
            </a:pPr>
            <a:r>
              <a:rPr lang="fr-FR" dirty="0"/>
              <a:t>Ici, chaque mesure reçoit un poids appliqué lors du calcul des erreurs de validation afin de corriger la sous-représentation de certains états météorologiques.</a:t>
            </a:r>
          </a:p>
          <a:p>
            <a:pPr marL="742950" lvl="1" indent="-285750">
              <a:buFont typeface="Arial" panose="020B0604020202020204" pitchFamily="34" charset="0"/>
              <a:buChar char="•"/>
            </a:pPr>
            <a:r>
              <a:rPr lang="fr-FR" dirty="0"/>
              <a:t>Deux méthodes utilisées :</a:t>
            </a:r>
          </a:p>
          <a:p>
            <a:pPr marL="1143000" lvl="2" indent="-228600">
              <a:buFont typeface="Arial" panose="020B0604020202020204" pitchFamily="34" charset="0"/>
              <a:buChar char="•"/>
            </a:pPr>
            <a:r>
              <a:rPr lang="fr-FR" b="1" dirty="0"/>
              <a:t>Pondération par cellules</a:t>
            </a:r>
            <a:r>
              <a:rPr lang="fr-FR" dirty="0"/>
              <a:t> : la population est découpée en groupes (cellules) selon des caractéristiques connues ; le poids de chaque observation est ramené à la proportion réelle de son groupe.</a:t>
            </a:r>
          </a:p>
          <a:p>
            <a:pPr marL="1143000" lvl="2" indent="-228600">
              <a:buFont typeface="Arial" panose="020B0604020202020204" pitchFamily="34" charset="0"/>
              <a:buChar char="•"/>
            </a:pPr>
            <a:r>
              <a:rPr lang="fr-FR" b="1" dirty="0"/>
              <a:t>Pondération par calage (</a:t>
            </a:r>
            <a:r>
              <a:rPr lang="fr-FR" b="1" dirty="0" err="1"/>
              <a:t>raking</a:t>
            </a:r>
            <a:r>
              <a:rPr lang="fr-FR" b="1" dirty="0"/>
              <a:t>)</a:t>
            </a:r>
            <a:r>
              <a:rPr lang="fr-FR" dirty="0"/>
              <a:t> : les poids sont ajustés itérativement pour que les distributions marginales observées coïncident avec celles de la population, jusqu’à convergence.</a:t>
            </a:r>
          </a:p>
          <a:p>
            <a:pPr>
              <a:buFont typeface="Arial" panose="020B0604020202020204" pitchFamily="34" charset="0"/>
              <a:buChar char="•"/>
            </a:pPr>
            <a:r>
              <a:rPr lang="fr-FR" b="1" dirty="0"/>
              <a:t>Imputation</a:t>
            </a:r>
            <a:r>
              <a:rPr lang="fr-FR" dirty="0"/>
              <a:t> : on prédit les valeurs manquantes, on complète la série temporelle puis on analyse l’ensemble complété.</a:t>
            </a:r>
          </a:p>
          <a:p>
            <a:pPr marL="742950" lvl="1" indent="-285750">
              <a:buFont typeface="Arial" panose="020B0604020202020204" pitchFamily="34" charset="0"/>
              <a:buChar char="•"/>
            </a:pPr>
            <a:r>
              <a:rPr lang="fr-FR" dirty="0"/>
              <a:t>Dans cette étude, l’imputation multivariée par régression a été employée pour estimer les données manquantes.</a:t>
            </a:r>
          </a:p>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30</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952719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Dans les enquêtes, la non-réponse partielle se traite soit par </a:t>
            </a:r>
            <a:r>
              <a:rPr lang="fr-FR" b="1" dirty="0"/>
              <a:t>pondération</a:t>
            </a:r>
            <a:r>
              <a:rPr lang="fr-FR" dirty="0"/>
              <a:t>, soit par </a:t>
            </a:r>
            <a:r>
              <a:rPr lang="fr-FR" b="1" dirty="0"/>
              <a:t>imputation</a:t>
            </a:r>
            <a:r>
              <a:rPr lang="fr-FR" dirty="0"/>
              <a:t>.</a:t>
            </a:r>
          </a:p>
          <a:p>
            <a:pPr>
              <a:buFont typeface="Arial" panose="020B0604020202020204" pitchFamily="34" charset="0"/>
              <a:buChar char="•"/>
            </a:pPr>
            <a:r>
              <a:rPr lang="fr-FR" b="1" dirty="0"/>
              <a:t>Pondération</a:t>
            </a:r>
            <a:r>
              <a:rPr lang="fr-FR" dirty="0"/>
              <a:t> : on ajuste le poids des observations disponibles pour que l’échantillon reflète mieux la population cible.</a:t>
            </a:r>
          </a:p>
          <a:p>
            <a:pPr marL="742950" lvl="1" indent="-285750">
              <a:buFont typeface="Arial" panose="020B0604020202020204" pitchFamily="34" charset="0"/>
              <a:buChar char="•"/>
            </a:pPr>
            <a:r>
              <a:rPr lang="fr-FR" dirty="0"/>
              <a:t>Ici, chaque mesure reçoit un poids appliqué lors du calcul des erreurs de validation afin de corriger la sous-représentation de certains états météorologiques.</a:t>
            </a:r>
          </a:p>
          <a:p>
            <a:pPr marL="742950" lvl="1" indent="-285750">
              <a:buFont typeface="Arial" panose="020B0604020202020204" pitchFamily="34" charset="0"/>
              <a:buChar char="•"/>
            </a:pPr>
            <a:r>
              <a:rPr lang="fr-FR" dirty="0"/>
              <a:t>Deux méthodes utilisées :</a:t>
            </a:r>
          </a:p>
          <a:p>
            <a:pPr marL="1143000" lvl="2" indent="-228600">
              <a:buFont typeface="Arial" panose="020B0604020202020204" pitchFamily="34" charset="0"/>
              <a:buChar char="•"/>
            </a:pPr>
            <a:r>
              <a:rPr lang="fr-FR" b="1" dirty="0"/>
              <a:t>Pondération par cellules</a:t>
            </a:r>
            <a:r>
              <a:rPr lang="fr-FR" dirty="0"/>
              <a:t> : la population est découpée en groupes (cellules) selon des caractéristiques connues ; le poids de chaque observation est ramené à la proportion réelle de son groupe.</a:t>
            </a:r>
          </a:p>
          <a:p>
            <a:pPr marL="1143000" lvl="2" indent="-228600">
              <a:buFont typeface="Arial" panose="020B0604020202020204" pitchFamily="34" charset="0"/>
              <a:buChar char="•"/>
            </a:pPr>
            <a:r>
              <a:rPr lang="fr-FR" b="1" dirty="0"/>
              <a:t>Pondération par calage (</a:t>
            </a:r>
            <a:r>
              <a:rPr lang="fr-FR" b="1" dirty="0" err="1"/>
              <a:t>raking</a:t>
            </a:r>
            <a:r>
              <a:rPr lang="fr-FR" b="1" dirty="0"/>
              <a:t>)</a:t>
            </a:r>
            <a:r>
              <a:rPr lang="fr-FR" dirty="0"/>
              <a:t> : les poids sont ajustés itérativement pour que les distributions marginales observées coïncident avec celles de la population, jusqu’à convergence.</a:t>
            </a:r>
          </a:p>
          <a:p>
            <a:pPr>
              <a:buFont typeface="Arial" panose="020B0604020202020204" pitchFamily="34" charset="0"/>
              <a:buChar char="•"/>
            </a:pPr>
            <a:r>
              <a:rPr lang="fr-FR" b="1" dirty="0"/>
              <a:t>Imputation</a:t>
            </a:r>
            <a:r>
              <a:rPr lang="fr-FR" dirty="0"/>
              <a:t> : on prédit les valeurs manquantes, on complète la série temporelle puis on analyse l’ensemble complété.</a:t>
            </a:r>
          </a:p>
          <a:p>
            <a:pPr marL="742950" lvl="1" indent="-285750">
              <a:buFont typeface="Arial" panose="020B0604020202020204" pitchFamily="34" charset="0"/>
              <a:buChar char="•"/>
            </a:pPr>
            <a:r>
              <a:rPr lang="fr-FR" dirty="0"/>
              <a:t>Dans cette étude, l’imputation multivariée par régression a été employée pour estimer les données manquantes.</a:t>
            </a:r>
          </a:p>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31</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952719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Dans les enquêtes, la non-réponse partielle se traite soit par </a:t>
            </a:r>
            <a:r>
              <a:rPr lang="fr-FR" b="1" dirty="0"/>
              <a:t>pondération</a:t>
            </a:r>
            <a:r>
              <a:rPr lang="fr-FR" dirty="0"/>
              <a:t>, soit par </a:t>
            </a:r>
            <a:r>
              <a:rPr lang="fr-FR" b="1" dirty="0"/>
              <a:t>imputation</a:t>
            </a:r>
            <a:r>
              <a:rPr lang="fr-FR" dirty="0"/>
              <a:t>.</a:t>
            </a:r>
          </a:p>
          <a:p>
            <a:pPr>
              <a:buFont typeface="Arial" panose="020B0604020202020204" pitchFamily="34" charset="0"/>
              <a:buChar char="•"/>
            </a:pPr>
            <a:r>
              <a:rPr lang="fr-FR" b="1" dirty="0"/>
              <a:t>Pondération</a:t>
            </a:r>
            <a:r>
              <a:rPr lang="fr-FR" dirty="0"/>
              <a:t> : on ajuste le poids des observations disponibles pour que l’échantillon reflète mieux la population cible.</a:t>
            </a:r>
          </a:p>
          <a:p>
            <a:pPr marL="742950" lvl="1" indent="-285750">
              <a:buFont typeface="Arial" panose="020B0604020202020204" pitchFamily="34" charset="0"/>
              <a:buChar char="•"/>
            </a:pPr>
            <a:r>
              <a:rPr lang="fr-FR" dirty="0"/>
              <a:t>Ici, chaque mesure reçoit un poids appliqué lors du calcul des erreurs de validation afin de corriger la sous-représentation de certains états météorologiques.</a:t>
            </a:r>
          </a:p>
          <a:p>
            <a:pPr marL="742950" lvl="1" indent="-285750">
              <a:buFont typeface="Arial" panose="020B0604020202020204" pitchFamily="34" charset="0"/>
              <a:buChar char="•"/>
            </a:pPr>
            <a:r>
              <a:rPr lang="fr-FR" dirty="0"/>
              <a:t>Deux méthodes utilisées :</a:t>
            </a:r>
          </a:p>
          <a:p>
            <a:pPr marL="1143000" lvl="2" indent="-228600">
              <a:buFont typeface="Arial" panose="020B0604020202020204" pitchFamily="34" charset="0"/>
              <a:buChar char="•"/>
            </a:pPr>
            <a:r>
              <a:rPr lang="fr-FR" b="1" dirty="0"/>
              <a:t>Pondération par cellules</a:t>
            </a:r>
            <a:r>
              <a:rPr lang="fr-FR" dirty="0"/>
              <a:t> : la population est découpée en groupes (cellules) selon des caractéristiques connues ; le poids de chaque observation est ramené à la proportion réelle de son groupe.</a:t>
            </a:r>
          </a:p>
          <a:p>
            <a:pPr marL="1143000" lvl="2" indent="-228600">
              <a:buFont typeface="Arial" panose="020B0604020202020204" pitchFamily="34" charset="0"/>
              <a:buChar char="•"/>
            </a:pPr>
            <a:r>
              <a:rPr lang="fr-FR" b="1" dirty="0"/>
              <a:t>Pondération par calage (</a:t>
            </a:r>
            <a:r>
              <a:rPr lang="fr-FR" b="1" dirty="0" err="1"/>
              <a:t>raking</a:t>
            </a:r>
            <a:r>
              <a:rPr lang="fr-FR" b="1" dirty="0"/>
              <a:t>)</a:t>
            </a:r>
            <a:r>
              <a:rPr lang="fr-FR" dirty="0"/>
              <a:t> : les poids sont ajustés itérativement pour que les distributions marginales observées coïncident avec celles de la population, jusqu’à convergence.</a:t>
            </a:r>
          </a:p>
          <a:p>
            <a:pPr>
              <a:buFont typeface="Arial" panose="020B0604020202020204" pitchFamily="34" charset="0"/>
              <a:buChar char="•"/>
            </a:pPr>
            <a:r>
              <a:rPr lang="fr-FR" b="1" dirty="0"/>
              <a:t>Imputation</a:t>
            </a:r>
            <a:r>
              <a:rPr lang="fr-FR" dirty="0"/>
              <a:t> : on prédit les valeurs manquantes, on complète la série temporelle puis on analyse l’ensemble complété.</a:t>
            </a:r>
          </a:p>
          <a:p>
            <a:pPr marL="742950" lvl="1" indent="-285750">
              <a:buFont typeface="Arial" panose="020B0604020202020204" pitchFamily="34" charset="0"/>
              <a:buChar char="•"/>
            </a:pPr>
            <a:r>
              <a:rPr lang="fr-FR" dirty="0"/>
              <a:t>Dans cette étude, l’imputation multivariée par régression a été employée pour estimer les données manquantes.</a:t>
            </a:r>
          </a:p>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32</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952719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Dans les enquêtes, la non-réponse partielle se traite soit par </a:t>
            </a:r>
            <a:r>
              <a:rPr lang="fr-FR" b="1" dirty="0"/>
              <a:t>pondération</a:t>
            </a:r>
            <a:r>
              <a:rPr lang="fr-FR" dirty="0"/>
              <a:t>, soit par </a:t>
            </a:r>
            <a:r>
              <a:rPr lang="fr-FR" b="1" dirty="0"/>
              <a:t>imputation</a:t>
            </a:r>
            <a:r>
              <a:rPr lang="fr-FR" dirty="0"/>
              <a:t>.</a:t>
            </a:r>
          </a:p>
          <a:p>
            <a:pPr>
              <a:buFont typeface="Arial" panose="020B0604020202020204" pitchFamily="34" charset="0"/>
              <a:buChar char="•"/>
            </a:pPr>
            <a:r>
              <a:rPr lang="fr-FR" b="1" dirty="0"/>
              <a:t>Pondération</a:t>
            </a:r>
            <a:r>
              <a:rPr lang="fr-FR" dirty="0"/>
              <a:t> : on ajuste le poids des observations disponibles pour que l’échantillon reflète mieux la population cible.</a:t>
            </a:r>
          </a:p>
          <a:p>
            <a:pPr marL="742950" lvl="1" indent="-285750">
              <a:buFont typeface="Arial" panose="020B0604020202020204" pitchFamily="34" charset="0"/>
              <a:buChar char="•"/>
            </a:pPr>
            <a:r>
              <a:rPr lang="fr-FR" dirty="0"/>
              <a:t>Ici, chaque mesure reçoit un poids appliqué lors du calcul des erreurs de validation afin de corriger la sous-représentation de certains états météorologiques.</a:t>
            </a:r>
          </a:p>
          <a:p>
            <a:pPr marL="742950" lvl="1" indent="-285750">
              <a:buFont typeface="Arial" panose="020B0604020202020204" pitchFamily="34" charset="0"/>
              <a:buChar char="•"/>
            </a:pPr>
            <a:r>
              <a:rPr lang="fr-FR" dirty="0"/>
              <a:t>Deux méthodes utilisées :</a:t>
            </a:r>
          </a:p>
          <a:p>
            <a:pPr marL="1143000" lvl="2" indent="-228600">
              <a:buFont typeface="Arial" panose="020B0604020202020204" pitchFamily="34" charset="0"/>
              <a:buChar char="•"/>
            </a:pPr>
            <a:r>
              <a:rPr lang="fr-FR" b="1" dirty="0"/>
              <a:t>Pondération par cellules</a:t>
            </a:r>
            <a:r>
              <a:rPr lang="fr-FR" dirty="0"/>
              <a:t> : la population est découpée en groupes (cellules) selon des caractéristiques connues ; le poids de chaque observation est ramené à la proportion réelle de son groupe.</a:t>
            </a:r>
          </a:p>
          <a:p>
            <a:pPr marL="1143000" lvl="2" indent="-228600">
              <a:buFont typeface="Arial" panose="020B0604020202020204" pitchFamily="34" charset="0"/>
              <a:buChar char="•"/>
            </a:pPr>
            <a:r>
              <a:rPr lang="fr-FR" b="1" dirty="0"/>
              <a:t>Pondération par calage (</a:t>
            </a:r>
            <a:r>
              <a:rPr lang="fr-FR" b="1" dirty="0" err="1"/>
              <a:t>raking</a:t>
            </a:r>
            <a:r>
              <a:rPr lang="fr-FR" b="1" dirty="0"/>
              <a:t>)</a:t>
            </a:r>
            <a:r>
              <a:rPr lang="fr-FR" dirty="0"/>
              <a:t> : les poids sont ajustés itérativement pour que les distributions marginales observées coïncident avec celles de la population, jusqu’à convergence.</a:t>
            </a:r>
          </a:p>
          <a:p>
            <a:pPr>
              <a:buFont typeface="Arial" panose="020B0604020202020204" pitchFamily="34" charset="0"/>
              <a:buChar char="•"/>
            </a:pPr>
            <a:r>
              <a:rPr lang="fr-FR" b="1" dirty="0"/>
              <a:t>Imputation</a:t>
            </a:r>
            <a:r>
              <a:rPr lang="fr-FR" dirty="0"/>
              <a:t> : on prédit les valeurs manquantes, on complète la série temporelle puis on analyse l’ensemble complété.</a:t>
            </a:r>
          </a:p>
          <a:p>
            <a:pPr marL="742950" lvl="1" indent="-285750">
              <a:buFont typeface="Arial" panose="020B0604020202020204" pitchFamily="34" charset="0"/>
              <a:buChar char="•"/>
            </a:pPr>
            <a:r>
              <a:rPr lang="fr-FR" dirty="0"/>
              <a:t>Dans cette étude, l’imputation multivariée par régression a été employée pour estimer les données manquantes.</a:t>
            </a:r>
          </a:p>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33</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952719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34</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230759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35</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230759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figure compare les performances de quatre méthodes d’estimation — </a:t>
            </a:r>
            <a:r>
              <a:rPr lang="fr-FR" b="1" dirty="0"/>
              <a:t>sans ajustement, imputation, pondération par cellules et pondération par calage (</a:t>
            </a:r>
            <a:r>
              <a:rPr lang="fr-FR" b="1" dirty="0" err="1"/>
              <a:t>raking</a:t>
            </a:r>
            <a:r>
              <a:rPr lang="fr-FR" b="1" dirty="0"/>
              <a:t>)</a:t>
            </a:r>
            <a:r>
              <a:rPr lang="fr-FR" dirty="0"/>
              <a:t> — pour différents taux de données manquantes. Plus la RMSE est faible, meilleure est la méthode.</a:t>
            </a:r>
          </a:p>
          <a:p>
            <a:r>
              <a:rPr lang="fr-FR" dirty="0"/>
              <a:t>Dans la zone encadrée en rouge, correspondant aux niveaux de manque les plus courants, on observe que :</a:t>
            </a:r>
          </a:p>
          <a:p>
            <a:pPr>
              <a:buFont typeface="Arial" panose="020B0604020202020204" pitchFamily="34" charset="0"/>
              <a:buChar char="•"/>
            </a:pPr>
            <a:r>
              <a:rPr lang="fr-FR" dirty="0"/>
              <a:t>La méthode </a:t>
            </a:r>
            <a:r>
              <a:rPr lang="fr-FR" b="1" dirty="0"/>
              <a:t>non ajustée</a:t>
            </a:r>
            <a:r>
              <a:rPr lang="fr-FR" dirty="0"/>
              <a:t> présente l’erreur d’estimation la plus élevée à mesure que le taux de données manquantes augmente, signe du biais important introduit par ces lacunes.</a:t>
            </a:r>
          </a:p>
          <a:p>
            <a:pPr>
              <a:buFont typeface="Arial" panose="020B0604020202020204" pitchFamily="34" charset="0"/>
              <a:buChar char="•"/>
            </a:pPr>
            <a:r>
              <a:rPr lang="fr-FR" dirty="0"/>
              <a:t>Les trois méthodes de </a:t>
            </a:r>
            <a:r>
              <a:rPr lang="fr-FR" b="1" dirty="0"/>
              <a:t>réduction de biais</a:t>
            </a:r>
            <a:r>
              <a:rPr lang="fr-FR" dirty="0"/>
              <a:t> donnent des performances nettement meilleures. Pour les faibles taux de manque, leurs résultats sont similaires ; en revanche, aux taux élevés, la pondération par calage se dégrade davantage.</a:t>
            </a:r>
          </a:p>
          <a:p>
            <a:r>
              <a:rPr lang="fr-FR" dirty="0"/>
              <a:t>Afin de juger la « réutilisabilité » d’un jeu de mesures incomplet, nous fixons un </a:t>
            </a:r>
            <a:r>
              <a:rPr lang="fr-FR" b="1" dirty="0"/>
              <a:t>seuil de tolérance</a:t>
            </a:r>
            <a:r>
              <a:rPr lang="fr-FR" dirty="0"/>
              <a:t> sur l’erreur d’estimation, matérialisé ici par la ligne horizontale. On détermine ainsi le </a:t>
            </a:r>
            <a:r>
              <a:rPr lang="fr-FR" b="1" dirty="0"/>
              <a:t>taux maximal de données manquantes</a:t>
            </a:r>
            <a:r>
              <a:rPr lang="fr-FR" dirty="0"/>
              <a:t> acceptable pour chaque méthode. Dans cet exemple, les mesures comportant entre </a:t>
            </a:r>
            <a:r>
              <a:rPr lang="fr-FR" b="1" dirty="0"/>
              <a:t>20 % et 45 %</a:t>
            </a:r>
            <a:r>
              <a:rPr lang="fr-FR" dirty="0"/>
              <a:t> de valeurs absentes restent exploitables — un gain significatif pour la taille du jeu de données de validation.</a:t>
            </a:r>
          </a:p>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36</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137466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figure compare les performances de quatre méthodes d’estimation — </a:t>
            </a:r>
            <a:r>
              <a:rPr lang="fr-FR" b="1" dirty="0"/>
              <a:t>sans ajustement, imputation, pondération par cellules et pondération par calage (</a:t>
            </a:r>
            <a:r>
              <a:rPr lang="fr-FR" b="1" dirty="0" err="1"/>
              <a:t>raking</a:t>
            </a:r>
            <a:r>
              <a:rPr lang="fr-FR" b="1" dirty="0"/>
              <a:t>)</a:t>
            </a:r>
            <a:r>
              <a:rPr lang="fr-FR" dirty="0"/>
              <a:t> — pour différents taux de données manquantes. Plus la RMSE est faible, meilleure est la méthode.</a:t>
            </a:r>
          </a:p>
          <a:p>
            <a:r>
              <a:rPr lang="fr-FR" dirty="0"/>
              <a:t>Dans la zone encadrée en rouge, correspondant aux niveaux de manque les plus courants, on observe que :</a:t>
            </a:r>
          </a:p>
          <a:p>
            <a:pPr>
              <a:buFont typeface="Arial" panose="020B0604020202020204" pitchFamily="34" charset="0"/>
              <a:buChar char="•"/>
            </a:pPr>
            <a:r>
              <a:rPr lang="fr-FR" dirty="0"/>
              <a:t>La méthode </a:t>
            </a:r>
            <a:r>
              <a:rPr lang="fr-FR" b="1" dirty="0"/>
              <a:t>non ajustée</a:t>
            </a:r>
            <a:r>
              <a:rPr lang="fr-FR" dirty="0"/>
              <a:t> présente l’erreur d’estimation la plus élevée à mesure que le taux de données manquantes augmente, signe du biais important introduit par ces lacunes.</a:t>
            </a:r>
          </a:p>
          <a:p>
            <a:pPr>
              <a:buFont typeface="Arial" panose="020B0604020202020204" pitchFamily="34" charset="0"/>
              <a:buChar char="•"/>
            </a:pPr>
            <a:r>
              <a:rPr lang="fr-FR" dirty="0"/>
              <a:t>Les trois méthodes de </a:t>
            </a:r>
            <a:r>
              <a:rPr lang="fr-FR" b="1" dirty="0"/>
              <a:t>réduction de biais</a:t>
            </a:r>
            <a:r>
              <a:rPr lang="fr-FR" dirty="0"/>
              <a:t> donnent des performances nettement meilleures. Pour les faibles taux de manque, leurs résultats sont similaires ; en revanche, aux taux élevés, la pondération par calage se dégrade davantage.</a:t>
            </a:r>
          </a:p>
          <a:p>
            <a:r>
              <a:rPr lang="fr-FR" dirty="0"/>
              <a:t>Afin de juger la « réutilisabilité » d’un jeu de mesures incomplet, nous fixons un </a:t>
            </a:r>
            <a:r>
              <a:rPr lang="fr-FR" b="1" dirty="0"/>
              <a:t>seuil de tolérance</a:t>
            </a:r>
            <a:r>
              <a:rPr lang="fr-FR" dirty="0"/>
              <a:t> sur l’erreur d’estimation, matérialisé ici par la ligne horizontale. On détermine ainsi le </a:t>
            </a:r>
            <a:r>
              <a:rPr lang="fr-FR" b="1" dirty="0"/>
              <a:t>taux maximal de données manquantes</a:t>
            </a:r>
            <a:r>
              <a:rPr lang="fr-FR" dirty="0"/>
              <a:t> acceptable pour chaque méthode. Dans cet exemple, les mesures comportant entre </a:t>
            </a:r>
            <a:r>
              <a:rPr lang="fr-FR" b="1" dirty="0"/>
              <a:t>20 % et 45 %</a:t>
            </a:r>
            <a:r>
              <a:rPr lang="fr-FR" dirty="0"/>
              <a:t> de valeurs absentes restent exploitables — un gain significatif pour la taille du jeu de données de validation.</a:t>
            </a:r>
          </a:p>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37</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137466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figure compare les performances de quatre méthodes d’estimation — </a:t>
            </a:r>
            <a:r>
              <a:rPr lang="fr-FR" b="1" dirty="0"/>
              <a:t>sans ajustement, imputation, pondération par cellules et pondération par calage (</a:t>
            </a:r>
            <a:r>
              <a:rPr lang="fr-FR" b="1" dirty="0" err="1"/>
              <a:t>raking</a:t>
            </a:r>
            <a:r>
              <a:rPr lang="fr-FR" b="1" dirty="0"/>
              <a:t>)</a:t>
            </a:r>
            <a:r>
              <a:rPr lang="fr-FR" dirty="0"/>
              <a:t> — pour différents taux de données manquantes. Plus la RMSE est faible, meilleure est la méthode.</a:t>
            </a:r>
          </a:p>
          <a:p>
            <a:r>
              <a:rPr lang="fr-FR" dirty="0"/>
              <a:t>Dans la zone encadrée en rouge, correspondant aux niveaux de manque les plus courants, on observe que :</a:t>
            </a:r>
          </a:p>
          <a:p>
            <a:pPr>
              <a:buFont typeface="Arial" panose="020B0604020202020204" pitchFamily="34" charset="0"/>
              <a:buChar char="•"/>
            </a:pPr>
            <a:r>
              <a:rPr lang="fr-FR" dirty="0"/>
              <a:t>La méthode </a:t>
            </a:r>
            <a:r>
              <a:rPr lang="fr-FR" b="1" dirty="0"/>
              <a:t>non ajustée</a:t>
            </a:r>
            <a:r>
              <a:rPr lang="fr-FR" dirty="0"/>
              <a:t> présente l’erreur d’estimation la plus élevée à mesure que le taux de données manquantes augmente, signe du biais important introduit par ces lacunes.</a:t>
            </a:r>
          </a:p>
          <a:p>
            <a:pPr>
              <a:buFont typeface="Arial" panose="020B0604020202020204" pitchFamily="34" charset="0"/>
              <a:buChar char="•"/>
            </a:pPr>
            <a:r>
              <a:rPr lang="fr-FR" dirty="0"/>
              <a:t>Les trois méthodes de </a:t>
            </a:r>
            <a:r>
              <a:rPr lang="fr-FR" b="1" dirty="0"/>
              <a:t>réduction de biais</a:t>
            </a:r>
            <a:r>
              <a:rPr lang="fr-FR" dirty="0"/>
              <a:t> donnent des performances nettement meilleures. Pour les faibles taux de manque, leurs résultats sont similaires ; en revanche, aux taux élevés, la pondération par calage se dégrade davantage.</a:t>
            </a:r>
          </a:p>
          <a:p>
            <a:r>
              <a:rPr lang="fr-FR" dirty="0"/>
              <a:t>Afin de juger la « réutilisabilité » d’un jeu de mesures incomplet, nous fixons un </a:t>
            </a:r>
            <a:r>
              <a:rPr lang="fr-FR" b="1" dirty="0"/>
              <a:t>seuil de tolérance</a:t>
            </a:r>
            <a:r>
              <a:rPr lang="fr-FR" dirty="0"/>
              <a:t> sur l’erreur d’estimation, matérialisé ici par la ligne horizontale. On détermine ainsi le </a:t>
            </a:r>
            <a:r>
              <a:rPr lang="fr-FR" b="1" dirty="0"/>
              <a:t>taux maximal de données manquantes</a:t>
            </a:r>
            <a:r>
              <a:rPr lang="fr-FR" dirty="0"/>
              <a:t> acceptable pour chaque méthode. Dans cet exemple, les mesures comportant entre </a:t>
            </a:r>
            <a:r>
              <a:rPr lang="fr-FR" b="1" dirty="0"/>
              <a:t>20 % et 45 %</a:t>
            </a:r>
            <a:r>
              <a:rPr lang="fr-FR" dirty="0"/>
              <a:t> de valeurs absentes restent exploitables — un gain significatif pour la taille du jeu de données de validation.</a:t>
            </a:r>
          </a:p>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38</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137466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figure compare les performances de quatre méthodes d’estimation — </a:t>
            </a:r>
            <a:r>
              <a:rPr lang="fr-FR" b="1" dirty="0"/>
              <a:t>sans ajustement, imputation, pondération par cellules et pondération par calage (</a:t>
            </a:r>
            <a:r>
              <a:rPr lang="fr-FR" b="1" dirty="0" err="1"/>
              <a:t>raking</a:t>
            </a:r>
            <a:r>
              <a:rPr lang="fr-FR" b="1" dirty="0"/>
              <a:t>)</a:t>
            </a:r>
            <a:r>
              <a:rPr lang="fr-FR" dirty="0"/>
              <a:t> — pour différents taux de données manquantes. Plus la RMSE est faible, meilleure est la méthode.</a:t>
            </a:r>
          </a:p>
          <a:p>
            <a:r>
              <a:rPr lang="fr-FR" dirty="0"/>
              <a:t>Dans la zone encadrée en rouge, correspondant aux niveaux de manque les plus courants, on observe que :</a:t>
            </a:r>
          </a:p>
          <a:p>
            <a:pPr>
              <a:buFont typeface="Arial" panose="020B0604020202020204" pitchFamily="34" charset="0"/>
              <a:buChar char="•"/>
            </a:pPr>
            <a:r>
              <a:rPr lang="fr-FR" dirty="0"/>
              <a:t>La méthode </a:t>
            </a:r>
            <a:r>
              <a:rPr lang="fr-FR" b="1" dirty="0"/>
              <a:t>non ajustée</a:t>
            </a:r>
            <a:r>
              <a:rPr lang="fr-FR" dirty="0"/>
              <a:t> présente l’erreur d’estimation la plus élevée à mesure que le taux de données manquantes augmente, signe du biais important introduit par ces lacunes.</a:t>
            </a:r>
          </a:p>
          <a:p>
            <a:pPr>
              <a:buFont typeface="Arial" panose="020B0604020202020204" pitchFamily="34" charset="0"/>
              <a:buChar char="•"/>
            </a:pPr>
            <a:r>
              <a:rPr lang="fr-FR" dirty="0"/>
              <a:t>Les trois méthodes de </a:t>
            </a:r>
            <a:r>
              <a:rPr lang="fr-FR" b="1" dirty="0"/>
              <a:t>réduction de biais</a:t>
            </a:r>
            <a:r>
              <a:rPr lang="fr-FR" dirty="0"/>
              <a:t> donnent des performances nettement meilleures. Pour les faibles taux de manque, leurs résultats sont similaires ; en revanche, aux taux élevés, la pondération par calage se dégrade davantage.</a:t>
            </a:r>
          </a:p>
          <a:p>
            <a:r>
              <a:rPr lang="fr-FR" dirty="0"/>
              <a:t>Afin de juger la « réutilisabilité » d’un jeu de mesures incomplet, nous fixons un </a:t>
            </a:r>
            <a:r>
              <a:rPr lang="fr-FR" b="1" dirty="0"/>
              <a:t>seuil de tolérance</a:t>
            </a:r>
            <a:r>
              <a:rPr lang="fr-FR" dirty="0"/>
              <a:t> sur l’erreur d’estimation, matérialisé ici par la ligne horizontale. On détermine ainsi le </a:t>
            </a:r>
            <a:r>
              <a:rPr lang="fr-FR" b="1" dirty="0"/>
              <a:t>taux maximal de données manquantes</a:t>
            </a:r>
            <a:r>
              <a:rPr lang="fr-FR" dirty="0"/>
              <a:t> acceptable pour chaque méthode. Dans cet exemple, les mesures comportant entre </a:t>
            </a:r>
            <a:r>
              <a:rPr lang="fr-FR" b="1" dirty="0"/>
              <a:t>20 % et 45 %</a:t>
            </a:r>
            <a:r>
              <a:rPr lang="fr-FR" dirty="0"/>
              <a:t> de valeurs absentes restent exploitables — un gain significatif pour la taille du jeu de données de validation.</a:t>
            </a:r>
          </a:p>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39</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137466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Avec un seuil plus exigeant</a:t>
            </a:r>
            <a:endParaRPr lang="fr-FR" dirty="0"/>
          </a:p>
          <a:p>
            <a:pPr>
              <a:buFont typeface="Arial" panose="020B0604020202020204" pitchFamily="34" charset="0"/>
              <a:buChar char="•"/>
            </a:pPr>
            <a:r>
              <a:rPr lang="fr-FR" dirty="0"/>
              <a:t>On n’accepte désormais le jeu de données que si 95 % des erreurs de prédiction restent inférieures à 10 %.</a:t>
            </a:r>
          </a:p>
          <a:p>
            <a:r>
              <a:rPr lang="fr-FR" b="1" dirty="0"/>
              <a:t>Effet sur les méthodes</a:t>
            </a:r>
            <a:endParaRPr lang="fr-FR" dirty="0"/>
          </a:p>
          <a:p>
            <a:pPr>
              <a:buFont typeface="Arial" panose="020B0604020202020204" pitchFamily="34" charset="0"/>
              <a:buChar char="•"/>
            </a:pPr>
            <a:r>
              <a:rPr lang="fr-FR" b="1" dirty="0"/>
              <a:t>Sans ajustement</a:t>
            </a:r>
            <a:r>
              <a:rPr lang="fr-FR" dirty="0"/>
              <a:t> : ne tolère qu’~15 % de valeurs manquantes → forte sensibilité au biais.</a:t>
            </a:r>
          </a:p>
          <a:p>
            <a:pPr>
              <a:buFont typeface="Arial" panose="020B0604020202020204" pitchFamily="34" charset="0"/>
              <a:buChar char="•"/>
            </a:pPr>
            <a:r>
              <a:rPr lang="fr-FR" b="1" dirty="0"/>
              <a:t>Imputation multivariée</a:t>
            </a:r>
            <a:r>
              <a:rPr lang="fr-FR" dirty="0"/>
              <a:t> : élargit la fenêtre d’utilisabilité jusqu’à ~23 %.</a:t>
            </a:r>
          </a:p>
          <a:p>
            <a:pPr>
              <a:buFont typeface="Arial" panose="020B0604020202020204" pitchFamily="34" charset="0"/>
              <a:buChar char="•"/>
            </a:pPr>
            <a:r>
              <a:rPr lang="fr-FR" b="1" dirty="0"/>
              <a:t>Pondération par cellules</a:t>
            </a:r>
            <a:r>
              <a:rPr lang="fr-FR" dirty="0"/>
              <a:t> : meilleure robustesse (~27 %), donc méthode la plus sûre dans ce cadre strict.</a:t>
            </a:r>
          </a:p>
          <a:p>
            <a:pPr>
              <a:buFont typeface="Arial" panose="020B0604020202020204" pitchFamily="34" charset="0"/>
              <a:buChar char="•"/>
            </a:pPr>
            <a:r>
              <a:rPr lang="fr-FR" b="1" dirty="0"/>
              <a:t>Calage (</a:t>
            </a:r>
            <a:r>
              <a:rPr lang="fr-FR" b="1" dirty="0" err="1"/>
              <a:t>raking</a:t>
            </a:r>
            <a:r>
              <a:rPr lang="fr-FR" b="1" dirty="0"/>
              <a:t>)</a:t>
            </a:r>
            <a:r>
              <a:rPr lang="fr-FR" dirty="0"/>
              <a:t> : performance voisine (~26 %), mais légèrement moins stable aux extrêmes (plus grande variabilité min-max).</a:t>
            </a:r>
          </a:p>
          <a:p>
            <a:endParaRPr lang="en-GB"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40</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909604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5094c70174_0_13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g35094c70174_0_134: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g35094c70174_0_134: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41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399571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37e9dfef88_0_136: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g337e9dfef88_0_136:notes"/>
          <p:cNvSpPr txBox="1">
            <a:spLocks noGrp="1"/>
          </p:cNvSpPr>
          <p:nvPr>
            <p:ph type="body" idx="1"/>
          </p:nvPr>
        </p:nvSpPr>
        <p:spPr>
          <a:xfrm>
            <a:off x="679451" y="4778376"/>
            <a:ext cx="5440500" cy="390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g337e9dfef88_0_136:notes"/>
          <p:cNvSpPr txBox="1">
            <a:spLocks noGrp="1"/>
          </p:cNvSpPr>
          <p:nvPr>
            <p:ph type="sldNum" idx="12"/>
          </p:nvPr>
        </p:nvSpPr>
        <p:spPr>
          <a:xfrm>
            <a:off x="3851275" y="9431339"/>
            <a:ext cx="2946300" cy="498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42</a:t>
            </a:fld>
            <a:endParaRPr/>
          </a:p>
        </p:txBody>
      </p:sp>
    </p:spTree>
    <p:extLst>
      <p:ext uri="{BB962C8B-B14F-4D97-AF65-F5344CB8AC3E}">
        <p14:creationId xmlns:p14="http://schemas.microsoft.com/office/powerpoint/2010/main" val="36314697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13:notes"/>
          <p:cNvSpPr txBox="1">
            <a:spLocks noGrp="1"/>
          </p:cNvSpPr>
          <p:nvPr>
            <p:ph type="body" idx="1"/>
          </p:nvPr>
        </p:nvSpPr>
        <p:spPr>
          <a:xfrm>
            <a:off x="679451" y="4778376"/>
            <a:ext cx="5440363" cy="39100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13:notes"/>
          <p:cNvSpPr>
            <a:spLocks noGrp="1" noRot="1" noChangeAspect="1"/>
          </p:cNvSpPr>
          <p:nvPr>
            <p:ph type="sldImg" idx="2"/>
          </p:nvPr>
        </p:nvSpPr>
        <p:spPr>
          <a:xfrm>
            <a:off x="422275" y="1241425"/>
            <a:ext cx="5954713"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re 2">
  <p:cSld name="2_Titre 2">
    <p:spTree>
      <p:nvGrpSpPr>
        <p:cNvPr id="1" name="Shape 11"/>
        <p:cNvGrpSpPr/>
        <p:nvPr/>
      </p:nvGrpSpPr>
      <p:grpSpPr>
        <a:xfrm>
          <a:off x="0" y="0"/>
          <a:ext cx="0" cy="0"/>
          <a:chOff x="0" y="0"/>
          <a:chExt cx="0" cy="0"/>
        </a:xfrm>
      </p:grpSpPr>
      <p:sp>
        <p:nvSpPr>
          <p:cNvPr id="12" name="Google Shape;12;g244d0e5f3f4_0_111"/>
          <p:cNvSpPr txBox="1">
            <a:spLocks noGrp="1"/>
          </p:cNvSpPr>
          <p:nvPr>
            <p:ph type="title"/>
          </p:nvPr>
        </p:nvSpPr>
        <p:spPr>
          <a:xfrm>
            <a:off x="717218" y="2833181"/>
            <a:ext cx="10702800" cy="1562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53356"/>
              </a:buClr>
              <a:buSzPts val="4000"/>
              <a:buFont typeface="Verdana"/>
              <a:buNone/>
              <a:defRPr sz="4000" b="1" i="0" u="none" strike="noStrike" cap="none">
                <a:solidFill>
                  <a:srgbClr val="25335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13" name="Google Shape;13;g244d0e5f3f4_0_111" descr="Une image contenant signe, extérieur, avant, rue&#10;&#10;Description générée automatiquement"/>
          <p:cNvPicPr preferRelativeResize="0"/>
          <p:nvPr/>
        </p:nvPicPr>
        <p:blipFill rotWithShape="1">
          <a:blip r:embed="rId2">
            <a:alphaModFix/>
          </a:blip>
          <a:srcRect/>
          <a:stretch/>
        </p:blipFill>
        <p:spPr>
          <a:xfrm>
            <a:off x="712816" y="473117"/>
            <a:ext cx="730973" cy="730426"/>
          </a:xfrm>
          <a:prstGeom prst="rect">
            <a:avLst/>
          </a:prstGeom>
          <a:noFill/>
          <a:ln>
            <a:noFill/>
          </a:ln>
        </p:spPr>
      </p:pic>
      <p:pic>
        <p:nvPicPr>
          <p:cNvPr id="14" name="Google Shape;14;g244d0e5f3f4_0_111"/>
          <p:cNvPicPr preferRelativeResize="0"/>
          <p:nvPr/>
        </p:nvPicPr>
        <p:blipFill rotWithShape="1">
          <a:blip r:embed="rId3">
            <a:alphaModFix/>
          </a:blip>
          <a:srcRect/>
          <a:stretch/>
        </p:blipFill>
        <p:spPr>
          <a:xfrm>
            <a:off x="712816" y="1362427"/>
            <a:ext cx="7919998" cy="12851"/>
          </a:xfrm>
          <a:prstGeom prst="rect">
            <a:avLst/>
          </a:prstGeom>
          <a:noFill/>
          <a:ln>
            <a:noFill/>
          </a:ln>
        </p:spPr>
      </p:pic>
      <p:sp>
        <p:nvSpPr>
          <p:cNvPr id="15" name="Google Shape;15;g244d0e5f3f4_0_111"/>
          <p:cNvSpPr txBox="1">
            <a:spLocks noGrp="1"/>
          </p:cNvSpPr>
          <p:nvPr>
            <p:ph type="body" idx="1"/>
          </p:nvPr>
        </p:nvSpPr>
        <p:spPr>
          <a:xfrm>
            <a:off x="4784725" y="5699684"/>
            <a:ext cx="2594100" cy="4875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600"/>
              </a:spcBef>
              <a:spcAft>
                <a:spcPts val="0"/>
              </a:spcAft>
              <a:buClr>
                <a:srgbClr val="143F6A"/>
              </a:buClr>
              <a:buSzPts val="2400"/>
              <a:buFont typeface="Arial"/>
              <a:buNone/>
              <a:defRPr sz="2400" b="0" i="0" u="none" strike="noStrike" cap="none">
                <a:solidFill>
                  <a:srgbClr val="143F6A"/>
                </a:solidFill>
                <a:latin typeface="Arimo"/>
                <a:ea typeface="Arimo"/>
                <a:cs typeface="Arimo"/>
                <a:sym typeface="Arimo"/>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6" name="Google Shape;16;g244d0e5f3f4_0_111"/>
          <p:cNvPicPr preferRelativeResize="0"/>
          <p:nvPr/>
        </p:nvPicPr>
        <p:blipFill rotWithShape="1">
          <a:blip r:embed="rId4">
            <a:alphaModFix/>
          </a:blip>
          <a:srcRect/>
          <a:stretch/>
        </p:blipFill>
        <p:spPr>
          <a:xfrm>
            <a:off x="8873545" y="309149"/>
            <a:ext cx="3039414" cy="1694731"/>
          </a:xfrm>
          <a:prstGeom prst="rect">
            <a:avLst/>
          </a:prstGeom>
          <a:noFill/>
          <a:ln>
            <a:noFill/>
          </a:ln>
        </p:spPr>
      </p:pic>
      <p:sp>
        <p:nvSpPr>
          <p:cNvPr id="17" name="Google Shape;17;g244d0e5f3f4_0_111"/>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1pPr>
            <a:lvl2pPr marL="0" marR="0" lvl="1"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2pPr>
            <a:lvl3pPr marL="0" marR="0" lvl="2"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3pPr>
            <a:lvl4pPr marL="0" marR="0" lvl="3"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4pPr>
            <a:lvl5pPr marL="0" marR="0" lvl="4"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5pPr>
            <a:lvl6pPr marL="0" marR="0" lvl="5"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6pPr>
            <a:lvl7pPr marL="0" marR="0" lvl="6"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7pPr>
            <a:lvl8pPr marL="0" marR="0" lvl="7"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8pPr>
            <a:lvl9pPr marL="0" marR="0" lvl="8"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sposition personnalisée">
  <p:cSld name="Disposition personnalisée">
    <p:spTree>
      <p:nvGrpSpPr>
        <p:cNvPr id="1" name="Shape 18"/>
        <p:cNvGrpSpPr/>
        <p:nvPr/>
      </p:nvGrpSpPr>
      <p:grpSpPr>
        <a:xfrm>
          <a:off x="0" y="0"/>
          <a:ext cx="0" cy="0"/>
          <a:chOff x="0" y="0"/>
          <a:chExt cx="0" cy="0"/>
        </a:xfrm>
      </p:grpSpPr>
      <p:pic>
        <p:nvPicPr>
          <p:cNvPr id="19" name="Google Shape;19;g244d0e5f3f4_0_117" descr="Une image contenant alimentation, dessin, lumière&#10;&#10;Description générée automatiquement"/>
          <p:cNvPicPr preferRelativeResize="0"/>
          <p:nvPr/>
        </p:nvPicPr>
        <p:blipFill rotWithShape="1">
          <a:blip r:embed="rId2">
            <a:alphaModFix/>
          </a:blip>
          <a:srcRect/>
          <a:stretch/>
        </p:blipFill>
        <p:spPr>
          <a:xfrm>
            <a:off x="9959827" y="115675"/>
            <a:ext cx="1936889" cy="932837"/>
          </a:xfrm>
          <a:prstGeom prst="rect">
            <a:avLst/>
          </a:prstGeom>
          <a:noFill/>
          <a:ln>
            <a:noFill/>
          </a:ln>
        </p:spPr>
      </p:pic>
      <p:sp>
        <p:nvSpPr>
          <p:cNvPr id="20" name="Google Shape;20;g244d0e5f3f4_0_117"/>
          <p:cNvSpPr txBox="1">
            <a:spLocks noGrp="1"/>
          </p:cNvSpPr>
          <p:nvPr>
            <p:ph type="title"/>
          </p:nvPr>
        </p:nvSpPr>
        <p:spPr>
          <a:xfrm>
            <a:off x="89452" y="2676904"/>
            <a:ext cx="3041400" cy="1158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143F6A"/>
              </a:buClr>
              <a:buSzPts val="3600"/>
              <a:buFont typeface="Verdana"/>
              <a:buNone/>
              <a:defRPr sz="3600" b="1" i="0" u="none" strike="noStrike" cap="none">
                <a:solidFill>
                  <a:srgbClr val="143F6A"/>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1" name="Google Shape;21;g244d0e5f3f4_0_117"/>
          <p:cNvPicPr preferRelativeResize="0"/>
          <p:nvPr/>
        </p:nvPicPr>
        <p:blipFill rotWithShape="1">
          <a:blip r:embed="rId3">
            <a:alphaModFix/>
          </a:blip>
          <a:srcRect/>
          <a:stretch/>
        </p:blipFill>
        <p:spPr>
          <a:xfrm>
            <a:off x="-16970" y="3840259"/>
            <a:ext cx="2520001" cy="8175"/>
          </a:xfrm>
          <a:prstGeom prst="rect">
            <a:avLst/>
          </a:prstGeom>
          <a:noFill/>
          <a:ln>
            <a:noFill/>
          </a:ln>
        </p:spPr>
      </p:pic>
      <p:pic>
        <p:nvPicPr>
          <p:cNvPr id="22" name="Google Shape;22;g244d0e5f3f4_0_117"/>
          <p:cNvPicPr preferRelativeResize="0"/>
          <p:nvPr/>
        </p:nvPicPr>
        <p:blipFill rotWithShape="1">
          <a:blip r:embed="rId3">
            <a:alphaModFix/>
          </a:blip>
          <a:srcRect/>
          <a:stretch/>
        </p:blipFill>
        <p:spPr>
          <a:xfrm>
            <a:off x="733346" y="2684367"/>
            <a:ext cx="2520001" cy="8175"/>
          </a:xfrm>
          <a:prstGeom prst="rect">
            <a:avLst/>
          </a:prstGeom>
          <a:noFill/>
          <a:ln>
            <a:noFill/>
          </a:ln>
        </p:spPr>
      </p:pic>
      <p:sp>
        <p:nvSpPr>
          <p:cNvPr id="23" name="Google Shape;23;g244d0e5f3f4_0_117"/>
          <p:cNvSpPr txBox="1">
            <a:spLocks noGrp="1"/>
          </p:cNvSpPr>
          <p:nvPr>
            <p:ph type="dt" idx="10"/>
          </p:nvPr>
        </p:nvSpPr>
        <p:spPr>
          <a:xfrm>
            <a:off x="10547710" y="6486921"/>
            <a:ext cx="1197300" cy="371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g244d0e5f3f4_0_117"/>
          <p:cNvSpPr txBox="1">
            <a:spLocks noGrp="1"/>
          </p:cNvSpPr>
          <p:nvPr>
            <p:ph type="sldNum" idx="12"/>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Titre 2">
  <p:cSld name="3_Titre 2">
    <p:spTree>
      <p:nvGrpSpPr>
        <p:cNvPr id="1" name="Shape 25"/>
        <p:cNvGrpSpPr/>
        <p:nvPr/>
      </p:nvGrpSpPr>
      <p:grpSpPr>
        <a:xfrm>
          <a:off x="0" y="0"/>
          <a:ext cx="0" cy="0"/>
          <a:chOff x="0" y="0"/>
          <a:chExt cx="0" cy="0"/>
        </a:xfrm>
      </p:grpSpPr>
      <p:sp>
        <p:nvSpPr>
          <p:cNvPr id="26" name="Google Shape;26;g244d0e5f3f4_0_124"/>
          <p:cNvSpPr txBox="1">
            <a:spLocks noGrp="1"/>
          </p:cNvSpPr>
          <p:nvPr>
            <p:ph type="title"/>
          </p:nvPr>
        </p:nvSpPr>
        <p:spPr>
          <a:xfrm>
            <a:off x="1899702" y="3073763"/>
            <a:ext cx="9828600" cy="1231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253356"/>
              </a:buClr>
              <a:buSzPts val="4000"/>
              <a:buFont typeface="Verdana"/>
              <a:buNone/>
              <a:defRPr sz="4000" b="1" i="0" u="none" strike="noStrike" cap="none">
                <a:solidFill>
                  <a:srgbClr val="25335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7" name="Google Shape;27;g244d0e5f3f4_0_124" descr="Une image contenant alimentation, dessin, lumière&#10;&#10;Description générée automatiquement"/>
          <p:cNvPicPr preferRelativeResize="0"/>
          <p:nvPr/>
        </p:nvPicPr>
        <p:blipFill rotWithShape="1">
          <a:blip r:embed="rId2">
            <a:alphaModFix/>
          </a:blip>
          <a:srcRect/>
          <a:stretch/>
        </p:blipFill>
        <p:spPr>
          <a:xfrm>
            <a:off x="9959827" y="115675"/>
            <a:ext cx="1936889" cy="932837"/>
          </a:xfrm>
          <a:prstGeom prst="rect">
            <a:avLst/>
          </a:prstGeom>
          <a:noFill/>
          <a:ln>
            <a:noFill/>
          </a:ln>
        </p:spPr>
      </p:pic>
      <p:pic>
        <p:nvPicPr>
          <p:cNvPr id="28" name="Google Shape;28;g244d0e5f3f4_0_124"/>
          <p:cNvPicPr preferRelativeResize="0"/>
          <p:nvPr/>
        </p:nvPicPr>
        <p:blipFill rotWithShape="1">
          <a:blip r:embed="rId3">
            <a:alphaModFix/>
          </a:blip>
          <a:srcRect/>
          <a:stretch/>
        </p:blipFill>
        <p:spPr>
          <a:xfrm>
            <a:off x="-16970" y="4297459"/>
            <a:ext cx="2520001" cy="8175"/>
          </a:xfrm>
          <a:prstGeom prst="rect">
            <a:avLst/>
          </a:prstGeom>
          <a:noFill/>
          <a:ln>
            <a:noFill/>
          </a:ln>
        </p:spPr>
      </p:pic>
      <p:sp>
        <p:nvSpPr>
          <p:cNvPr id="29" name="Google Shape;29;g244d0e5f3f4_0_124"/>
          <p:cNvSpPr txBox="1">
            <a:spLocks noGrp="1"/>
          </p:cNvSpPr>
          <p:nvPr>
            <p:ph type="body" idx="1"/>
          </p:nvPr>
        </p:nvSpPr>
        <p:spPr>
          <a:xfrm>
            <a:off x="1899987" y="4512884"/>
            <a:ext cx="9828000" cy="590700"/>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600"/>
              </a:spcBef>
              <a:spcAft>
                <a:spcPts val="0"/>
              </a:spcAft>
              <a:buClr>
                <a:srgbClr val="224F76"/>
              </a:buClr>
              <a:buSzPts val="1800"/>
              <a:buFont typeface="Arial"/>
              <a:buNone/>
              <a:defRPr sz="1800" b="0" i="0" u="none" strike="noStrike" cap="none">
                <a:solidFill>
                  <a:srgbClr val="224F76"/>
                </a:solidFill>
                <a:latin typeface="Arimo"/>
                <a:ea typeface="Arimo"/>
                <a:cs typeface="Arimo"/>
                <a:sym typeface="Arimo"/>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g244d0e5f3f4_0_124"/>
          <p:cNvSpPr txBox="1"/>
          <p:nvPr/>
        </p:nvSpPr>
        <p:spPr>
          <a:xfrm>
            <a:off x="1852" y="6486920"/>
            <a:ext cx="402900" cy="371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rgbClr val="888888"/>
                </a:solidFill>
                <a:latin typeface="Calibri"/>
                <a:ea typeface="Calibri"/>
                <a:cs typeface="Calibri"/>
                <a:sym typeface="Calibri"/>
              </a:rPr>
              <a:t>‹N°›</a:t>
            </a:fld>
            <a:endParaRPr sz="1200" b="0" i="0" u="none" strike="noStrike" cap="none">
              <a:solidFill>
                <a:srgbClr val="888888"/>
              </a:solidFill>
              <a:latin typeface="Calibri"/>
              <a:ea typeface="Calibri"/>
              <a:cs typeface="Calibri"/>
              <a:sym typeface="Calibri"/>
            </a:endParaRPr>
          </a:p>
        </p:txBody>
      </p:sp>
      <p:sp>
        <p:nvSpPr>
          <p:cNvPr id="31" name="Google Shape;31;g244d0e5f3f4_0_124"/>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1pPr>
            <a:lvl2pPr marL="0" marR="0" lvl="1"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2pPr>
            <a:lvl3pPr marL="0" marR="0" lvl="2"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3pPr>
            <a:lvl4pPr marL="0" marR="0" lvl="3"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4pPr>
            <a:lvl5pPr marL="0" marR="0" lvl="4"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5pPr>
            <a:lvl6pPr marL="0" marR="0" lvl="5"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6pPr>
            <a:lvl7pPr marL="0" marR="0" lvl="6"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7pPr>
            <a:lvl8pPr marL="0" marR="0" lvl="7"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8pPr>
            <a:lvl9pPr marL="0" marR="0" lvl="8"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7_Titre 2">
  <p:cSld name="7_Titre 2">
    <p:spTree>
      <p:nvGrpSpPr>
        <p:cNvPr id="1" name="Shape 32"/>
        <p:cNvGrpSpPr/>
        <p:nvPr/>
      </p:nvGrpSpPr>
      <p:grpSpPr>
        <a:xfrm>
          <a:off x="0" y="0"/>
          <a:ext cx="0" cy="0"/>
          <a:chOff x="0" y="0"/>
          <a:chExt cx="0" cy="0"/>
        </a:xfrm>
      </p:grpSpPr>
      <p:sp>
        <p:nvSpPr>
          <p:cNvPr id="33" name="Google Shape;33;g244d0e5f3f4_0_130"/>
          <p:cNvSpPr txBox="1">
            <a:spLocks noGrp="1"/>
          </p:cNvSpPr>
          <p:nvPr>
            <p:ph type="title"/>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253356"/>
              </a:buClr>
              <a:buSzPts val="2400"/>
              <a:buFont typeface="Verdana"/>
              <a:buNone/>
              <a:defRPr sz="2400" b="1" i="0" u="none" strike="noStrike" cap="none">
                <a:solidFill>
                  <a:srgbClr val="25335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34" name="Google Shape;34;g244d0e5f3f4_0_130"/>
          <p:cNvPicPr preferRelativeResize="0"/>
          <p:nvPr/>
        </p:nvPicPr>
        <p:blipFill rotWithShape="1">
          <a:blip r:embed="rId2">
            <a:alphaModFix/>
          </a:blip>
          <a:srcRect/>
          <a:stretch/>
        </p:blipFill>
        <p:spPr>
          <a:xfrm>
            <a:off x="0" y="930008"/>
            <a:ext cx="10587603" cy="34352"/>
          </a:xfrm>
          <a:prstGeom prst="rect">
            <a:avLst/>
          </a:prstGeom>
          <a:noFill/>
          <a:ln>
            <a:noFill/>
          </a:ln>
        </p:spPr>
      </p:pic>
      <p:sp>
        <p:nvSpPr>
          <p:cNvPr id="35" name="Google Shape;35;g244d0e5f3f4_0_130"/>
          <p:cNvSpPr txBox="1">
            <a:spLocks noGrp="1"/>
          </p:cNvSpPr>
          <p:nvPr>
            <p:ph type="dt" idx="10"/>
          </p:nvPr>
        </p:nvSpPr>
        <p:spPr>
          <a:xfrm>
            <a:off x="10547710" y="6486921"/>
            <a:ext cx="1197300" cy="371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6" name="Google Shape;36;g244d0e5f3f4_0_130"/>
          <p:cNvSpPr txBox="1">
            <a:spLocks noGrp="1"/>
          </p:cNvSpPr>
          <p:nvPr>
            <p:ph type="sldNum" idx="12"/>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
        <p:nvSpPr>
          <p:cNvPr id="37" name="Google Shape;37;g244d0e5f3f4_0_130"/>
          <p:cNvSpPr txBox="1">
            <a:spLocks noGrp="1"/>
          </p:cNvSpPr>
          <p:nvPr>
            <p:ph type="body" idx="1"/>
          </p:nvPr>
        </p:nvSpPr>
        <p:spPr>
          <a:xfrm>
            <a:off x="296658" y="1222375"/>
            <a:ext cx="10190100" cy="5460900"/>
          </a:xfrm>
          <a:prstGeom prst="rect">
            <a:avLst/>
          </a:prstGeom>
          <a:noFill/>
          <a:ln>
            <a:noFill/>
          </a:ln>
        </p:spPr>
        <p:txBody>
          <a:bodyPr spcFirstLastPara="1" wrap="square" lIns="91425" tIns="45700" rIns="91425" bIns="45700" anchor="t" anchorCtr="0">
            <a:noAutofit/>
          </a:bodyPr>
          <a:lstStyle>
            <a:lvl1pPr marL="457200" marR="0" lvl="0" indent="-381000" algn="just" rtl="0">
              <a:lnSpc>
                <a:spcPct val="100000"/>
              </a:lnSpc>
              <a:spcBef>
                <a:spcPts val="600"/>
              </a:spcBef>
              <a:spcAft>
                <a:spcPts val="0"/>
              </a:spcAft>
              <a:buClr>
                <a:srgbClr val="224F76"/>
              </a:buClr>
              <a:buSzPts val="2400"/>
              <a:buFont typeface="Noto Sans Symbols"/>
              <a:buChar char="▪"/>
              <a:defRPr sz="2400" b="0" i="0" u="none" strike="noStrike" cap="none">
                <a:solidFill>
                  <a:srgbClr val="224F76"/>
                </a:solidFill>
                <a:latin typeface="Calibri"/>
                <a:ea typeface="Calibri"/>
                <a:cs typeface="Calibri"/>
                <a:sym typeface="Calibri"/>
              </a:defRPr>
            </a:lvl1pPr>
            <a:lvl2pPr marL="914400" marR="0" lvl="1" indent="-381000" algn="l" rtl="0">
              <a:lnSpc>
                <a:spcPct val="100000"/>
              </a:lnSpc>
              <a:spcBef>
                <a:spcPts val="600"/>
              </a:spcBef>
              <a:spcAft>
                <a:spcPts val="0"/>
              </a:spcAft>
              <a:buClr>
                <a:schemeClr val="accent3"/>
              </a:buClr>
              <a:buSzPts val="2400"/>
              <a:buFont typeface="Arial"/>
              <a:buChar char="•"/>
              <a:defRPr sz="2400" b="0" i="0" u="none" strike="noStrike" cap="none">
                <a:solidFill>
                  <a:srgbClr val="224F76"/>
                </a:solidFill>
                <a:latin typeface="Calibri"/>
                <a:ea typeface="Calibri"/>
                <a:cs typeface="Calibri"/>
                <a:sym typeface="Calibri"/>
              </a:defRPr>
            </a:lvl2pPr>
            <a:lvl3pPr marL="1371600" marR="0" lvl="2" indent="-355600" algn="l" rtl="0">
              <a:lnSpc>
                <a:spcPct val="100000"/>
              </a:lnSpc>
              <a:spcBef>
                <a:spcPts val="500"/>
              </a:spcBef>
              <a:spcAft>
                <a:spcPts val="0"/>
              </a:spcAft>
              <a:buClr>
                <a:srgbClr val="7F7F7F"/>
              </a:buClr>
              <a:buSzPts val="2000"/>
              <a:buFont typeface="Calibri"/>
              <a:buChar char="‒"/>
              <a:defRPr sz="2000" b="0" i="0" u="none" strike="noStrike" cap="none">
                <a:solidFill>
                  <a:srgbClr val="224F76"/>
                </a:solidFill>
                <a:latin typeface="Calibri"/>
                <a:ea typeface="Calibri"/>
                <a:cs typeface="Calibri"/>
                <a:sym typeface="Calibri"/>
              </a:defRPr>
            </a:lvl3pPr>
            <a:lvl4pPr marL="1828800" marR="0" lvl="3" indent="-342900" algn="l" rtl="0">
              <a:lnSpc>
                <a:spcPct val="100000"/>
              </a:lnSpc>
              <a:spcBef>
                <a:spcPts val="500"/>
              </a:spcBef>
              <a:spcAft>
                <a:spcPts val="0"/>
              </a:spcAft>
              <a:buClr>
                <a:srgbClr val="224F76"/>
              </a:buClr>
              <a:buSzPts val="1800"/>
              <a:buFont typeface="Arial"/>
              <a:buChar char="•"/>
              <a:defRPr sz="1800" b="0" i="0" u="none" strike="noStrike" cap="none">
                <a:solidFill>
                  <a:srgbClr val="224F76"/>
                </a:solidFill>
                <a:latin typeface="Calibri"/>
                <a:ea typeface="Calibri"/>
                <a:cs typeface="Calibri"/>
                <a:sym typeface="Calibri"/>
              </a:defRPr>
            </a:lvl4pPr>
            <a:lvl5pPr marL="2286000" marR="0" lvl="4" indent="-342900" algn="l" rtl="0">
              <a:lnSpc>
                <a:spcPct val="100000"/>
              </a:lnSpc>
              <a:spcBef>
                <a:spcPts val="500"/>
              </a:spcBef>
              <a:spcAft>
                <a:spcPts val="0"/>
              </a:spcAft>
              <a:buClr>
                <a:srgbClr val="224F76"/>
              </a:buClr>
              <a:buSzPts val="1800"/>
              <a:buFont typeface="Arial"/>
              <a:buChar char="•"/>
              <a:defRPr sz="1800" b="0" i="0" u="none" strike="noStrike" cap="none">
                <a:solidFill>
                  <a:srgbClr val="224F7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9_Titre 2">
  <p:cSld name="9_Titre 2">
    <p:spTree>
      <p:nvGrpSpPr>
        <p:cNvPr id="1" name="Shape 38"/>
        <p:cNvGrpSpPr/>
        <p:nvPr/>
      </p:nvGrpSpPr>
      <p:grpSpPr>
        <a:xfrm>
          <a:off x="0" y="0"/>
          <a:ext cx="0" cy="0"/>
          <a:chOff x="0" y="0"/>
          <a:chExt cx="0" cy="0"/>
        </a:xfrm>
      </p:grpSpPr>
      <p:sp>
        <p:nvSpPr>
          <p:cNvPr id="39" name="Google Shape;39;g244d0e5f3f4_0_136"/>
          <p:cNvSpPr txBox="1">
            <a:spLocks noGrp="1"/>
          </p:cNvSpPr>
          <p:nvPr>
            <p:ph type="title"/>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253356"/>
              </a:buClr>
              <a:buSzPts val="2400"/>
              <a:buFont typeface="Verdana"/>
              <a:buNone/>
              <a:defRPr sz="2400" b="1" i="0" u="none" strike="noStrike" cap="none">
                <a:solidFill>
                  <a:srgbClr val="25335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0" name="Google Shape;40;g244d0e5f3f4_0_136"/>
          <p:cNvPicPr preferRelativeResize="0"/>
          <p:nvPr/>
        </p:nvPicPr>
        <p:blipFill rotWithShape="1">
          <a:blip r:embed="rId2">
            <a:alphaModFix/>
          </a:blip>
          <a:srcRect/>
          <a:stretch/>
        </p:blipFill>
        <p:spPr>
          <a:xfrm>
            <a:off x="0" y="930008"/>
            <a:ext cx="10587603" cy="34352"/>
          </a:xfrm>
          <a:prstGeom prst="rect">
            <a:avLst/>
          </a:prstGeom>
          <a:noFill/>
          <a:ln>
            <a:noFill/>
          </a:ln>
        </p:spPr>
      </p:pic>
      <p:sp>
        <p:nvSpPr>
          <p:cNvPr id="41" name="Google Shape;41;g244d0e5f3f4_0_136"/>
          <p:cNvSpPr>
            <a:spLocks noGrp="1"/>
          </p:cNvSpPr>
          <p:nvPr>
            <p:ph type="tbl" idx="2"/>
          </p:nvPr>
        </p:nvSpPr>
        <p:spPr>
          <a:xfrm>
            <a:off x="296863" y="1436688"/>
            <a:ext cx="11145900" cy="4877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g244d0e5f3f4_0_136"/>
          <p:cNvSpPr txBox="1">
            <a:spLocks noGrp="1"/>
          </p:cNvSpPr>
          <p:nvPr>
            <p:ph type="dt" idx="10"/>
          </p:nvPr>
        </p:nvSpPr>
        <p:spPr>
          <a:xfrm>
            <a:off x="10547710" y="6486921"/>
            <a:ext cx="1197300" cy="371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3" name="Google Shape;43;g244d0e5f3f4_0_136"/>
          <p:cNvSpPr txBox="1">
            <a:spLocks noGrp="1"/>
          </p:cNvSpPr>
          <p:nvPr>
            <p:ph type="sldNum" idx="12"/>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sposition personnalisée">
  <p:cSld name="Disposition personnalisée 2">
    <p:spTree>
      <p:nvGrpSpPr>
        <p:cNvPr id="1" name="Shape 44"/>
        <p:cNvGrpSpPr/>
        <p:nvPr/>
      </p:nvGrpSpPr>
      <p:grpSpPr>
        <a:xfrm>
          <a:off x="0" y="0"/>
          <a:ext cx="0" cy="0"/>
          <a:chOff x="0" y="0"/>
          <a:chExt cx="0" cy="0"/>
        </a:xfrm>
      </p:grpSpPr>
      <p:sp>
        <p:nvSpPr>
          <p:cNvPr id="45" name="Google Shape;45;g244d0e5f3f4_0_142"/>
          <p:cNvSpPr txBox="1">
            <a:spLocks noGrp="1"/>
          </p:cNvSpPr>
          <p:nvPr>
            <p:ph type="title"/>
          </p:nvPr>
        </p:nvSpPr>
        <p:spPr>
          <a:xfrm>
            <a:off x="838200" y="2726575"/>
            <a:ext cx="10395900" cy="9675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224F76"/>
              </a:buClr>
              <a:buSzPts val="4400"/>
              <a:buFont typeface="Verdana"/>
              <a:buNone/>
              <a:defRPr sz="4400" b="1" i="0" u="none" strike="noStrike" cap="none">
                <a:solidFill>
                  <a:srgbClr val="224F7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6" name="Google Shape;46;g244d0e5f3f4_0_142"/>
          <p:cNvPicPr preferRelativeResize="0"/>
          <p:nvPr/>
        </p:nvPicPr>
        <p:blipFill rotWithShape="1">
          <a:blip r:embed="rId2">
            <a:alphaModFix/>
          </a:blip>
          <a:srcRect/>
          <a:stretch/>
        </p:blipFill>
        <p:spPr>
          <a:xfrm rot="10800000" flipH="1">
            <a:off x="2942580" y="5866976"/>
            <a:ext cx="6309701" cy="49658"/>
          </a:xfrm>
          <a:prstGeom prst="rect">
            <a:avLst/>
          </a:prstGeom>
          <a:noFill/>
          <a:ln>
            <a:noFill/>
          </a:ln>
        </p:spPr>
      </p:pic>
      <p:pic>
        <p:nvPicPr>
          <p:cNvPr id="47" name="Google Shape;47;g244d0e5f3f4_0_142" descr="Une image contenant alimentation, dessin, lumière&#10;&#10;Description générée automatiquement"/>
          <p:cNvPicPr preferRelativeResize="0"/>
          <p:nvPr/>
        </p:nvPicPr>
        <p:blipFill rotWithShape="1">
          <a:blip r:embed="rId3">
            <a:alphaModFix/>
          </a:blip>
          <a:srcRect/>
          <a:stretch/>
        </p:blipFill>
        <p:spPr>
          <a:xfrm>
            <a:off x="5127555" y="5925163"/>
            <a:ext cx="1936889" cy="932837"/>
          </a:xfrm>
          <a:prstGeom prst="rect">
            <a:avLst/>
          </a:prstGeom>
          <a:noFill/>
          <a:ln>
            <a:noFill/>
          </a:ln>
        </p:spPr>
      </p:pic>
      <p:sp>
        <p:nvSpPr>
          <p:cNvPr id="48" name="Google Shape;48;g244d0e5f3f4_0_142"/>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5_Titre 2">
  <p:cSld name="5_Titre 2">
    <p:spTree>
      <p:nvGrpSpPr>
        <p:cNvPr id="1" name="Shape 49"/>
        <p:cNvGrpSpPr/>
        <p:nvPr/>
      </p:nvGrpSpPr>
      <p:grpSpPr>
        <a:xfrm>
          <a:off x="0" y="0"/>
          <a:ext cx="0" cy="0"/>
          <a:chOff x="0" y="0"/>
          <a:chExt cx="0" cy="0"/>
        </a:xfrm>
      </p:grpSpPr>
      <p:sp>
        <p:nvSpPr>
          <p:cNvPr id="50" name="Google Shape;50;g244d0e5f3f4_0_146"/>
          <p:cNvSpPr txBox="1">
            <a:spLocks noGrp="1"/>
          </p:cNvSpPr>
          <p:nvPr>
            <p:ph type="title"/>
          </p:nvPr>
        </p:nvSpPr>
        <p:spPr>
          <a:xfrm>
            <a:off x="320843" y="3050175"/>
            <a:ext cx="10149300" cy="12318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253356"/>
              </a:buClr>
              <a:buSzPts val="4000"/>
              <a:buFont typeface="Verdana"/>
              <a:buNone/>
              <a:defRPr sz="4000" b="1" i="0" u="none" strike="noStrike" cap="none">
                <a:solidFill>
                  <a:srgbClr val="25335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51" name="Google Shape;51;g244d0e5f3f4_0_146" descr="Une image contenant alimentation, dessin, lumière&#10;&#10;Description générée automatiquement"/>
          <p:cNvPicPr preferRelativeResize="0"/>
          <p:nvPr/>
        </p:nvPicPr>
        <p:blipFill rotWithShape="1">
          <a:blip r:embed="rId2">
            <a:alphaModFix/>
          </a:blip>
          <a:srcRect/>
          <a:stretch/>
        </p:blipFill>
        <p:spPr>
          <a:xfrm>
            <a:off x="9959827" y="115675"/>
            <a:ext cx="1936889" cy="932837"/>
          </a:xfrm>
          <a:prstGeom prst="rect">
            <a:avLst/>
          </a:prstGeom>
          <a:noFill/>
          <a:ln>
            <a:noFill/>
          </a:ln>
        </p:spPr>
      </p:pic>
      <p:pic>
        <p:nvPicPr>
          <p:cNvPr id="52" name="Google Shape;52;g244d0e5f3f4_0_146"/>
          <p:cNvPicPr preferRelativeResize="0"/>
          <p:nvPr/>
        </p:nvPicPr>
        <p:blipFill rotWithShape="1">
          <a:blip r:embed="rId3">
            <a:alphaModFix/>
          </a:blip>
          <a:srcRect/>
          <a:stretch/>
        </p:blipFill>
        <p:spPr>
          <a:xfrm rot="10800000">
            <a:off x="9671999" y="4273871"/>
            <a:ext cx="2520001" cy="8175"/>
          </a:xfrm>
          <a:prstGeom prst="rect">
            <a:avLst/>
          </a:prstGeom>
          <a:noFill/>
          <a:ln>
            <a:noFill/>
          </a:ln>
        </p:spPr>
      </p:pic>
      <p:sp>
        <p:nvSpPr>
          <p:cNvPr id="53" name="Google Shape;53;g244d0e5f3f4_0_146"/>
          <p:cNvSpPr txBox="1">
            <a:spLocks noGrp="1"/>
          </p:cNvSpPr>
          <p:nvPr>
            <p:ph type="body" idx="1"/>
          </p:nvPr>
        </p:nvSpPr>
        <p:spPr>
          <a:xfrm>
            <a:off x="320843" y="4489296"/>
            <a:ext cx="10170600" cy="5907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600"/>
              </a:spcBef>
              <a:spcAft>
                <a:spcPts val="0"/>
              </a:spcAft>
              <a:buClr>
                <a:srgbClr val="224F76"/>
              </a:buClr>
              <a:buSzPts val="1800"/>
              <a:buFont typeface="Arial"/>
              <a:buNone/>
              <a:defRPr sz="1800" b="0" i="0" u="none" strike="noStrike" cap="none">
                <a:solidFill>
                  <a:srgbClr val="224F76"/>
                </a:solidFill>
                <a:latin typeface="Arimo"/>
                <a:ea typeface="Arimo"/>
                <a:cs typeface="Arimo"/>
                <a:sym typeface="Arimo"/>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4" name="Google Shape;54;g244d0e5f3f4_0_146"/>
          <p:cNvSpPr txBox="1"/>
          <p:nvPr/>
        </p:nvSpPr>
        <p:spPr>
          <a:xfrm>
            <a:off x="1852" y="6486920"/>
            <a:ext cx="402900" cy="371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rgbClr val="888888"/>
                </a:solidFill>
                <a:latin typeface="Calibri"/>
                <a:ea typeface="Calibri"/>
                <a:cs typeface="Calibri"/>
                <a:sym typeface="Calibri"/>
              </a:rPr>
              <a:t>‹N°›</a:t>
            </a:fld>
            <a:endParaRPr sz="1200" b="0" i="0" u="none" strike="noStrike" cap="none">
              <a:solidFill>
                <a:srgbClr val="888888"/>
              </a:solidFill>
              <a:latin typeface="Calibri"/>
              <a:ea typeface="Calibri"/>
              <a:cs typeface="Calibri"/>
              <a:sym typeface="Calibri"/>
            </a:endParaRPr>
          </a:p>
        </p:txBody>
      </p:sp>
      <p:sp>
        <p:nvSpPr>
          <p:cNvPr id="55" name="Google Shape;55;g244d0e5f3f4_0_146"/>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1pPr>
            <a:lvl2pPr marL="0" marR="0" lvl="1"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2pPr>
            <a:lvl3pPr marL="0" marR="0" lvl="2"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3pPr>
            <a:lvl4pPr marL="0" marR="0" lvl="3"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4pPr>
            <a:lvl5pPr marL="0" marR="0" lvl="4"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5pPr>
            <a:lvl6pPr marL="0" marR="0" lvl="5"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6pPr>
            <a:lvl7pPr marL="0" marR="0" lvl="6"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7pPr>
            <a:lvl8pPr marL="0" marR="0" lvl="7"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8pPr>
            <a:lvl9pPr marL="0" marR="0" lvl="8"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8_Titre 2">
  <p:cSld name="8_Titre 2">
    <p:spTree>
      <p:nvGrpSpPr>
        <p:cNvPr id="1" name="Shape 56"/>
        <p:cNvGrpSpPr/>
        <p:nvPr/>
      </p:nvGrpSpPr>
      <p:grpSpPr>
        <a:xfrm>
          <a:off x="0" y="0"/>
          <a:ext cx="0" cy="0"/>
          <a:chOff x="0" y="0"/>
          <a:chExt cx="0" cy="0"/>
        </a:xfrm>
      </p:grpSpPr>
      <p:sp>
        <p:nvSpPr>
          <p:cNvPr id="57" name="Google Shape;57;g244d0e5f3f4_0_152"/>
          <p:cNvSpPr txBox="1">
            <a:spLocks noGrp="1"/>
          </p:cNvSpPr>
          <p:nvPr>
            <p:ph type="title"/>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253356"/>
              </a:buClr>
              <a:buSzPts val="2400"/>
              <a:buFont typeface="Verdana"/>
              <a:buNone/>
              <a:defRPr sz="2400" b="1" i="0" u="none" strike="noStrike" cap="none">
                <a:solidFill>
                  <a:srgbClr val="25335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58" name="Google Shape;58;g244d0e5f3f4_0_152"/>
          <p:cNvPicPr preferRelativeResize="0"/>
          <p:nvPr/>
        </p:nvPicPr>
        <p:blipFill rotWithShape="1">
          <a:blip r:embed="rId2">
            <a:alphaModFix/>
          </a:blip>
          <a:srcRect/>
          <a:stretch/>
        </p:blipFill>
        <p:spPr>
          <a:xfrm>
            <a:off x="0" y="930008"/>
            <a:ext cx="10587603" cy="34352"/>
          </a:xfrm>
          <a:prstGeom prst="rect">
            <a:avLst/>
          </a:prstGeom>
          <a:noFill/>
          <a:ln>
            <a:noFill/>
          </a:ln>
        </p:spPr>
      </p:pic>
      <p:sp>
        <p:nvSpPr>
          <p:cNvPr id="59" name="Google Shape;59;g244d0e5f3f4_0_152"/>
          <p:cNvSpPr txBox="1">
            <a:spLocks noGrp="1"/>
          </p:cNvSpPr>
          <p:nvPr>
            <p:ph type="dt" idx="10"/>
          </p:nvPr>
        </p:nvSpPr>
        <p:spPr>
          <a:xfrm>
            <a:off x="10547710" y="6486921"/>
            <a:ext cx="1197300" cy="371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g244d0e5f3f4_0_152"/>
          <p:cNvSpPr txBox="1">
            <a:spLocks noGrp="1"/>
          </p:cNvSpPr>
          <p:nvPr>
            <p:ph type="sldNum" idx="12"/>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sposition personnalisée">
  <p:cSld name="Disposition personnalisée">
    <p:spTree>
      <p:nvGrpSpPr>
        <p:cNvPr id="1" name="Shape 63"/>
        <p:cNvGrpSpPr/>
        <p:nvPr/>
      </p:nvGrpSpPr>
      <p:grpSpPr>
        <a:xfrm>
          <a:off x="0" y="0"/>
          <a:ext cx="0" cy="0"/>
          <a:chOff x="0" y="0"/>
          <a:chExt cx="0" cy="0"/>
        </a:xfrm>
      </p:grpSpPr>
      <p:pic>
        <p:nvPicPr>
          <p:cNvPr id="64" name="Google Shape;64;p16" descr="Une image contenant alimentation, dessin, lumière&#10;&#10;Description générée automatiquement"/>
          <p:cNvPicPr preferRelativeResize="0"/>
          <p:nvPr/>
        </p:nvPicPr>
        <p:blipFill rotWithShape="1">
          <a:blip r:embed="rId2">
            <a:alphaModFix/>
          </a:blip>
          <a:srcRect/>
          <a:stretch/>
        </p:blipFill>
        <p:spPr>
          <a:xfrm>
            <a:off x="9959827" y="115675"/>
            <a:ext cx="1936889" cy="932837"/>
          </a:xfrm>
          <a:prstGeom prst="rect">
            <a:avLst/>
          </a:prstGeom>
          <a:noFill/>
          <a:ln>
            <a:noFill/>
          </a:ln>
        </p:spPr>
      </p:pic>
      <p:sp>
        <p:nvSpPr>
          <p:cNvPr id="65" name="Google Shape;65;p16"/>
          <p:cNvSpPr txBox="1">
            <a:spLocks noGrp="1"/>
          </p:cNvSpPr>
          <p:nvPr>
            <p:ph type="title"/>
          </p:nvPr>
        </p:nvSpPr>
        <p:spPr>
          <a:xfrm>
            <a:off x="89452" y="2676904"/>
            <a:ext cx="3041374" cy="115802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143F6A"/>
              </a:buClr>
              <a:buSzPts val="3600"/>
              <a:buFont typeface="Verdana"/>
              <a:buNone/>
              <a:defRPr sz="3600" b="1" i="0" u="none" strike="noStrike" cap="none">
                <a:solidFill>
                  <a:srgbClr val="143F6A"/>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66" name="Google Shape;66;p16"/>
          <p:cNvPicPr preferRelativeResize="0"/>
          <p:nvPr/>
        </p:nvPicPr>
        <p:blipFill rotWithShape="1">
          <a:blip r:embed="rId3">
            <a:alphaModFix/>
          </a:blip>
          <a:srcRect/>
          <a:stretch/>
        </p:blipFill>
        <p:spPr>
          <a:xfrm>
            <a:off x="-16970" y="3840259"/>
            <a:ext cx="2520000" cy="8175"/>
          </a:xfrm>
          <a:prstGeom prst="rect">
            <a:avLst/>
          </a:prstGeom>
          <a:noFill/>
          <a:ln>
            <a:noFill/>
          </a:ln>
        </p:spPr>
      </p:pic>
      <p:pic>
        <p:nvPicPr>
          <p:cNvPr id="67" name="Google Shape;67;p16"/>
          <p:cNvPicPr preferRelativeResize="0"/>
          <p:nvPr/>
        </p:nvPicPr>
        <p:blipFill rotWithShape="1">
          <a:blip r:embed="rId3">
            <a:alphaModFix/>
          </a:blip>
          <a:srcRect/>
          <a:stretch/>
        </p:blipFill>
        <p:spPr>
          <a:xfrm>
            <a:off x="733346" y="2684367"/>
            <a:ext cx="2520000" cy="8175"/>
          </a:xfrm>
          <a:prstGeom prst="rect">
            <a:avLst/>
          </a:prstGeom>
          <a:noFill/>
          <a:ln>
            <a:noFill/>
          </a:ln>
        </p:spPr>
      </p:pic>
      <p:sp>
        <p:nvSpPr>
          <p:cNvPr id="68" name="Google Shape;68;p16"/>
          <p:cNvSpPr txBox="1">
            <a:spLocks noGrp="1"/>
          </p:cNvSpPr>
          <p:nvPr>
            <p:ph type="dt" idx="10"/>
          </p:nvPr>
        </p:nvSpPr>
        <p:spPr>
          <a:xfrm>
            <a:off x="10547710" y="6486921"/>
            <a:ext cx="1197250" cy="37107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16"/>
          <p:cNvSpPr txBox="1">
            <a:spLocks noGrp="1"/>
          </p:cNvSpPr>
          <p:nvPr>
            <p:ph type="sldNum" idx="12"/>
          </p:nvPr>
        </p:nvSpPr>
        <p:spPr>
          <a:xfrm>
            <a:off x="11744960" y="6486920"/>
            <a:ext cx="402924" cy="3710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Titre 2">
  <p:cSld name="3_Titre 2">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1899702" y="3073763"/>
            <a:ext cx="9828472" cy="1231871"/>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253356"/>
              </a:buClr>
              <a:buSzPts val="4000"/>
              <a:buFont typeface="Verdana"/>
              <a:buNone/>
              <a:defRPr sz="4000" b="1" i="0" u="none" strike="noStrike" cap="none">
                <a:solidFill>
                  <a:srgbClr val="25335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72" name="Google Shape;72;p17" descr="Une image contenant alimentation, dessin, lumière&#10;&#10;Description générée automatiquement"/>
          <p:cNvPicPr preferRelativeResize="0"/>
          <p:nvPr/>
        </p:nvPicPr>
        <p:blipFill rotWithShape="1">
          <a:blip r:embed="rId2">
            <a:alphaModFix/>
          </a:blip>
          <a:srcRect/>
          <a:stretch/>
        </p:blipFill>
        <p:spPr>
          <a:xfrm>
            <a:off x="9959827" y="115675"/>
            <a:ext cx="1936889" cy="932837"/>
          </a:xfrm>
          <a:prstGeom prst="rect">
            <a:avLst/>
          </a:prstGeom>
          <a:noFill/>
          <a:ln>
            <a:noFill/>
          </a:ln>
        </p:spPr>
      </p:pic>
      <p:pic>
        <p:nvPicPr>
          <p:cNvPr id="73" name="Google Shape;73;p17"/>
          <p:cNvPicPr preferRelativeResize="0"/>
          <p:nvPr/>
        </p:nvPicPr>
        <p:blipFill rotWithShape="1">
          <a:blip r:embed="rId3">
            <a:alphaModFix/>
          </a:blip>
          <a:srcRect/>
          <a:stretch/>
        </p:blipFill>
        <p:spPr>
          <a:xfrm>
            <a:off x="-16970" y="4297459"/>
            <a:ext cx="2520000" cy="8175"/>
          </a:xfrm>
          <a:prstGeom prst="rect">
            <a:avLst/>
          </a:prstGeom>
          <a:noFill/>
          <a:ln>
            <a:noFill/>
          </a:ln>
        </p:spPr>
      </p:pic>
      <p:sp>
        <p:nvSpPr>
          <p:cNvPr id="74" name="Google Shape;74;p17"/>
          <p:cNvSpPr txBox="1">
            <a:spLocks noGrp="1"/>
          </p:cNvSpPr>
          <p:nvPr>
            <p:ph type="body" idx="1"/>
          </p:nvPr>
        </p:nvSpPr>
        <p:spPr>
          <a:xfrm>
            <a:off x="1899987" y="4512884"/>
            <a:ext cx="9828146" cy="590550"/>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600"/>
              </a:spcBef>
              <a:spcAft>
                <a:spcPts val="0"/>
              </a:spcAft>
              <a:buClr>
                <a:srgbClr val="224F76"/>
              </a:buClr>
              <a:buSzPts val="1800"/>
              <a:buFont typeface="Arial"/>
              <a:buNone/>
              <a:defRPr sz="1800" b="0" i="0" u="none" strike="noStrike" cap="none">
                <a:solidFill>
                  <a:srgbClr val="224F76"/>
                </a:solidFill>
                <a:latin typeface="Arimo"/>
                <a:ea typeface="Arimo"/>
                <a:cs typeface="Arimo"/>
                <a:sym typeface="Arimo"/>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7"/>
          <p:cNvSpPr txBox="1"/>
          <p:nvPr/>
        </p:nvSpPr>
        <p:spPr>
          <a:xfrm>
            <a:off x="1852" y="6486920"/>
            <a:ext cx="402924" cy="3710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rgbClr val="888888"/>
                </a:solidFill>
                <a:latin typeface="Calibri"/>
                <a:ea typeface="Calibri"/>
                <a:cs typeface="Calibri"/>
                <a:sym typeface="Calibri"/>
              </a:rPr>
              <a:t>‹N°›</a:t>
            </a:fld>
            <a:endParaRPr sz="1200" b="0" i="0" u="none" strike="noStrike" cap="none">
              <a:solidFill>
                <a:srgbClr val="888888"/>
              </a:solidFill>
              <a:latin typeface="Calibri"/>
              <a:ea typeface="Calibri"/>
              <a:cs typeface="Calibri"/>
              <a:sym typeface="Calibri"/>
            </a:endParaRPr>
          </a:p>
        </p:txBody>
      </p:sp>
      <p:sp>
        <p:nvSpPr>
          <p:cNvPr id="76" name="Google Shape;76;p17"/>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1pPr>
            <a:lvl2pPr marL="0" marR="0" lvl="1"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2pPr>
            <a:lvl3pPr marL="0" marR="0" lvl="2"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3pPr>
            <a:lvl4pPr marL="0" marR="0" lvl="3"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4pPr>
            <a:lvl5pPr marL="0" marR="0" lvl="4"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5pPr>
            <a:lvl6pPr marL="0" marR="0" lvl="5"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6pPr>
            <a:lvl7pPr marL="0" marR="0" lvl="6"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7pPr>
            <a:lvl8pPr marL="0" marR="0" lvl="7"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8pPr>
            <a:lvl9pPr marL="0" marR="0" lvl="8"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7_Titre 2">
  <p:cSld name="7_Titre 2">
    <p:spTree>
      <p:nvGrpSpPr>
        <p:cNvPr id="1" name="Shape 77"/>
        <p:cNvGrpSpPr/>
        <p:nvPr/>
      </p:nvGrpSpPr>
      <p:grpSpPr>
        <a:xfrm>
          <a:off x="0" y="0"/>
          <a:ext cx="0" cy="0"/>
          <a:chOff x="0" y="0"/>
          <a:chExt cx="0" cy="0"/>
        </a:xfrm>
      </p:grpSpPr>
      <p:sp>
        <p:nvSpPr>
          <p:cNvPr id="78" name="Google Shape;78;p18"/>
          <p:cNvSpPr txBox="1">
            <a:spLocks noGrp="1"/>
          </p:cNvSpPr>
          <p:nvPr>
            <p:ph type="title"/>
          </p:nvPr>
        </p:nvSpPr>
        <p:spPr>
          <a:xfrm>
            <a:off x="296658" y="302898"/>
            <a:ext cx="11448302" cy="42777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253356"/>
              </a:buClr>
              <a:buSzPts val="2400"/>
              <a:buFont typeface="Verdana"/>
              <a:buNone/>
              <a:defRPr sz="2400" b="1" i="0" u="none" strike="noStrike" cap="none">
                <a:solidFill>
                  <a:srgbClr val="25335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79" name="Google Shape;79;p18"/>
          <p:cNvPicPr preferRelativeResize="0"/>
          <p:nvPr/>
        </p:nvPicPr>
        <p:blipFill rotWithShape="1">
          <a:blip r:embed="rId2">
            <a:alphaModFix/>
          </a:blip>
          <a:srcRect/>
          <a:stretch/>
        </p:blipFill>
        <p:spPr>
          <a:xfrm>
            <a:off x="0" y="930008"/>
            <a:ext cx="10587600" cy="34352"/>
          </a:xfrm>
          <a:prstGeom prst="rect">
            <a:avLst/>
          </a:prstGeom>
          <a:noFill/>
          <a:ln>
            <a:noFill/>
          </a:ln>
        </p:spPr>
      </p:pic>
      <p:sp>
        <p:nvSpPr>
          <p:cNvPr id="80" name="Google Shape;80;p18"/>
          <p:cNvSpPr txBox="1">
            <a:spLocks noGrp="1"/>
          </p:cNvSpPr>
          <p:nvPr>
            <p:ph type="dt" idx="10"/>
          </p:nvPr>
        </p:nvSpPr>
        <p:spPr>
          <a:xfrm>
            <a:off x="10547710" y="6486921"/>
            <a:ext cx="1197250" cy="37107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1" name="Google Shape;81;p18"/>
          <p:cNvSpPr txBox="1">
            <a:spLocks noGrp="1"/>
          </p:cNvSpPr>
          <p:nvPr>
            <p:ph type="sldNum" idx="12"/>
          </p:nvPr>
        </p:nvSpPr>
        <p:spPr>
          <a:xfrm>
            <a:off x="11744960" y="6486920"/>
            <a:ext cx="402924" cy="3710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
        <p:nvSpPr>
          <p:cNvPr id="82" name="Google Shape;82;p18"/>
          <p:cNvSpPr txBox="1">
            <a:spLocks noGrp="1"/>
          </p:cNvSpPr>
          <p:nvPr>
            <p:ph type="body" idx="1"/>
          </p:nvPr>
        </p:nvSpPr>
        <p:spPr>
          <a:xfrm>
            <a:off x="296658" y="1222375"/>
            <a:ext cx="10190091" cy="5461000"/>
          </a:xfrm>
          <a:prstGeom prst="rect">
            <a:avLst/>
          </a:prstGeom>
          <a:noFill/>
          <a:ln>
            <a:noFill/>
          </a:ln>
        </p:spPr>
        <p:txBody>
          <a:bodyPr spcFirstLastPara="1" wrap="square" lIns="91425" tIns="45700" rIns="91425" bIns="45700" anchor="t" anchorCtr="0">
            <a:noAutofit/>
          </a:bodyPr>
          <a:lstStyle>
            <a:lvl1pPr marL="457200" marR="0" lvl="0" indent="-381000" algn="just" rtl="0">
              <a:lnSpc>
                <a:spcPct val="100000"/>
              </a:lnSpc>
              <a:spcBef>
                <a:spcPts val="600"/>
              </a:spcBef>
              <a:spcAft>
                <a:spcPts val="0"/>
              </a:spcAft>
              <a:buClr>
                <a:srgbClr val="224F76"/>
              </a:buClr>
              <a:buSzPts val="2400"/>
              <a:buFont typeface="Noto Sans Symbols"/>
              <a:buChar char="▪"/>
              <a:defRPr sz="2400" b="0" i="0" u="none" strike="noStrike" cap="none">
                <a:solidFill>
                  <a:srgbClr val="224F76"/>
                </a:solidFill>
                <a:latin typeface="Calibri"/>
                <a:ea typeface="Calibri"/>
                <a:cs typeface="Calibri"/>
                <a:sym typeface="Calibri"/>
              </a:defRPr>
            </a:lvl1pPr>
            <a:lvl2pPr marL="914400" marR="0" lvl="1" indent="-381000" algn="l" rtl="0">
              <a:lnSpc>
                <a:spcPct val="100000"/>
              </a:lnSpc>
              <a:spcBef>
                <a:spcPts val="600"/>
              </a:spcBef>
              <a:spcAft>
                <a:spcPts val="0"/>
              </a:spcAft>
              <a:buClr>
                <a:schemeClr val="accent3"/>
              </a:buClr>
              <a:buSzPts val="2400"/>
              <a:buFont typeface="Arial"/>
              <a:buChar char="•"/>
              <a:defRPr sz="2400" b="0" i="0" u="none" strike="noStrike" cap="none">
                <a:solidFill>
                  <a:srgbClr val="224F76"/>
                </a:solidFill>
                <a:latin typeface="Calibri"/>
                <a:ea typeface="Calibri"/>
                <a:cs typeface="Calibri"/>
                <a:sym typeface="Calibri"/>
              </a:defRPr>
            </a:lvl2pPr>
            <a:lvl3pPr marL="1371600" marR="0" lvl="2" indent="-355600" algn="l" rtl="0">
              <a:lnSpc>
                <a:spcPct val="100000"/>
              </a:lnSpc>
              <a:spcBef>
                <a:spcPts val="500"/>
              </a:spcBef>
              <a:spcAft>
                <a:spcPts val="0"/>
              </a:spcAft>
              <a:buClr>
                <a:srgbClr val="7F7F7F"/>
              </a:buClr>
              <a:buSzPts val="2000"/>
              <a:buFont typeface="Calibri"/>
              <a:buChar char="‒"/>
              <a:defRPr sz="2000" b="0" i="0" u="none" strike="noStrike" cap="none">
                <a:solidFill>
                  <a:srgbClr val="224F76"/>
                </a:solidFill>
                <a:latin typeface="Calibri"/>
                <a:ea typeface="Calibri"/>
                <a:cs typeface="Calibri"/>
                <a:sym typeface="Calibri"/>
              </a:defRPr>
            </a:lvl3pPr>
            <a:lvl4pPr marL="1828800" marR="0" lvl="3" indent="-342900" algn="l" rtl="0">
              <a:lnSpc>
                <a:spcPct val="100000"/>
              </a:lnSpc>
              <a:spcBef>
                <a:spcPts val="500"/>
              </a:spcBef>
              <a:spcAft>
                <a:spcPts val="0"/>
              </a:spcAft>
              <a:buClr>
                <a:srgbClr val="224F76"/>
              </a:buClr>
              <a:buSzPts val="1800"/>
              <a:buFont typeface="Arial"/>
              <a:buChar char="•"/>
              <a:defRPr sz="1800" b="0" i="0" u="none" strike="noStrike" cap="none">
                <a:solidFill>
                  <a:srgbClr val="224F76"/>
                </a:solidFill>
                <a:latin typeface="Calibri"/>
                <a:ea typeface="Calibri"/>
                <a:cs typeface="Calibri"/>
                <a:sym typeface="Calibri"/>
              </a:defRPr>
            </a:lvl4pPr>
            <a:lvl5pPr marL="2286000" marR="0" lvl="4" indent="-342900" algn="l" rtl="0">
              <a:lnSpc>
                <a:spcPct val="100000"/>
              </a:lnSpc>
              <a:spcBef>
                <a:spcPts val="500"/>
              </a:spcBef>
              <a:spcAft>
                <a:spcPts val="0"/>
              </a:spcAft>
              <a:buClr>
                <a:srgbClr val="224F76"/>
              </a:buClr>
              <a:buSzPts val="1800"/>
              <a:buFont typeface="Arial"/>
              <a:buChar char="•"/>
              <a:defRPr sz="1800" b="0" i="0" u="none" strike="noStrike" cap="none">
                <a:solidFill>
                  <a:srgbClr val="224F7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sposition personnalisée">
  <p:cSld name="Disposition personnalisée 2">
    <p:spTree>
      <p:nvGrpSpPr>
        <p:cNvPr id="1" name="Shape 83"/>
        <p:cNvGrpSpPr/>
        <p:nvPr/>
      </p:nvGrpSpPr>
      <p:grpSpPr>
        <a:xfrm>
          <a:off x="0" y="0"/>
          <a:ext cx="0" cy="0"/>
          <a:chOff x="0" y="0"/>
          <a:chExt cx="0" cy="0"/>
        </a:xfrm>
      </p:grpSpPr>
      <p:sp>
        <p:nvSpPr>
          <p:cNvPr id="84" name="Google Shape;84;p19"/>
          <p:cNvSpPr txBox="1">
            <a:spLocks noGrp="1"/>
          </p:cNvSpPr>
          <p:nvPr>
            <p:ph type="title"/>
          </p:nvPr>
        </p:nvSpPr>
        <p:spPr>
          <a:xfrm>
            <a:off x="838200" y="2726575"/>
            <a:ext cx="10395857" cy="967481"/>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224F76"/>
              </a:buClr>
              <a:buSzPts val="4400"/>
              <a:buFont typeface="Verdana"/>
              <a:buNone/>
              <a:defRPr sz="4400" b="1" i="0" u="none" strike="noStrike" cap="none">
                <a:solidFill>
                  <a:srgbClr val="224F7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85" name="Google Shape;85;p19"/>
          <p:cNvPicPr preferRelativeResize="0"/>
          <p:nvPr/>
        </p:nvPicPr>
        <p:blipFill rotWithShape="1">
          <a:blip r:embed="rId2">
            <a:alphaModFix/>
          </a:blip>
          <a:srcRect/>
          <a:stretch/>
        </p:blipFill>
        <p:spPr>
          <a:xfrm rot="10800000" flipH="1">
            <a:off x="2942580" y="5866976"/>
            <a:ext cx="6309704" cy="49658"/>
          </a:xfrm>
          <a:prstGeom prst="rect">
            <a:avLst/>
          </a:prstGeom>
          <a:noFill/>
          <a:ln>
            <a:noFill/>
          </a:ln>
        </p:spPr>
      </p:pic>
      <p:pic>
        <p:nvPicPr>
          <p:cNvPr id="86" name="Google Shape;86;p19" descr="Une image contenant alimentation, dessin, lumière&#10;&#10;Description générée automatiquement"/>
          <p:cNvPicPr preferRelativeResize="0"/>
          <p:nvPr/>
        </p:nvPicPr>
        <p:blipFill rotWithShape="1">
          <a:blip r:embed="rId3">
            <a:alphaModFix/>
          </a:blip>
          <a:srcRect/>
          <a:stretch/>
        </p:blipFill>
        <p:spPr>
          <a:xfrm>
            <a:off x="5127555" y="5925163"/>
            <a:ext cx="1936889" cy="932837"/>
          </a:xfrm>
          <a:prstGeom prst="rect">
            <a:avLst/>
          </a:prstGeom>
          <a:noFill/>
          <a:ln>
            <a:noFill/>
          </a:ln>
        </p:spPr>
      </p:pic>
      <p:sp>
        <p:nvSpPr>
          <p:cNvPr id="87" name="Google Shape;87;p19"/>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Titre 2">
  <p:cSld name="2_Titre 2">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a:off x="717218" y="2833181"/>
            <a:ext cx="10702844" cy="156233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53356"/>
              </a:buClr>
              <a:buSzPts val="4000"/>
              <a:buFont typeface="Verdana"/>
              <a:buNone/>
              <a:defRPr sz="4000" b="1" i="0" u="none" strike="noStrike" cap="none">
                <a:solidFill>
                  <a:srgbClr val="25335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90" name="Google Shape;90;p15" descr="Une image contenant alimentation, dessin, lumière&#10;&#10;Description générée automatiquement"/>
          <p:cNvPicPr preferRelativeResize="0"/>
          <p:nvPr/>
        </p:nvPicPr>
        <p:blipFill rotWithShape="1">
          <a:blip r:embed="rId2">
            <a:alphaModFix/>
          </a:blip>
          <a:srcRect/>
          <a:stretch/>
        </p:blipFill>
        <p:spPr>
          <a:xfrm>
            <a:off x="8371190" y="239190"/>
            <a:ext cx="3564136" cy="1716547"/>
          </a:xfrm>
          <a:prstGeom prst="rect">
            <a:avLst/>
          </a:prstGeom>
          <a:noFill/>
          <a:ln>
            <a:noFill/>
          </a:ln>
        </p:spPr>
      </p:pic>
      <p:pic>
        <p:nvPicPr>
          <p:cNvPr id="91" name="Google Shape;91;p15" descr="Une image contenant signe, extérieur, avant, rue&#10;&#10;Description générée automatiquement"/>
          <p:cNvPicPr preferRelativeResize="0"/>
          <p:nvPr/>
        </p:nvPicPr>
        <p:blipFill rotWithShape="1">
          <a:blip r:embed="rId3">
            <a:alphaModFix/>
          </a:blip>
          <a:srcRect/>
          <a:stretch/>
        </p:blipFill>
        <p:spPr>
          <a:xfrm>
            <a:off x="712816" y="473117"/>
            <a:ext cx="730973" cy="730426"/>
          </a:xfrm>
          <a:prstGeom prst="rect">
            <a:avLst/>
          </a:prstGeom>
          <a:noFill/>
          <a:ln>
            <a:noFill/>
          </a:ln>
        </p:spPr>
      </p:pic>
      <p:pic>
        <p:nvPicPr>
          <p:cNvPr id="92" name="Google Shape;92;p15"/>
          <p:cNvPicPr preferRelativeResize="0"/>
          <p:nvPr/>
        </p:nvPicPr>
        <p:blipFill rotWithShape="1">
          <a:blip r:embed="rId4">
            <a:alphaModFix/>
          </a:blip>
          <a:srcRect/>
          <a:stretch/>
        </p:blipFill>
        <p:spPr>
          <a:xfrm>
            <a:off x="712816" y="1362427"/>
            <a:ext cx="7920000" cy="12851"/>
          </a:xfrm>
          <a:prstGeom prst="rect">
            <a:avLst/>
          </a:prstGeom>
          <a:noFill/>
          <a:ln>
            <a:noFill/>
          </a:ln>
        </p:spPr>
      </p:pic>
      <p:sp>
        <p:nvSpPr>
          <p:cNvPr id="93" name="Google Shape;93;p15"/>
          <p:cNvSpPr txBox="1">
            <a:spLocks noGrp="1"/>
          </p:cNvSpPr>
          <p:nvPr>
            <p:ph type="body" idx="1"/>
          </p:nvPr>
        </p:nvSpPr>
        <p:spPr>
          <a:xfrm>
            <a:off x="4784725" y="5699684"/>
            <a:ext cx="2593975" cy="48736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600"/>
              </a:spcBef>
              <a:spcAft>
                <a:spcPts val="0"/>
              </a:spcAft>
              <a:buClr>
                <a:srgbClr val="143F6A"/>
              </a:buClr>
              <a:buSzPts val="2400"/>
              <a:buFont typeface="Arial"/>
              <a:buNone/>
              <a:defRPr sz="2400" b="0" i="0" u="none" strike="noStrike" cap="none">
                <a:solidFill>
                  <a:srgbClr val="143F6A"/>
                </a:solidFill>
                <a:latin typeface="Arimo"/>
                <a:ea typeface="Arimo"/>
                <a:cs typeface="Arimo"/>
                <a:sym typeface="Arimo"/>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94" name="Google Shape;94;p15"/>
          <p:cNvPicPr preferRelativeResize="0"/>
          <p:nvPr/>
        </p:nvPicPr>
        <p:blipFill rotWithShape="1">
          <a:blip r:embed="rId5">
            <a:alphaModFix/>
          </a:blip>
          <a:srcRect/>
          <a:stretch/>
        </p:blipFill>
        <p:spPr>
          <a:xfrm>
            <a:off x="9467437" y="1722946"/>
            <a:ext cx="1952625" cy="447675"/>
          </a:xfrm>
          <a:prstGeom prst="rect">
            <a:avLst/>
          </a:prstGeom>
          <a:noFill/>
          <a:ln>
            <a:noFill/>
          </a:ln>
        </p:spPr>
      </p:pic>
      <p:sp>
        <p:nvSpPr>
          <p:cNvPr id="95" name="Google Shape;95;p15"/>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1pPr>
            <a:lvl2pPr marL="0" marR="0" lvl="1"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2pPr>
            <a:lvl3pPr marL="0" marR="0" lvl="2"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3pPr>
            <a:lvl4pPr marL="0" marR="0" lvl="3"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4pPr>
            <a:lvl5pPr marL="0" marR="0" lvl="4"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5pPr>
            <a:lvl6pPr marL="0" marR="0" lvl="5"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6pPr>
            <a:lvl7pPr marL="0" marR="0" lvl="6"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7pPr>
            <a:lvl8pPr marL="0" marR="0" lvl="7"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8pPr>
            <a:lvl9pPr marL="0" marR="0" lvl="8" indent="0" algn="r">
              <a:lnSpc>
                <a:spcPct val="100000"/>
              </a:lnSpc>
              <a:spcBef>
                <a:spcPts val="0"/>
              </a:spcBef>
              <a:spcAft>
                <a:spcPts val="0"/>
              </a:spcAft>
              <a:buClr>
                <a:srgbClr val="000000"/>
              </a:buClr>
              <a:buSzPts val="1200"/>
              <a:buFont typeface="Arial"/>
              <a:buNone/>
              <a:defRPr sz="1300" b="0" i="0" u="none" strike="noStrike" cap="none">
                <a:solidFill>
                  <a:srgbClr val="143F6A"/>
                </a:solidFill>
                <a:latin typeface="Arimo"/>
                <a:ea typeface="Arimo"/>
                <a:cs typeface="Arimo"/>
                <a:sym typeface="Arim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5_Titre 2">
  <p:cSld name="5_Titre 2">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20843" y="3050175"/>
            <a:ext cx="10149282" cy="1231871"/>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253356"/>
              </a:buClr>
              <a:buSzPts val="4000"/>
              <a:buFont typeface="Verdana"/>
              <a:buNone/>
              <a:defRPr sz="4000" b="1" i="0" u="none" strike="noStrike" cap="none">
                <a:solidFill>
                  <a:srgbClr val="25335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98" name="Google Shape;98;p20" descr="Une image contenant alimentation, dessin, lumière&#10;&#10;Description générée automatiquement"/>
          <p:cNvPicPr preferRelativeResize="0"/>
          <p:nvPr/>
        </p:nvPicPr>
        <p:blipFill rotWithShape="1">
          <a:blip r:embed="rId2">
            <a:alphaModFix/>
          </a:blip>
          <a:srcRect/>
          <a:stretch/>
        </p:blipFill>
        <p:spPr>
          <a:xfrm>
            <a:off x="9959827" y="115675"/>
            <a:ext cx="1936889" cy="932837"/>
          </a:xfrm>
          <a:prstGeom prst="rect">
            <a:avLst/>
          </a:prstGeom>
          <a:noFill/>
          <a:ln>
            <a:noFill/>
          </a:ln>
        </p:spPr>
      </p:pic>
      <p:pic>
        <p:nvPicPr>
          <p:cNvPr id="99" name="Google Shape;99;p20"/>
          <p:cNvPicPr preferRelativeResize="0"/>
          <p:nvPr/>
        </p:nvPicPr>
        <p:blipFill rotWithShape="1">
          <a:blip r:embed="rId3">
            <a:alphaModFix/>
          </a:blip>
          <a:srcRect/>
          <a:stretch/>
        </p:blipFill>
        <p:spPr>
          <a:xfrm rot="10800000">
            <a:off x="9672000" y="4273871"/>
            <a:ext cx="2520000" cy="8175"/>
          </a:xfrm>
          <a:prstGeom prst="rect">
            <a:avLst/>
          </a:prstGeom>
          <a:noFill/>
          <a:ln>
            <a:noFill/>
          </a:ln>
        </p:spPr>
      </p:pic>
      <p:sp>
        <p:nvSpPr>
          <p:cNvPr id="100" name="Google Shape;100;p20"/>
          <p:cNvSpPr txBox="1">
            <a:spLocks noGrp="1"/>
          </p:cNvSpPr>
          <p:nvPr>
            <p:ph type="body" idx="1"/>
          </p:nvPr>
        </p:nvSpPr>
        <p:spPr>
          <a:xfrm>
            <a:off x="320843" y="4489296"/>
            <a:ext cx="10170694" cy="59055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600"/>
              </a:spcBef>
              <a:spcAft>
                <a:spcPts val="0"/>
              </a:spcAft>
              <a:buClr>
                <a:srgbClr val="224F76"/>
              </a:buClr>
              <a:buSzPts val="1800"/>
              <a:buFont typeface="Arial"/>
              <a:buNone/>
              <a:defRPr sz="1800" b="0" i="0" u="none" strike="noStrike" cap="none">
                <a:solidFill>
                  <a:srgbClr val="224F76"/>
                </a:solidFill>
                <a:latin typeface="Arimo"/>
                <a:ea typeface="Arimo"/>
                <a:cs typeface="Arimo"/>
                <a:sym typeface="Arimo"/>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1" name="Google Shape;101;p20"/>
          <p:cNvSpPr txBox="1"/>
          <p:nvPr/>
        </p:nvSpPr>
        <p:spPr>
          <a:xfrm>
            <a:off x="1852" y="6486920"/>
            <a:ext cx="402924" cy="3710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rgbClr val="888888"/>
                </a:solidFill>
                <a:latin typeface="Calibri"/>
                <a:ea typeface="Calibri"/>
                <a:cs typeface="Calibri"/>
                <a:sym typeface="Calibri"/>
              </a:rPr>
              <a:t>‹N°›</a:t>
            </a:fld>
            <a:endParaRPr sz="1200" b="0" i="0" u="none" strike="noStrike" cap="none">
              <a:solidFill>
                <a:srgbClr val="888888"/>
              </a:solidFill>
              <a:latin typeface="Calibri"/>
              <a:ea typeface="Calibri"/>
              <a:cs typeface="Calibri"/>
              <a:sym typeface="Calibri"/>
            </a:endParaRPr>
          </a:p>
        </p:txBody>
      </p:sp>
      <p:sp>
        <p:nvSpPr>
          <p:cNvPr id="102" name="Google Shape;102;p20"/>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1pPr>
            <a:lvl2pPr marL="0" marR="0" lvl="1"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2pPr>
            <a:lvl3pPr marL="0" marR="0" lvl="2"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3pPr>
            <a:lvl4pPr marL="0" marR="0" lvl="3"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4pPr>
            <a:lvl5pPr marL="0" marR="0" lvl="4"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5pPr>
            <a:lvl6pPr marL="0" marR="0" lvl="5"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6pPr>
            <a:lvl7pPr marL="0" marR="0" lvl="6"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7pPr>
            <a:lvl8pPr marL="0" marR="0" lvl="7"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8pPr>
            <a:lvl9pPr marL="0" marR="0" lvl="8" indent="0" algn="r">
              <a:lnSpc>
                <a:spcPct val="100000"/>
              </a:lnSpc>
              <a:spcBef>
                <a:spcPts val="0"/>
              </a:spcBef>
              <a:spcAft>
                <a:spcPts val="0"/>
              </a:spcAft>
              <a:buClr>
                <a:srgbClr val="000000"/>
              </a:buClr>
              <a:buSzPts val="1200"/>
              <a:buFont typeface="Arial"/>
              <a:buNone/>
              <a:defRPr sz="1300" b="0" i="0" u="none" strike="noStrike" cap="none">
                <a:solidFill>
                  <a:srgbClr val="224F76"/>
                </a:solidFill>
                <a:latin typeface="Arimo"/>
                <a:ea typeface="Arimo"/>
                <a:cs typeface="Arimo"/>
                <a:sym typeface="Arim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8_Titre 2">
  <p:cSld name="8_Titre 2">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296658" y="302898"/>
            <a:ext cx="11448302" cy="42777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253356"/>
              </a:buClr>
              <a:buSzPts val="2400"/>
              <a:buFont typeface="Verdana"/>
              <a:buNone/>
              <a:defRPr sz="2400" b="1" i="0" u="none" strike="noStrike" cap="none">
                <a:solidFill>
                  <a:srgbClr val="25335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105" name="Google Shape;105;p21"/>
          <p:cNvPicPr preferRelativeResize="0"/>
          <p:nvPr/>
        </p:nvPicPr>
        <p:blipFill rotWithShape="1">
          <a:blip r:embed="rId2">
            <a:alphaModFix/>
          </a:blip>
          <a:srcRect/>
          <a:stretch/>
        </p:blipFill>
        <p:spPr>
          <a:xfrm>
            <a:off x="0" y="930008"/>
            <a:ext cx="10587600" cy="34352"/>
          </a:xfrm>
          <a:prstGeom prst="rect">
            <a:avLst/>
          </a:prstGeom>
          <a:noFill/>
          <a:ln>
            <a:noFill/>
          </a:ln>
        </p:spPr>
      </p:pic>
      <p:sp>
        <p:nvSpPr>
          <p:cNvPr id="106" name="Google Shape;106;p21"/>
          <p:cNvSpPr txBox="1">
            <a:spLocks noGrp="1"/>
          </p:cNvSpPr>
          <p:nvPr>
            <p:ph type="dt" idx="10"/>
          </p:nvPr>
        </p:nvSpPr>
        <p:spPr>
          <a:xfrm>
            <a:off x="10547710" y="6486921"/>
            <a:ext cx="1197250" cy="37107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7" name="Google Shape;107;p21"/>
          <p:cNvSpPr txBox="1">
            <a:spLocks noGrp="1"/>
          </p:cNvSpPr>
          <p:nvPr>
            <p:ph type="sldNum" idx="12"/>
          </p:nvPr>
        </p:nvSpPr>
        <p:spPr>
          <a:xfrm>
            <a:off x="11744960" y="6486920"/>
            <a:ext cx="402924" cy="3710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9_Titre 2">
  <p:cSld name="9_Titre 2">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296658" y="302898"/>
            <a:ext cx="11448302" cy="42777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253356"/>
              </a:buClr>
              <a:buSzPts val="2400"/>
              <a:buFont typeface="Verdana"/>
              <a:buNone/>
              <a:defRPr sz="2400" b="1" i="0" u="none" strike="noStrike" cap="none">
                <a:solidFill>
                  <a:srgbClr val="253356"/>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110" name="Google Shape;110;p22"/>
          <p:cNvPicPr preferRelativeResize="0"/>
          <p:nvPr/>
        </p:nvPicPr>
        <p:blipFill rotWithShape="1">
          <a:blip r:embed="rId2">
            <a:alphaModFix/>
          </a:blip>
          <a:srcRect/>
          <a:stretch/>
        </p:blipFill>
        <p:spPr>
          <a:xfrm>
            <a:off x="0" y="930008"/>
            <a:ext cx="10587600" cy="34352"/>
          </a:xfrm>
          <a:prstGeom prst="rect">
            <a:avLst/>
          </a:prstGeom>
          <a:noFill/>
          <a:ln>
            <a:noFill/>
          </a:ln>
        </p:spPr>
      </p:pic>
      <p:sp>
        <p:nvSpPr>
          <p:cNvPr id="111" name="Google Shape;111;p22"/>
          <p:cNvSpPr>
            <a:spLocks noGrp="1"/>
          </p:cNvSpPr>
          <p:nvPr>
            <p:ph type="tbl" idx="2"/>
          </p:nvPr>
        </p:nvSpPr>
        <p:spPr>
          <a:xfrm>
            <a:off x="296863" y="1436688"/>
            <a:ext cx="11145837" cy="4877509"/>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2" name="Google Shape;112;p22"/>
          <p:cNvSpPr txBox="1">
            <a:spLocks noGrp="1"/>
          </p:cNvSpPr>
          <p:nvPr>
            <p:ph type="dt" idx="10"/>
          </p:nvPr>
        </p:nvSpPr>
        <p:spPr>
          <a:xfrm>
            <a:off x="10547710" y="6486921"/>
            <a:ext cx="1197250" cy="37107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3" name="Google Shape;113;p22"/>
          <p:cNvSpPr txBox="1">
            <a:spLocks noGrp="1"/>
          </p:cNvSpPr>
          <p:nvPr>
            <p:ph type="sldNum" idx="12"/>
          </p:nvPr>
        </p:nvSpPr>
        <p:spPr>
          <a:xfrm>
            <a:off x="11744960" y="6486920"/>
            <a:ext cx="402924" cy="3710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244d0e5f3f4_0_109"/>
          <p:cNvSpPr txBox="1">
            <a:spLocks noGrp="1"/>
          </p:cNvSpPr>
          <p:nvPr>
            <p:ph type="sldNum" idx="12"/>
          </p:nvPr>
        </p:nvSpPr>
        <p:spPr>
          <a:xfrm>
            <a:off x="9252284" y="648692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
        <p:cNvGrpSpPr/>
        <p:nvPr/>
      </p:nvGrpSpPr>
      <p:grpSpPr>
        <a:xfrm>
          <a:off x="0" y="0"/>
          <a:ext cx="0" cy="0"/>
          <a:chOff x="0" y="0"/>
          <a:chExt cx="0" cy="0"/>
        </a:xfrm>
      </p:grpSpPr>
      <p:sp>
        <p:nvSpPr>
          <p:cNvPr id="62" name="Google Shape;62;p14"/>
          <p:cNvSpPr txBox="1">
            <a:spLocks noGrp="1"/>
          </p:cNvSpPr>
          <p:nvPr>
            <p:ph type="sldNum" idx="12"/>
          </p:nvPr>
        </p:nvSpPr>
        <p:spPr>
          <a:xfrm>
            <a:off x="9252284" y="648692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11.png"/><Relationship Id="rId4" Type="http://schemas.openxmlformats.org/officeDocument/2006/relationships/image" Target="../media/image10.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6.xml"/><Relationship Id="rId7" Type="http://schemas.openxmlformats.org/officeDocument/2006/relationships/slideLayout" Target="../slideLayouts/slideLayout1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12.xml"/><Relationship Id="rId7" Type="http://schemas.openxmlformats.org/officeDocument/2006/relationships/slideLayout" Target="../slideLayouts/slideLayout11.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18.xml"/><Relationship Id="rId7" Type="http://schemas.openxmlformats.org/officeDocument/2006/relationships/slideLayout" Target="../slideLayouts/slideLayout11.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notesSlide" Target="../notesSlides/notesSlide7.xml"/><Relationship Id="rId5" Type="http://schemas.openxmlformats.org/officeDocument/2006/relationships/slideLayout" Target="../slideLayouts/slideLayout11.xml"/><Relationship Id="rId4" Type="http://schemas.openxmlformats.org/officeDocument/2006/relationships/tags" Target="../tags/tag25.xml"/></Relationships>
</file>

<file path=ppt/slides/_rels/slide8.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notesSlide" Target="../notesSlides/notesSlide8.xml"/><Relationship Id="rId5" Type="http://schemas.openxmlformats.org/officeDocument/2006/relationships/slideLayout" Target="../slideLayouts/slideLayout11.xml"/><Relationship Id="rId4" Type="http://schemas.openxmlformats.org/officeDocument/2006/relationships/tags" Target="../tags/tag29.xml"/></Relationships>
</file>

<file path=ppt/slides/_rels/slide9.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notesSlide" Target="../notesSlides/notesSlide9.xml"/><Relationship Id="rId5" Type="http://schemas.openxmlformats.org/officeDocument/2006/relationships/slideLayout" Target="../slideLayouts/slideLayout11.xml"/><Relationship Id="rId4" Type="http://schemas.openxmlformats.org/officeDocument/2006/relationships/tags" Target="../tags/tag33.xml"/></Relationships>
</file>

<file path=ppt/slides/_rels/slide10.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notesSlide" Target="../notesSlides/notesSlide10.xml"/><Relationship Id="rId5" Type="http://schemas.openxmlformats.org/officeDocument/2006/relationships/slideLayout" Target="../slideLayouts/slideLayout11.xml"/><Relationship Id="rId4" Type="http://schemas.openxmlformats.org/officeDocument/2006/relationships/tags" Target="../tags/tag3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tags" Target="../tags/tag38.xml"/></Relationships>
</file>

<file path=ppt/slides/_rels/slide12.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notesSlide" Target="../notesSlides/notesSlide12.xml"/><Relationship Id="rId5" Type="http://schemas.openxmlformats.org/officeDocument/2006/relationships/slideLayout" Target="../slideLayouts/slideLayout11.xml"/><Relationship Id="rId4" Type="http://schemas.openxmlformats.org/officeDocument/2006/relationships/tags" Target="../tags/tag42.xml"/></Relationships>
</file>

<file path=ppt/slides/_rels/slide13.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notesSlide" Target="../notesSlides/notesSlide13.xml"/><Relationship Id="rId5" Type="http://schemas.openxmlformats.org/officeDocument/2006/relationships/slideLayout" Target="../slideLayouts/slideLayout11.xml"/><Relationship Id="rId4" Type="http://schemas.openxmlformats.org/officeDocument/2006/relationships/tags" Target="../tags/tag46.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49.xml"/><Relationship Id="rId7" Type="http://schemas.openxmlformats.org/officeDocument/2006/relationships/notesSlide" Target="../notesSlides/notesSlide14.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Layout" Target="../slideLayouts/slideLayout11.xml"/><Relationship Id="rId5" Type="http://schemas.openxmlformats.org/officeDocument/2006/relationships/tags" Target="../tags/tag51.xml"/><Relationship Id="rId4" Type="http://schemas.openxmlformats.org/officeDocument/2006/relationships/tags" Target="../tags/tag50.xml"/></Relationships>
</file>

<file path=ppt/slides/_rels/slide1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54.xml"/><Relationship Id="rId7" Type="http://schemas.openxmlformats.org/officeDocument/2006/relationships/notesSlide" Target="../notesSlides/notesSlide15.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slideLayout" Target="../slideLayouts/slideLayout11.xml"/><Relationship Id="rId5" Type="http://schemas.openxmlformats.org/officeDocument/2006/relationships/tags" Target="../tags/tag56.xml"/><Relationship Id="rId4" Type="http://schemas.openxmlformats.org/officeDocument/2006/relationships/tags" Target="../tags/tag55.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59.xml"/><Relationship Id="rId7" Type="http://schemas.openxmlformats.org/officeDocument/2006/relationships/notesSlide" Target="../notesSlides/notesSlide16.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Layout" Target="../slideLayouts/slideLayout11.xml"/><Relationship Id="rId5" Type="http://schemas.openxmlformats.org/officeDocument/2006/relationships/tags" Target="../tags/tag61.xml"/><Relationship Id="rId4" Type="http://schemas.openxmlformats.org/officeDocument/2006/relationships/tags" Target="../tags/tag6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1.xml"/><Relationship Id="rId1" Type="http://schemas.openxmlformats.org/officeDocument/2006/relationships/tags" Target="../tags/tag6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1.xml"/><Relationship Id="rId1" Type="http://schemas.openxmlformats.org/officeDocument/2006/relationships/tags" Target="../tags/tag63.xml"/><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1.xml"/><Relationship Id="rId1" Type="http://schemas.openxmlformats.org/officeDocument/2006/relationships/tags" Target="../tags/tag64.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1.xml"/><Relationship Id="rId1" Type="http://schemas.openxmlformats.org/officeDocument/2006/relationships/tags" Target="../tags/tag65.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1.xml"/><Relationship Id="rId1" Type="http://schemas.openxmlformats.org/officeDocument/2006/relationships/tags" Target="../tags/tag6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1.xml"/><Relationship Id="rId1" Type="http://schemas.openxmlformats.org/officeDocument/2006/relationships/tags" Target="../tags/tag67.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hyperlink" Target="https://git.efficacity.eu/qbc/projects/common/time-series-data-cleaner" TargetMode="External"/><Relationship Id="rId2" Type="http://schemas.openxmlformats.org/officeDocument/2006/relationships/slideLayout" Target="../slideLayouts/slideLayout11.xml"/><Relationship Id="rId1" Type="http://schemas.openxmlformats.org/officeDocument/2006/relationships/tags" Target="../tags/tag68.xml"/><Relationship Id="rId6" Type="http://schemas.openxmlformats.org/officeDocument/2006/relationships/hyperlink" Target="https://doi.org/10.1016/j.apenergy.2017.12.005." TargetMode="External"/><Relationship Id="rId5" Type="http://schemas.openxmlformats.org/officeDocument/2006/relationships/hyperlink" Target="https://doi.org/10.1016/j.apenergy.2014.09.022." TargetMode="External"/><Relationship Id="rId4" Type="http://schemas.openxmlformats.org/officeDocument/2006/relationships/hyperlink" Target="mailto:c.wang@efficacity.com" TargetMode="Externa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69.xml"/></Relationships>
</file>

<file path=ppt/slides/_rels/slide25.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notesSlide" Target="../notesSlides/notesSlide24.xml"/><Relationship Id="rId5" Type="http://schemas.openxmlformats.org/officeDocument/2006/relationships/slideLayout" Target="../slideLayouts/slideLayout11.xml"/><Relationship Id="rId4" Type="http://schemas.openxmlformats.org/officeDocument/2006/relationships/tags" Target="../tags/tag73.xml"/></Relationships>
</file>

<file path=ppt/slides/_rels/slide26.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notesSlide" Target="../notesSlides/notesSlide25.xml"/><Relationship Id="rId5" Type="http://schemas.openxmlformats.org/officeDocument/2006/relationships/slideLayout" Target="../slideLayouts/slideLayout11.xml"/><Relationship Id="rId4" Type="http://schemas.openxmlformats.org/officeDocument/2006/relationships/tags" Target="../tags/tag77.xml"/></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tags" Target="../tags/tag80.xml"/><Relationship Id="rId7" Type="http://schemas.openxmlformats.org/officeDocument/2006/relationships/tags" Target="../tags/tag84.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9"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8" Type="http://schemas.openxmlformats.org/officeDocument/2006/relationships/tags" Target="../tags/tag92.xml"/><Relationship Id="rId3" Type="http://schemas.openxmlformats.org/officeDocument/2006/relationships/tags" Target="../tags/tag87.xml"/><Relationship Id="rId7" Type="http://schemas.openxmlformats.org/officeDocument/2006/relationships/tags" Target="../tags/tag91.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5" Type="http://schemas.openxmlformats.org/officeDocument/2006/relationships/tags" Target="../tags/tag89.xml"/><Relationship Id="rId10" Type="http://schemas.openxmlformats.org/officeDocument/2006/relationships/notesSlide" Target="../notesSlides/notesSlide27.xml"/><Relationship Id="rId4" Type="http://schemas.openxmlformats.org/officeDocument/2006/relationships/tags" Target="../tags/tag88.xml"/><Relationship Id="rId9"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8" Type="http://schemas.openxmlformats.org/officeDocument/2006/relationships/tags" Target="../tags/tag100.xml"/><Relationship Id="rId3" Type="http://schemas.openxmlformats.org/officeDocument/2006/relationships/tags" Target="../tags/tag95.xml"/><Relationship Id="rId7" Type="http://schemas.openxmlformats.org/officeDocument/2006/relationships/tags" Target="../tags/tag99.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notesSlide" Target="../notesSlides/notesSlide28.xml"/><Relationship Id="rId5" Type="http://schemas.openxmlformats.org/officeDocument/2006/relationships/tags" Target="../tags/tag97.xml"/><Relationship Id="rId10" Type="http://schemas.openxmlformats.org/officeDocument/2006/relationships/slideLayout" Target="../slideLayouts/slideLayout11.xml"/><Relationship Id="rId4" Type="http://schemas.openxmlformats.org/officeDocument/2006/relationships/tags" Target="../tags/tag96.xml"/><Relationship Id="rId9" Type="http://schemas.openxmlformats.org/officeDocument/2006/relationships/tags" Target="../tags/tag101.xml"/></Relationships>
</file>

<file path=ppt/slides/_rels/slide30.xml.rels><?xml version="1.0" encoding="UTF-8" standalone="yes"?>
<Relationships xmlns="http://schemas.openxmlformats.org/package/2006/relationships"><Relationship Id="rId8" Type="http://schemas.openxmlformats.org/officeDocument/2006/relationships/tags" Target="../tags/tag109.xml"/><Relationship Id="rId13" Type="http://schemas.openxmlformats.org/officeDocument/2006/relationships/notesSlide" Target="../notesSlides/notesSlide29.xml"/><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slideLayout" Target="../slideLayouts/slideLayout11.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tags" Target="../tags/tag112.xml"/><Relationship Id="rId5" Type="http://schemas.openxmlformats.org/officeDocument/2006/relationships/tags" Target="../tags/tag106.xml"/><Relationship Id="rId10" Type="http://schemas.openxmlformats.org/officeDocument/2006/relationships/tags" Target="../tags/tag111.xml"/><Relationship Id="rId4" Type="http://schemas.openxmlformats.org/officeDocument/2006/relationships/tags" Target="../tags/tag105.xml"/><Relationship Id="rId9" Type="http://schemas.openxmlformats.org/officeDocument/2006/relationships/tags" Target="../tags/tag110.xml"/></Relationships>
</file>

<file path=ppt/slides/_rels/slide31.xml.rels><?xml version="1.0" encoding="UTF-8" standalone="yes"?>
<Relationships xmlns="http://schemas.openxmlformats.org/package/2006/relationships"><Relationship Id="rId8" Type="http://schemas.openxmlformats.org/officeDocument/2006/relationships/tags" Target="../tags/tag120.xml"/><Relationship Id="rId3" Type="http://schemas.openxmlformats.org/officeDocument/2006/relationships/tags" Target="../tags/tag115.xml"/><Relationship Id="rId7" Type="http://schemas.openxmlformats.org/officeDocument/2006/relationships/tags" Target="../tags/tag119.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5" Type="http://schemas.openxmlformats.org/officeDocument/2006/relationships/tags" Target="../tags/tag117.xml"/><Relationship Id="rId10" Type="http://schemas.openxmlformats.org/officeDocument/2006/relationships/notesSlide" Target="../notesSlides/notesSlide30.xml"/><Relationship Id="rId4" Type="http://schemas.openxmlformats.org/officeDocument/2006/relationships/tags" Target="../tags/tag116.xml"/><Relationship Id="rId9"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8" Type="http://schemas.openxmlformats.org/officeDocument/2006/relationships/tags" Target="../tags/tag128.xml"/><Relationship Id="rId3" Type="http://schemas.openxmlformats.org/officeDocument/2006/relationships/tags" Target="../tags/tag123.xml"/><Relationship Id="rId7" Type="http://schemas.openxmlformats.org/officeDocument/2006/relationships/tags" Target="../tags/tag127.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notesSlide" Target="../notesSlides/notesSlide31.xml"/><Relationship Id="rId5" Type="http://schemas.openxmlformats.org/officeDocument/2006/relationships/tags" Target="../tags/tag125.xml"/><Relationship Id="rId10" Type="http://schemas.openxmlformats.org/officeDocument/2006/relationships/slideLayout" Target="../slideLayouts/slideLayout11.xml"/><Relationship Id="rId4" Type="http://schemas.openxmlformats.org/officeDocument/2006/relationships/tags" Target="../tags/tag124.xml"/><Relationship Id="rId9" Type="http://schemas.openxmlformats.org/officeDocument/2006/relationships/tags" Target="../tags/tag129.xml"/></Relationships>
</file>

<file path=ppt/slides/_rels/slide33.xml.rels><?xml version="1.0" encoding="UTF-8" standalone="yes"?>
<Relationships xmlns="http://schemas.openxmlformats.org/package/2006/relationships"><Relationship Id="rId8" Type="http://schemas.openxmlformats.org/officeDocument/2006/relationships/tags" Target="../tags/tag137.xml"/><Relationship Id="rId13" Type="http://schemas.openxmlformats.org/officeDocument/2006/relationships/tags" Target="../tags/tag142.xml"/><Relationship Id="rId3" Type="http://schemas.openxmlformats.org/officeDocument/2006/relationships/tags" Target="../tags/tag132.xml"/><Relationship Id="rId7" Type="http://schemas.openxmlformats.org/officeDocument/2006/relationships/tags" Target="../tags/tag136.xml"/><Relationship Id="rId12" Type="http://schemas.openxmlformats.org/officeDocument/2006/relationships/tags" Target="../tags/tag141.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tags" Target="../tags/tag135.xml"/><Relationship Id="rId11" Type="http://schemas.openxmlformats.org/officeDocument/2006/relationships/tags" Target="../tags/tag140.xml"/><Relationship Id="rId5" Type="http://schemas.openxmlformats.org/officeDocument/2006/relationships/tags" Target="../tags/tag134.xml"/><Relationship Id="rId15" Type="http://schemas.openxmlformats.org/officeDocument/2006/relationships/notesSlide" Target="../notesSlides/notesSlide32.xml"/><Relationship Id="rId10" Type="http://schemas.openxmlformats.org/officeDocument/2006/relationships/tags" Target="../tags/tag139.xml"/><Relationship Id="rId4" Type="http://schemas.openxmlformats.org/officeDocument/2006/relationships/tags" Target="../tags/tag133.xml"/><Relationship Id="rId9" Type="http://schemas.openxmlformats.org/officeDocument/2006/relationships/tags" Target="../tags/tag138.xml"/><Relationship Id="rId14"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3.xml"/><Relationship Id="rId3" Type="http://schemas.openxmlformats.org/officeDocument/2006/relationships/tags" Target="../tags/tag145.xml"/><Relationship Id="rId7" Type="http://schemas.openxmlformats.org/officeDocument/2006/relationships/slideLayout" Target="../slideLayouts/slideLayout11.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9" Type="http://schemas.openxmlformats.org/officeDocument/2006/relationships/image" Target="../media/image19.png"/></Relationships>
</file>

<file path=ppt/slides/_rels/slide35.xml.rels><?xml version="1.0" encoding="UTF-8" standalone="yes"?>
<Relationships xmlns="http://schemas.openxmlformats.org/package/2006/relationships"><Relationship Id="rId8" Type="http://schemas.openxmlformats.org/officeDocument/2006/relationships/tags" Target="../tags/tag156.xml"/><Relationship Id="rId13" Type="http://schemas.openxmlformats.org/officeDocument/2006/relationships/image" Target="../media/image19.png"/><Relationship Id="rId3" Type="http://schemas.openxmlformats.org/officeDocument/2006/relationships/tags" Target="../tags/tag151.xml"/><Relationship Id="rId7" Type="http://schemas.openxmlformats.org/officeDocument/2006/relationships/tags" Target="../tags/tag155.xml"/><Relationship Id="rId12" Type="http://schemas.openxmlformats.org/officeDocument/2006/relationships/notesSlide" Target="../notesSlides/notesSlide34.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tags" Target="../tags/tag154.xml"/><Relationship Id="rId11" Type="http://schemas.openxmlformats.org/officeDocument/2006/relationships/slideLayout" Target="../slideLayouts/slideLayout11.xml"/><Relationship Id="rId5" Type="http://schemas.openxmlformats.org/officeDocument/2006/relationships/tags" Target="../tags/tag153.xml"/><Relationship Id="rId10" Type="http://schemas.openxmlformats.org/officeDocument/2006/relationships/tags" Target="../tags/tag158.xml"/><Relationship Id="rId4" Type="http://schemas.openxmlformats.org/officeDocument/2006/relationships/tags" Target="../tags/tag152.xml"/><Relationship Id="rId9" Type="http://schemas.openxmlformats.org/officeDocument/2006/relationships/tags" Target="../tags/tag157.xml"/></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35.xml"/><Relationship Id="rId3" Type="http://schemas.openxmlformats.org/officeDocument/2006/relationships/tags" Target="../tags/tag161.xml"/><Relationship Id="rId7" Type="http://schemas.openxmlformats.org/officeDocument/2006/relationships/slideLayout" Target="../slideLayouts/slideLayout11.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9" Type="http://schemas.openxmlformats.org/officeDocument/2006/relationships/image" Target="../media/image20.jpeg"/></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tags" Target="../tags/tag167.xml"/><Relationship Id="rId7" Type="http://schemas.openxmlformats.org/officeDocument/2006/relationships/tags" Target="../tags/tag171.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tags" Target="../tags/tag170.xml"/><Relationship Id="rId5" Type="http://schemas.openxmlformats.org/officeDocument/2006/relationships/tags" Target="../tags/tag169.xml"/><Relationship Id="rId10" Type="http://schemas.openxmlformats.org/officeDocument/2006/relationships/image" Target="../media/image20.jpeg"/><Relationship Id="rId4" Type="http://schemas.openxmlformats.org/officeDocument/2006/relationships/tags" Target="../tags/tag168.xml"/><Relationship Id="rId9"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8" Type="http://schemas.openxmlformats.org/officeDocument/2006/relationships/tags" Target="../tags/tag179.xml"/><Relationship Id="rId3" Type="http://schemas.openxmlformats.org/officeDocument/2006/relationships/tags" Target="../tags/tag174.xml"/><Relationship Id="rId7" Type="http://schemas.openxmlformats.org/officeDocument/2006/relationships/tags" Target="../tags/tag178.xml"/><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tags" Target="../tags/tag177.xml"/><Relationship Id="rId11" Type="http://schemas.openxmlformats.org/officeDocument/2006/relationships/image" Target="../media/image20.jpeg"/><Relationship Id="rId5" Type="http://schemas.openxmlformats.org/officeDocument/2006/relationships/tags" Target="../tags/tag176.xml"/><Relationship Id="rId10" Type="http://schemas.openxmlformats.org/officeDocument/2006/relationships/notesSlide" Target="../notesSlides/notesSlide37.xml"/><Relationship Id="rId4" Type="http://schemas.openxmlformats.org/officeDocument/2006/relationships/tags" Target="../tags/tag175.xml"/><Relationship Id="rId9"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8" Type="http://schemas.openxmlformats.org/officeDocument/2006/relationships/tags" Target="../tags/tag187.xml"/><Relationship Id="rId13" Type="http://schemas.openxmlformats.org/officeDocument/2006/relationships/image" Target="../media/image20.jpeg"/><Relationship Id="rId3" Type="http://schemas.openxmlformats.org/officeDocument/2006/relationships/tags" Target="../tags/tag182.xml"/><Relationship Id="rId7" Type="http://schemas.openxmlformats.org/officeDocument/2006/relationships/tags" Target="../tags/tag186.xml"/><Relationship Id="rId12" Type="http://schemas.openxmlformats.org/officeDocument/2006/relationships/notesSlide" Target="../notesSlides/notesSlide38.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tags" Target="../tags/tag185.xml"/><Relationship Id="rId11" Type="http://schemas.openxmlformats.org/officeDocument/2006/relationships/slideLayout" Target="../slideLayouts/slideLayout11.xml"/><Relationship Id="rId5" Type="http://schemas.openxmlformats.org/officeDocument/2006/relationships/tags" Target="../tags/tag184.xml"/><Relationship Id="rId10" Type="http://schemas.openxmlformats.org/officeDocument/2006/relationships/tags" Target="../tags/tag189.xml"/><Relationship Id="rId4" Type="http://schemas.openxmlformats.org/officeDocument/2006/relationships/tags" Target="../tags/tag183.xml"/><Relationship Id="rId9" Type="http://schemas.openxmlformats.org/officeDocument/2006/relationships/tags" Target="../tags/tag18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1.xml"/><Relationship Id="rId1" Type="http://schemas.openxmlformats.org/officeDocument/2006/relationships/tags" Target="../tags/tag190.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tags" Target="../tags/tag19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1.xml"/><Relationship Id="rId1" Type="http://schemas.openxmlformats.org/officeDocument/2006/relationships/tags" Target="../tags/tag19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2.xml"/><Relationship Id="rId1" Type="http://schemas.openxmlformats.org/officeDocument/2006/relationships/tags" Target="../tags/tag1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2cf4cb65bdb_0_0"/>
          <p:cNvSpPr txBox="1">
            <a:spLocks noGrp="1"/>
          </p:cNvSpPr>
          <p:nvPr>
            <p:ph type="title"/>
          </p:nvPr>
        </p:nvSpPr>
        <p:spPr>
          <a:xfrm>
            <a:off x="717218" y="2833181"/>
            <a:ext cx="8424706" cy="1562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253356"/>
              </a:buClr>
              <a:buSzPts val="4000"/>
              <a:buFont typeface="Verdana"/>
              <a:buNone/>
            </a:pPr>
            <a:r>
              <a:rPr lang="fr-FR" sz="2800" dirty="0"/>
              <a:t>Challenge de données dans la validation systématique d’UBEM : </a:t>
            </a:r>
            <a:br>
              <a:rPr lang="fr-FR" sz="2800" dirty="0"/>
            </a:br>
            <a:r>
              <a:rPr lang="fr-FR" sz="2800" dirty="0"/>
              <a:t>l’interprétabilité et la complétude de données</a:t>
            </a:r>
            <a:endParaRPr sz="2800" dirty="0"/>
          </a:p>
        </p:txBody>
      </p:sp>
      <p:sp>
        <p:nvSpPr>
          <p:cNvPr id="119" name="Google Shape;119;g2cf4cb65bdb_0_0"/>
          <p:cNvSpPr txBox="1">
            <a:spLocks noGrp="1"/>
          </p:cNvSpPr>
          <p:nvPr>
            <p:ph type="body" idx="1"/>
          </p:nvPr>
        </p:nvSpPr>
        <p:spPr>
          <a:xfrm>
            <a:off x="4714500" y="5699675"/>
            <a:ext cx="2763000" cy="4875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143F6A"/>
              </a:buClr>
              <a:buSzPts val="2400"/>
              <a:buNone/>
            </a:pPr>
            <a:r>
              <a:rPr lang="fr-FR" dirty="0"/>
              <a:t>23 juin 2025</a:t>
            </a:r>
            <a:endParaRPr dirty="0"/>
          </a:p>
        </p:txBody>
      </p:sp>
      <p:pic>
        <p:nvPicPr>
          <p:cNvPr id="120" name="Google Shape;120;g2cf4cb65bdb_0_0" descr="Une image contenant dessin&#10;&#10;Description générée avec un niveau de confiance très élevé"/>
          <p:cNvPicPr preferRelativeResize="0"/>
          <p:nvPr/>
        </p:nvPicPr>
        <p:blipFill rotWithShape="1">
          <a:blip r:embed="rId4">
            <a:alphaModFix/>
          </a:blip>
          <a:srcRect/>
          <a:stretch/>
        </p:blipFill>
        <p:spPr>
          <a:xfrm>
            <a:off x="9141924" y="2567917"/>
            <a:ext cx="2594100" cy="1103633"/>
          </a:xfrm>
          <a:prstGeom prst="rect">
            <a:avLst/>
          </a:prstGeom>
          <a:noFill/>
          <a:ln>
            <a:noFill/>
          </a:ln>
        </p:spPr>
      </p:pic>
      <p:pic>
        <p:nvPicPr>
          <p:cNvPr id="121" name="Google Shape;121;g2cf4cb65bdb_0_0"/>
          <p:cNvPicPr preferRelativeResize="0"/>
          <p:nvPr/>
        </p:nvPicPr>
        <p:blipFill rotWithShape="1">
          <a:blip r:embed="rId5">
            <a:alphaModFix/>
          </a:blip>
          <a:srcRect/>
          <a:stretch/>
        </p:blipFill>
        <p:spPr>
          <a:xfrm>
            <a:off x="8790449" y="4039101"/>
            <a:ext cx="3297050" cy="2148075"/>
          </a:xfrm>
          <a:prstGeom prst="rect">
            <a:avLst/>
          </a:prstGeom>
          <a:noFill/>
          <a:ln>
            <a:noFill/>
          </a:ln>
        </p:spPr>
      </p:pic>
      <p:sp>
        <p:nvSpPr>
          <p:cNvPr id="122" name="Google Shape;122;g2cf4cb65bdb_0_0"/>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r>
              <a:rPr lang="fr-FR"/>
              <a:t>1</a:t>
            </a:r>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
          <p:cNvSpPr txBox="1">
            <a:spLocks noGrp="1"/>
          </p:cNvSpPr>
          <p:nvPr>
            <p:ph type="title"/>
          </p:nvPr>
        </p:nvSpPr>
        <p:spPr>
          <a:xfrm>
            <a:off x="0" y="2676904"/>
            <a:ext cx="3281680" cy="115802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143F6A"/>
              </a:buClr>
              <a:buSzPts val="3600"/>
              <a:buFont typeface="Verdana"/>
              <a:buNone/>
            </a:pPr>
            <a:r>
              <a:rPr lang="fr-FR" sz="3200"/>
              <a:t>Sommaire</a:t>
            </a:r>
            <a:endParaRPr sz="3200"/>
          </a:p>
        </p:txBody>
      </p:sp>
      <p:grpSp>
        <p:nvGrpSpPr>
          <p:cNvPr id="128" name="Google Shape;128;p2"/>
          <p:cNvGrpSpPr/>
          <p:nvPr/>
        </p:nvGrpSpPr>
        <p:grpSpPr>
          <a:xfrm>
            <a:off x="3345810" y="1432825"/>
            <a:ext cx="6871141" cy="1003078"/>
            <a:chOff x="3514725" y="1100306"/>
            <a:chExt cx="8639685" cy="1261257"/>
          </a:xfrm>
        </p:grpSpPr>
        <p:sp>
          <p:nvSpPr>
            <p:cNvPr id="129" name="Google Shape;129;p2"/>
            <p:cNvSpPr/>
            <p:nvPr/>
          </p:nvSpPr>
          <p:spPr>
            <a:xfrm>
              <a:off x="3514725" y="1439364"/>
              <a:ext cx="447675" cy="583112"/>
            </a:xfrm>
            <a:custGeom>
              <a:avLst/>
              <a:gdLst/>
              <a:ahLst/>
              <a:cxnLst/>
              <a:rect l="l" t="t" r="r" b="b"/>
              <a:pathLst>
                <a:path w="935488" h="1388738" extrusionOk="0">
                  <a:moveTo>
                    <a:pt x="0" y="0"/>
                  </a:moveTo>
                  <a:lnTo>
                    <a:pt x="935488" y="0"/>
                  </a:lnTo>
                  <a:lnTo>
                    <a:pt x="935488" y="1388738"/>
                  </a:lnTo>
                  <a:lnTo>
                    <a:pt x="0" y="1388738"/>
                  </a:lnTo>
                  <a:lnTo>
                    <a:pt x="0" y="0"/>
                  </a:lnTo>
                  <a:close/>
                </a:path>
              </a:pathLst>
            </a:custGeom>
            <a:noFill/>
            <a:ln>
              <a:noFill/>
            </a:ln>
          </p:spPr>
          <p:txBody>
            <a:bodyPr spcFirstLastPara="1" wrap="square" lIns="106675" tIns="106675" rIns="106675" bIns="106675" anchor="t" anchorCtr="0">
              <a:noAutofit/>
            </a:bodyPr>
            <a:lstStyle/>
            <a:p>
              <a:pPr marL="0" marR="0" lvl="0" indent="0" algn="l" rtl="0">
                <a:lnSpc>
                  <a:spcPct val="90000"/>
                </a:lnSpc>
                <a:spcBef>
                  <a:spcPts val="0"/>
                </a:spcBef>
                <a:spcAft>
                  <a:spcPts val="0"/>
                </a:spcAft>
                <a:buClr>
                  <a:srgbClr val="143F6A"/>
                </a:buClr>
                <a:buSzPts val="2800"/>
                <a:buFont typeface="Calibri"/>
                <a:buNone/>
              </a:pPr>
              <a:r>
                <a:rPr lang="fr-FR" sz="2800" b="0" i="0" u="none" strike="noStrike" cap="none">
                  <a:solidFill>
                    <a:srgbClr val="143F6A"/>
                  </a:solidFill>
                  <a:latin typeface="Calibri"/>
                  <a:ea typeface="Calibri"/>
                  <a:cs typeface="Calibri"/>
                  <a:sym typeface="Calibri"/>
                </a:rPr>
                <a:t>1</a:t>
              </a:r>
              <a:endParaRPr sz="1400" b="0" i="0" u="none" strike="noStrike" cap="none">
                <a:solidFill>
                  <a:srgbClr val="000000"/>
                </a:solidFill>
                <a:latin typeface="Arial"/>
                <a:ea typeface="Arial"/>
                <a:cs typeface="Arial"/>
                <a:sym typeface="Arial"/>
              </a:endParaRPr>
            </a:p>
          </p:txBody>
        </p:sp>
        <p:sp>
          <p:nvSpPr>
            <p:cNvPr id="130" name="Google Shape;130;p2"/>
            <p:cNvSpPr/>
            <p:nvPr/>
          </p:nvSpPr>
          <p:spPr>
            <a:xfrm>
              <a:off x="4290426" y="1100306"/>
              <a:ext cx="7863984" cy="1261257"/>
            </a:xfrm>
            <a:custGeom>
              <a:avLst/>
              <a:gdLst/>
              <a:ahLst/>
              <a:cxnLst/>
              <a:rect l="l" t="t" r="r" b="b"/>
              <a:pathLst>
                <a:path w="7507383" h="1261257" extrusionOk="0">
                  <a:moveTo>
                    <a:pt x="0" y="0"/>
                  </a:moveTo>
                  <a:lnTo>
                    <a:pt x="7507383" y="0"/>
                  </a:lnTo>
                  <a:lnTo>
                    <a:pt x="7507383" y="1261257"/>
                  </a:lnTo>
                  <a:lnTo>
                    <a:pt x="0" y="1261257"/>
                  </a:lnTo>
                  <a:lnTo>
                    <a:pt x="0" y="0"/>
                  </a:lnTo>
                  <a:close/>
                </a:path>
              </a:pathLst>
            </a:custGeom>
            <a:noFill/>
            <a:ln>
              <a:noFill/>
            </a:ln>
          </p:spPr>
          <p:txBody>
            <a:bodyPr spcFirstLastPara="1" wrap="square" lIns="106675" tIns="106675" rIns="106675" bIns="106675" anchor="ctr" anchorCtr="0">
              <a:noAutofit/>
            </a:bodyPr>
            <a:lstStyle/>
            <a:p>
              <a:pPr marL="0" marR="0" lvl="0" indent="0" algn="l" rtl="0">
                <a:lnSpc>
                  <a:spcPct val="100000"/>
                </a:lnSpc>
                <a:spcBef>
                  <a:spcPts val="0"/>
                </a:spcBef>
                <a:spcAft>
                  <a:spcPts val="0"/>
                </a:spcAft>
                <a:buClr>
                  <a:srgbClr val="143F6A"/>
                </a:buClr>
                <a:buSzPts val="2400"/>
                <a:buFont typeface="Verdana"/>
                <a:buNone/>
              </a:pPr>
              <a:r>
                <a:rPr lang="fr-FR" sz="2400" b="1">
                  <a:solidFill>
                    <a:srgbClr val="143F6A"/>
                  </a:solidFill>
                  <a:latin typeface="Verdana"/>
                  <a:ea typeface="Verdana"/>
                  <a:cs typeface="Verdana"/>
                  <a:sym typeface="Verdana"/>
                </a:rPr>
                <a:t>Introduction</a:t>
              </a:r>
              <a:endParaRPr sz="1400" b="0" i="0" u="none" strike="noStrike" cap="none">
                <a:solidFill>
                  <a:srgbClr val="000000"/>
                </a:solidFill>
                <a:latin typeface="Arial"/>
                <a:ea typeface="Arial"/>
                <a:cs typeface="Arial"/>
                <a:sym typeface="Arial"/>
              </a:endParaRPr>
            </a:p>
          </p:txBody>
        </p:sp>
      </p:grpSp>
      <p:grpSp>
        <p:nvGrpSpPr>
          <p:cNvPr id="131" name="Google Shape;131;p2"/>
          <p:cNvGrpSpPr/>
          <p:nvPr/>
        </p:nvGrpSpPr>
        <p:grpSpPr>
          <a:xfrm>
            <a:off x="3345810" y="3363850"/>
            <a:ext cx="7826441" cy="1003078"/>
            <a:chOff x="3514725" y="1100300"/>
            <a:chExt cx="9840866" cy="1261257"/>
          </a:xfrm>
        </p:grpSpPr>
        <p:sp>
          <p:nvSpPr>
            <p:cNvPr id="132" name="Google Shape;132;p2"/>
            <p:cNvSpPr/>
            <p:nvPr/>
          </p:nvSpPr>
          <p:spPr>
            <a:xfrm>
              <a:off x="3514725" y="1439364"/>
              <a:ext cx="447675" cy="583112"/>
            </a:xfrm>
            <a:custGeom>
              <a:avLst/>
              <a:gdLst/>
              <a:ahLst/>
              <a:cxnLst/>
              <a:rect l="l" t="t" r="r" b="b"/>
              <a:pathLst>
                <a:path w="935488" h="1388738" extrusionOk="0">
                  <a:moveTo>
                    <a:pt x="0" y="0"/>
                  </a:moveTo>
                  <a:lnTo>
                    <a:pt x="935488" y="0"/>
                  </a:lnTo>
                  <a:lnTo>
                    <a:pt x="935488" y="1388738"/>
                  </a:lnTo>
                  <a:lnTo>
                    <a:pt x="0" y="1388738"/>
                  </a:lnTo>
                  <a:lnTo>
                    <a:pt x="0" y="0"/>
                  </a:lnTo>
                  <a:close/>
                </a:path>
              </a:pathLst>
            </a:custGeom>
            <a:noFill/>
            <a:ln>
              <a:noFill/>
            </a:ln>
          </p:spPr>
          <p:txBody>
            <a:bodyPr spcFirstLastPara="1" wrap="square" lIns="106675" tIns="106675" rIns="106675" bIns="106675" anchor="t" anchorCtr="0">
              <a:noAutofit/>
            </a:bodyPr>
            <a:lstStyle/>
            <a:p>
              <a:pPr marL="0" marR="0" lvl="0" indent="0" algn="l" rtl="0">
                <a:lnSpc>
                  <a:spcPct val="90000"/>
                </a:lnSpc>
                <a:spcBef>
                  <a:spcPts val="0"/>
                </a:spcBef>
                <a:spcAft>
                  <a:spcPts val="0"/>
                </a:spcAft>
                <a:buClr>
                  <a:srgbClr val="143F6A"/>
                </a:buClr>
                <a:buSzPts val="2800"/>
                <a:buFont typeface="Calibri"/>
                <a:buNone/>
              </a:pPr>
              <a:r>
                <a:rPr lang="fr-FR" sz="2800" b="0" i="0" u="none" strike="noStrike" cap="none">
                  <a:solidFill>
                    <a:srgbClr val="143F6A"/>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133" name="Google Shape;133;p2"/>
            <p:cNvSpPr/>
            <p:nvPr/>
          </p:nvSpPr>
          <p:spPr>
            <a:xfrm>
              <a:off x="4290426" y="1100300"/>
              <a:ext cx="9065165" cy="1261257"/>
            </a:xfrm>
            <a:custGeom>
              <a:avLst/>
              <a:gdLst/>
              <a:ahLst/>
              <a:cxnLst/>
              <a:rect l="l" t="t" r="r" b="b"/>
              <a:pathLst>
                <a:path w="7507383" h="1261257" extrusionOk="0">
                  <a:moveTo>
                    <a:pt x="0" y="0"/>
                  </a:moveTo>
                  <a:lnTo>
                    <a:pt x="7507383" y="0"/>
                  </a:lnTo>
                  <a:lnTo>
                    <a:pt x="7507383" y="1261257"/>
                  </a:lnTo>
                  <a:lnTo>
                    <a:pt x="0" y="1261257"/>
                  </a:lnTo>
                  <a:lnTo>
                    <a:pt x="0" y="0"/>
                  </a:lnTo>
                  <a:close/>
                </a:path>
              </a:pathLst>
            </a:custGeom>
            <a:noFill/>
            <a:ln>
              <a:noFill/>
            </a:ln>
          </p:spPr>
          <p:txBody>
            <a:bodyPr spcFirstLastPara="1" wrap="square" lIns="106675" tIns="106675" rIns="106675" bIns="106675" anchor="ctr" anchorCtr="0">
              <a:noAutofit/>
            </a:bodyPr>
            <a:lstStyle/>
            <a:p>
              <a:pPr marL="0" marR="0" lvl="0" indent="0" algn="l" rtl="0">
                <a:lnSpc>
                  <a:spcPct val="100000"/>
                </a:lnSpc>
                <a:spcBef>
                  <a:spcPts val="0"/>
                </a:spcBef>
                <a:spcAft>
                  <a:spcPts val="0"/>
                </a:spcAft>
                <a:buClr>
                  <a:schemeClr val="dk1"/>
                </a:buClr>
                <a:buSzPts val="2400"/>
                <a:buFont typeface="Arial"/>
                <a:buNone/>
              </a:pPr>
              <a:r>
                <a:rPr lang="fr-FR" sz="2400" b="1" dirty="0">
                  <a:solidFill>
                    <a:srgbClr val="143F6A"/>
                  </a:solidFill>
                  <a:latin typeface="Verdana"/>
                  <a:ea typeface="Verdana"/>
                  <a:cs typeface="Verdana"/>
                  <a:sym typeface="Verdana"/>
                </a:rPr>
                <a:t>Disponibilité de données</a:t>
              </a:r>
              <a:endParaRPr sz="2400" b="1" i="0" u="none" strike="noStrike" cap="none" dirty="0">
                <a:solidFill>
                  <a:srgbClr val="143F6A"/>
                </a:solidFill>
                <a:latin typeface="Verdana"/>
                <a:ea typeface="Verdana"/>
                <a:cs typeface="Verdana"/>
                <a:sym typeface="Verdana"/>
              </a:endParaRPr>
            </a:p>
          </p:txBody>
        </p:sp>
      </p:grpSp>
      <p:grpSp>
        <p:nvGrpSpPr>
          <p:cNvPr id="134" name="Google Shape;134;p2"/>
          <p:cNvGrpSpPr/>
          <p:nvPr/>
        </p:nvGrpSpPr>
        <p:grpSpPr>
          <a:xfrm>
            <a:off x="3345809" y="4321626"/>
            <a:ext cx="7603230" cy="1003078"/>
            <a:chOff x="3514724" y="3547579"/>
            <a:chExt cx="9560204" cy="1261257"/>
          </a:xfrm>
        </p:grpSpPr>
        <p:sp>
          <p:nvSpPr>
            <p:cNvPr id="135" name="Google Shape;135;p2"/>
            <p:cNvSpPr/>
            <p:nvPr/>
          </p:nvSpPr>
          <p:spPr>
            <a:xfrm>
              <a:off x="3514724" y="3886642"/>
              <a:ext cx="447675" cy="583112"/>
            </a:xfrm>
            <a:custGeom>
              <a:avLst/>
              <a:gdLst/>
              <a:ahLst/>
              <a:cxnLst/>
              <a:rect l="l" t="t" r="r" b="b"/>
              <a:pathLst>
                <a:path w="721591" h="1388738" extrusionOk="0">
                  <a:moveTo>
                    <a:pt x="0" y="0"/>
                  </a:moveTo>
                  <a:lnTo>
                    <a:pt x="721591" y="0"/>
                  </a:lnTo>
                  <a:lnTo>
                    <a:pt x="721591" y="1388738"/>
                  </a:lnTo>
                  <a:lnTo>
                    <a:pt x="0" y="1388738"/>
                  </a:lnTo>
                  <a:lnTo>
                    <a:pt x="0" y="0"/>
                  </a:lnTo>
                  <a:close/>
                </a:path>
              </a:pathLst>
            </a:custGeom>
            <a:noFill/>
            <a:ln>
              <a:noFill/>
            </a:ln>
          </p:spPr>
          <p:txBody>
            <a:bodyPr spcFirstLastPara="1" wrap="square" lIns="106675" tIns="106675" rIns="106675" bIns="106675" anchor="t" anchorCtr="0">
              <a:noAutofit/>
            </a:bodyPr>
            <a:lstStyle/>
            <a:p>
              <a:pPr marL="0" marR="0" lvl="0" indent="0" algn="l" rtl="0">
                <a:lnSpc>
                  <a:spcPct val="90000"/>
                </a:lnSpc>
                <a:spcBef>
                  <a:spcPts val="0"/>
                </a:spcBef>
                <a:spcAft>
                  <a:spcPts val="0"/>
                </a:spcAft>
                <a:buClr>
                  <a:srgbClr val="143F6A"/>
                </a:buClr>
                <a:buSzPts val="2800"/>
                <a:buFont typeface="Calibri"/>
                <a:buNone/>
              </a:pPr>
              <a:r>
                <a:rPr lang="fr-FR" sz="2800" b="0" i="0" u="none" strike="noStrike" cap="none">
                  <a:solidFill>
                    <a:srgbClr val="143F6A"/>
                  </a:solidFill>
                  <a:latin typeface="Calibri"/>
                  <a:ea typeface="Calibri"/>
                  <a:cs typeface="Calibri"/>
                  <a:sym typeface="Calibri"/>
                </a:rPr>
                <a:t>4		</a:t>
              </a:r>
              <a:endParaRPr sz="2800" b="0" i="0" u="none" strike="noStrike" cap="none">
                <a:solidFill>
                  <a:srgbClr val="143F6A"/>
                </a:solidFill>
                <a:latin typeface="Calibri"/>
                <a:ea typeface="Calibri"/>
                <a:cs typeface="Calibri"/>
                <a:sym typeface="Calibri"/>
              </a:endParaRPr>
            </a:p>
          </p:txBody>
        </p:sp>
        <p:sp>
          <p:nvSpPr>
            <p:cNvPr id="136" name="Google Shape;136;p2"/>
            <p:cNvSpPr/>
            <p:nvPr/>
          </p:nvSpPr>
          <p:spPr>
            <a:xfrm>
              <a:off x="4290426" y="3547579"/>
              <a:ext cx="8784502" cy="1261257"/>
            </a:xfrm>
            <a:custGeom>
              <a:avLst/>
              <a:gdLst/>
              <a:ahLst/>
              <a:cxnLst/>
              <a:rect l="l" t="t" r="r" b="b"/>
              <a:pathLst>
                <a:path w="7739649" h="1261257" extrusionOk="0">
                  <a:moveTo>
                    <a:pt x="0" y="0"/>
                  </a:moveTo>
                  <a:lnTo>
                    <a:pt x="7739649" y="0"/>
                  </a:lnTo>
                  <a:lnTo>
                    <a:pt x="7739649" y="1261257"/>
                  </a:lnTo>
                  <a:lnTo>
                    <a:pt x="0" y="1261257"/>
                  </a:lnTo>
                  <a:lnTo>
                    <a:pt x="0" y="0"/>
                  </a:lnTo>
                  <a:close/>
                </a:path>
              </a:pathLst>
            </a:custGeom>
            <a:noFill/>
            <a:ln>
              <a:noFill/>
            </a:ln>
          </p:spPr>
          <p:txBody>
            <a:bodyPr spcFirstLastPara="1" wrap="square" lIns="106675" tIns="106675" rIns="106675" bIns="106675" anchor="ctr" anchorCtr="0">
              <a:noAutofit/>
            </a:bodyPr>
            <a:lstStyle/>
            <a:p>
              <a:pPr marL="0" lvl="0" indent="0" algn="l" rtl="0">
                <a:spcBef>
                  <a:spcPts val="0"/>
                </a:spcBef>
                <a:spcAft>
                  <a:spcPts val="0"/>
                </a:spcAft>
                <a:buClr>
                  <a:schemeClr val="dk1"/>
                </a:buClr>
                <a:buSzPts val="2400"/>
                <a:buFont typeface="Arial"/>
                <a:buNone/>
              </a:pPr>
              <a:r>
                <a:rPr lang="fr-FR" sz="2400" b="1">
                  <a:solidFill>
                    <a:srgbClr val="143F6A"/>
                  </a:solidFill>
                  <a:latin typeface="Verdana"/>
                  <a:ea typeface="Verdana"/>
                  <a:cs typeface="Verdana"/>
                  <a:sym typeface="Verdana"/>
                </a:rPr>
                <a:t>Conclusions</a:t>
              </a:r>
              <a:endParaRPr sz="2400" b="1" i="0" u="none" strike="noStrike" cap="none">
                <a:solidFill>
                  <a:srgbClr val="143F6A"/>
                </a:solidFill>
                <a:latin typeface="Verdana"/>
                <a:ea typeface="Verdana"/>
                <a:cs typeface="Verdana"/>
                <a:sym typeface="Verdana"/>
              </a:endParaRPr>
            </a:p>
          </p:txBody>
        </p:sp>
      </p:grpSp>
      <p:sp>
        <p:nvSpPr>
          <p:cNvPr id="137" name="Google Shape;137;p2"/>
          <p:cNvSpPr txBox="1">
            <a:spLocks noGrp="1"/>
          </p:cNvSpPr>
          <p:nvPr>
            <p:ph type="sldNum" idx="12"/>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2</a:t>
            </a:r>
            <a:endParaRPr/>
          </a:p>
        </p:txBody>
      </p:sp>
      <p:sp>
        <p:nvSpPr>
          <p:cNvPr id="138" name="Google Shape;138;p2"/>
          <p:cNvSpPr/>
          <p:nvPr/>
        </p:nvSpPr>
        <p:spPr>
          <a:xfrm>
            <a:off x="3964398" y="2446162"/>
            <a:ext cx="6700339" cy="1002699"/>
          </a:xfrm>
          <a:custGeom>
            <a:avLst/>
            <a:gdLst/>
            <a:ahLst/>
            <a:cxnLst/>
            <a:rect l="l" t="t" r="r" b="b"/>
            <a:pathLst>
              <a:path w="7507383" h="1261257" extrusionOk="0">
                <a:moveTo>
                  <a:pt x="0" y="0"/>
                </a:moveTo>
                <a:lnTo>
                  <a:pt x="7507383" y="0"/>
                </a:lnTo>
                <a:lnTo>
                  <a:pt x="7507383" y="1261257"/>
                </a:lnTo>
                <a:lnTo>
                  <a:pt x="0" y="1261257"/>
                </a:lnTo>
                <a:lnTo>
                  <a:pt x="0" y="0"/>
                </a:lnTo>
                <a:close/>
              </a:path>
            </a:pathLst>
          </a:custGeom>
          <a:noFill/>
          <a:ln>
            <a:noFill/>
          </a:ln>
        </p:spPr>
        <p:txBody>
          <a:bodyPr spcFirstLastPara="1" wrap="square" lIns="106675" tIns="106675" rIns="106675" bIns="106675" anchor="ctr" anchorCtr="0">
            <a:noAutofit/>
          </a:bodyPr>
          <a:lstStyle/>
          <a:p>
            <a:pPr marL="0" marR="0" lvl="0" indent="0" algn="l" rtl="0">
              <a:lnSpc>
                <a:spcPct val="100000"/>
              </a:lnSpc>
              <a:spcBef>
                <a:spcPts val="0"/>
              </a:spcBef>
              <a:spcAft>
                <a:spcPts val="0"/>
              </a:spcAft>
              <a:buClr>
                <a:schemeClr val="dk1"/>
              </a:buClr>
              <a:buSzPts val="2400"/>
              <a:buFont typeface="Arial"/>
              <a:buNone/>
            </a:pPr>
            <a:r>
              <a:rPr lang="fr-FR" sz="2400" b="1" dirty="0">
                <a:solidFill>
                  <a:srgbClr val="143F6A"/>
                </a:solidFill>
                <a:latin typeface="Verdana"/>
                <a:ea typeface="Verdana"/>
                <a:cs typeface="Verdana"/>
                <a:sym typeface="Verdana"/>
              </a:rPr>
              <a:t>Qualité de données</a:t>
            </a:r>
            <a:endParaRPr sz="2400" b="1" i="0" u="none" strike="noStrike" cap="none" dirty="0">
              <a:solidFill>
                <a:srgbClr val="143F6A"/>
              </a:solidFill>
              <a:latin typeface="Verdana"/>
              <a:ea typeface="Verdana"/>
              <a:cs typeface="Verdana"/>
              <a:sym typeface="Verdana"/>
            </a:endParaRPr>
          </a:p>
        </p:txBody>
      </p:sp>
      <p:sp>
        <p:nvSpPr>
          <p:cNvPr id="139" name="Google Shape;139;p2"/>
          <p:cNvSpPr/>
          <p:nvPr/>
        </p:nvSpPr>
        <p:spPr>
          <a:xfrm>
            <a:off x="3345810" y="2714895"/>
            <a:ext cx="355485" cy="465227"/>
          </a:xfrm>
          <a:custGeom>
            <a:avLst/>
            <a:gdLst/>
            <a:ahLst/>
            <a:cxnLst/>
            <a:rect l="l" t="t" r="r" b="b"/>
            <a:pathLst>
              <a:path w="935488" h="1388738" extrusionOk="0">
                <a:moveTo>
                  <a:pt x="0" y="0"/>
                </a:moveTo>
                <a:lnTo>
                  <a:pt x="935488" y="0"/>
                </a:lnTo>
                <a:lnTo>
                  <a:pt x="935488" y="1388738"/>
                </a:lnTo>
                <a:lnTo>
                  <a:pt x="0" y="1388738"/>
                </a:lnTo>
                <a:lnTo>
                  <a:pt x="0" y="0"/>
                </a:lnTo>
                <a:close/>
              </a:path>
            </a:pathLst>
          </a:custGeom>
          <a:noFill/>
          <a:ln>
            <a:noFill/>
          </a:ln>
        </p:spPr>
        <p:txBody>
          <a:bodyPr spcFirstLastPara="1" wrap="square" lIns="106675" tIns="106675" rIns="106675" bIns="106675" anchor="t" anchorCtr="0">
            <a:noAutofit/>
          </a:bodyPr>
          <a:lstStyle/>
          <a:p>
            <a:pPr marL="0" marR="0" lvl="0" indent="0" algn="l" rtl="0">
              <a:lnSpc>
                <a:spcPct val="90000"/>
              </a:lnSpc>
              <a:spcBef>
                <a:spcPts val="0"/>
              </a:spcBef>
              <a:spcAft>
                <a:spcPts val="0"/>
              </a:spcAft>
              <a:buClr>
                <a:srgbClr val="143F6A"/>
              </a:buClr>
              <a:buSzPts val="2800"/>
              <a:buFont typeface="Calibri"/>
              <a:buNone/>
            </a:pPr>
            <a:r>
              <a:rPr lang="fr-FR" sz="2800" b="0" i="0" u="none" strike="noStrike" cap="none">
                <a:solidFill>
                  <a:srgbClr val="143F6A"/>
                </a:solidFill>
                <a:latin typeface="Calibri"/>
                <a:ea typeface="Calibri"/>
                <a:cs typeface="Calibri"/>
                <a:sym typeface="Calibri"/>
              </a:rPr>
              <a:t>2</a:t>
            </a:r>
            <a:endParaRPr sz="1400" b="0" i="0" u="none" strike="noStrike" cap="none">
              <a:solidFill>
                <a:srgbClr val="000000"/>
              </a:solidFill>
              <a:latin typeface="Arial"/>
              <a:ea typeface="Arial"/>
              <a:cs typeface="Arial"/>
              <a:sym typeface="Arial"/>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2cf4cb65bdb_0_7"/>
          <p:cNvSpPr txBox="1">
            <a:spLocks noGrp="1"/>
          </p:cNvSpPr>
          <p:nvPr>
            <p:ph type="title"/>
          </p:nvPr>
        </p:nvSpPr>
        <p:spPr>
          <a:xfrm>
            <a:off x="1899700" y="2978600"/>
            <a:ext cx="10090500" cy="1326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a:solidFill>
                  <a:srgbClr val="143F6A"/>
                </a:solidFill>
              </a:rPr>
              <a:t>Introduction</a:t>
            </a:r>
            <a:endParaRPr>
              <a:solidFill>
                <a:srgbClr val="143F6A"/>
              </a:solidFill>
            </a:endParaRPr>
          </a:p>
        </p:txBody>
      </p:sp>
      <p:sp>
        <p:nvSpPr>
          <p:cNvPr id="146" name="Google Shape;146;g2cf4cb65bdb_0_7"/>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r>
              <a:rPr lang="fr-FR"/>
              <a:t>3</a:t>
            </a:r>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35022506002_0_7"/>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Contexte – sujet de la thèse</a:t>
            </a:r>
            <a:endParaRPr dirty="0">
              <a:solidFill>
                <a:srgbClr val="143F6A"/>
              </a:solidFill>
            </a:endParaRPr>
          </a:p>
        </p:txBody>
      </p:sp>
      <p:sp>
        <p:nvSpPr>
          <p:cNvPr id="153" name="Google Shape;153;g35022506002_0_7"/>
          <p:cNvSpPr txBox="1">
            <a:spLocks noGrp="1"/>
          </p:cNvSpPr>
          <p:nvPr>
            <p:ph type="body" idx="1"/>
            <p:custDataLst>
              <p:tags r:id="rId3"/>
            </p:custDataLst>
          </p:nvPr>
        </p:nvSpPr>
        <p:spPr>
          <a:xfrm>
            <a:off x="296649" y="1246025"/>
            <a:ext cx="7863678"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SzPts val="2400"/>
              <a:buNone/>
            </a:pPr>
            <a:r>
              <a:rPr lang="fr-FR" sz="2200" b="1" dirty="0">
                <a:solidFill>
                  <a:srgbClr val="253356"/>
                </a:solidFill>
              </a:rPr>
              <a:t>Urban Building Energy </a:t>
            </a:r>
            <a:r>
              <a:rPr lang="fr-FR" sz="2200" b="1" dirty="0" err="1">
                <a:solidFill>
                  <a:srgbClr val="253356"/>
                </a:solidFill>
              </a:rPr>
              <a:t>Modelling</a:t>
            </a:r>
            <a:r>
              <a:rPr lang="fr-FR" sz="2200" b="1" dirty="0">
                <a:solidFill>
                  <a:srgbClr val="253356"/>
                </a:solidFill>
              </a:rPr>
              <a:t> </a:t>
            </a:r>
            <a:r>
              <a:rPr lang="fr-FR" sz="2200" dirty="0">
                <a:solidFill>
                  <a:srgbClr val="253356"/>
                </a:solidFill>
              </a:rPr>
              <a:t>(UBEM) :</a:t>
            </a:r>
            <a:endParaRPr sz="2200" dirty="0">
              <a:solidFill>
                <a:srgbClr val="253356"/>
              </a:solidFill>
            </a:endParaRPr>
          </a:p>
          <a:p>
            <a:pPr marL="457200" lvl="0" indent="-368300" algn="l" rtl="0">
              <a:lnSpc>
                <a:spcPct val="100000"/>
              </a:lnSpc>
              <a:spcBef>
                <a:spcPts val="500"/>
              </a:spcBef>
              <a:spcAft>
                <a:spcPts val="0"/>
              </a:spcAft>
              <a:buClr>
                <a:srgbClr val="253356"/>
              </a:buClr>
              <a:buSzPts val="2200"/>
              <a:buChar char="▪"/>
            </a:pPr>
            <a:r>
              <a:rPr lang="fr-FR" sz="2200" dirty="0">
                <a:solidFill>
                  <a:srgbClr val="253356"/>
                </a:solidFill>
              </a:rPr>
              <a:t>Modèle thermo-énergétique de bâtiments à l’échelle urbaine</a:t>
            </a:r>
          </a:p>
          <a:p>
            <a:pPr marL="457200" lvl="0" indent="-368300" algn="l" rtl="0">
              <a:lnSpc>
                <a:spcPct val="100000"/>
              </a:lnSpc>
              <a:spcBef>
                <a:spcPts val="500"/>
              </a:spcBef>
              <a:spcAft>
                <a:spcPts val="0"/>
              </a:spcAft>
              <a:buClr>
                <a:srgbClr val="253356"/>
              </a:buClr>
              <a:buSzPts val="2200"/>
              <a:buChar char="▪"/>
            </a:pPr>
            <a:r>
              <a:rPr lang="fr-FR" sz="2200" dirty="0">
                <a:solidFill>
                  <a:srgbClr val="253356"/>
                </a:solidFill>
              </a:rPr>
              <a:t>Ex. </a:t>
            </a:r>
            <a:r>
              <a:rPr lang="fr-FR" sz="2200" dirty="0" err="1">
                <a:solidFill>
                  <a:srgbClr val="253356"/>
                </a:solidFill>
              </a:rPr>
              <a:t>PowerDIS</a:t>
            </a:r>
            <a:r>
              <a:rPr lang="fr-FR" sz="2200" dirty="0">
                <a:solidFill>
                  <a:srgbClr val="253356"/>
                </a:solidFill>
              </a:rPr>
              <a:t> : calcul des besoins des bâtiments + des consommations des systèmes énergétiques </a:t>
            </a:r>
            <a:endParaRPr sz="2200" dirty="0">
              <a:solidFill>
                <a:srgbClr val="253356"/>
              </a:solidFill>
            </a:endParaRPr>
          </a:p>
          <a:p>
            <a:pPr marL="0" lvl="0" indent="0" algn="l" rtl="0">
              <a:lnSpc>
                <a:spcPct val="100000"/>
              </a:lnSpc>
              <a:spcBef>
                <a:spcPts val="500"/>
              </a:spcBef>
              <a:spcAft>
                <a:spcPts val="0"/>
              </a:spcAft>
              <a:buNone/>
            </a:pPr>
            <a:endParaRPr sz="2200" dirty="0">
              <a:solidFill>
                <a:srgbClr val="253356"/>
              </a:solidFill>
            </a:endParaRPr>
          </a:p>
          <a:p>
            <a:pPr marL="0" lvl="0" indent="0" algn="l" rtl="0">
              <a:lnSpc>
                <a:spcPct val="100000"/>
              </a:lnSpc>
              <a:spcBef>
                <a:spcPts val="500"/>
              </a:spcBef>
              <a:spcAft>
                <a:spcPts val="0"/>
              </a:spcAft>
              <a:buSzPts val="100"/>
              <a:buNone/>
            </a:pPr>
            <a:r>
              <a:rPr lang="fr-FR" sz="2200" b="1" dirty="0">
                <a:noFill/>
              </a:rPr>
              <a:t>Validation du modèle physique</a:t>
            </a:r>
            <a:r>
              <a:rPr lang="fr-FR" sz="2200" dirty="0">
                <a:noFill/>
              </a:rPr>
              <a:t>: </a:t>
            </a:r>
            <a:endParaRPr sz="2200" dirty="0">
              <a:noFill/>
            </a:endParaRPr>
          </a:p>
          <a:p>
            <a:pPr marL="457200" lvl="0" indent="-368300" algn="l" rtl="0">
              <a:lnSpc>
                <a:spcPct val="100000"/>
              </a:lnSpc>
              <a:spcBef>
                <a:spcPts val="500"/>
              </a:spcBef>
              <a:spcAft>
                <a:spcPts val="0"/>
              </a:spcAft>
              <a:buClr>
                <a:srgbClr val="253356"/>
              </a:buClr>
              <a:buSzPts val="100"/>
              <a:buChar char="▪"/>
            </a:pPr>
            <a:r>
              <a:rPr lang="fr-FR" sz="2200" dirty="0">
                <a:noFill/>
              </a:rPr>
              <a:t>Confronter les prédictions du modèle aux mesures réelles</a:t>
            </a:r>
            <a:endParaRPr sz="2200" dirty="0">
              <a:noFill/>
            </a:endParaRPr>
          </a:p>
          <a:p>
            <a:pPr marL="457200" lvl="0" indent="-368300" algn="l" rtl="0">
              <a:lnSpc>
                <a:spcPct val="100000"/>
              </a:lnSpc>
              <a:spcBef>
                <a:spcPts val="0"/>
              </a:spcBef>
              <a:spcAft>
                <a:spcPts val="0"/>
              </a:spcAft>
              <a:buClr>
                <a:srgbClr val="253356"/>
              </a:buClr>
              <a:buSzPts val="100"/>
              <a:buChar char="▪"/>
            </a:pPr>
            <a:r>
              <a:rPr lang="fr-FR" sz="2200" dirty="0">
                <a:noFill/>
              </a:rPr>
              <a:t>Un modèle validé =&gt; un modèle avec une fiabilité connue</a:t>
            </a:r>
            <a:endParaRPr sz="2200" dirty="0">
              <a:no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rtl="0">
              <a:lnSpc>
                <a:spcPct val="100000"/>
              </a:lnSpc>
              <a:spcBef>
                <a:spcPts val="500"/>
              </a:spcBef>
              <a:spcAft>
                <a:spcPts val="0"/>
              </a:spcAft>
              <a:buSzPts val="100"/>
              <a:buNone/>
            </a:pPr>
            <a:r>
              <a:rPr lang="fr-FR" sz="2200" b="1" dirty="0">
                <a:noFill/>
              </a:rPr>
              <a:t>Sujet : Développement d'une méthodologie de validation pour les sorties dynamiques d’UBEM</a:t>
            </a:r>
          </a:p>
          <a:p>
            <a:pPr marL="0" lvl="0" indent="0" algn="l" rtl="0">
              <a:lnSpc>
                <a:spcPct val="100000"/>
              </a:lnSpc>
              <a:spcBef>
                <a:spcPts val="500"/>
              </a:spcBef>
              <a:spcAft>
                <a:spcPts val="0"/>
              </a:spcAft>
              <a:buSzPts val="100"/>
              <a:buNone/>
            </a:pPr>
            <a:r>
              <a:rPr lang="fr-FR" sz="2200" i="1" dirty="0">
                <a:noFill/>
              </a:rPr>
              <a:t>Au cours du processus de modélisation, quand, où et dans quelle mesure les erreurs se produisent-elles ?</a:t>
            </a:r>
            <a:endParaRPr sz="2200" i="1" dirty="0">
              <a:no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54" name="Google Shape;154;g35022506002_0_7"/>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4</a:t>
            </a:r>
            <a:endParaRPr/>
          </a:p>
        </p:txBody>
      </p:sp>
      <p:pic>
        <p:nvPicPr>
          <p:cNvPr id="5" name="Image 4">
            <a:extLst>
              <a:ext uri="{FF2B5EF4-FFF2-40B4-BE49-F238E27FC236}">
                <a16:creationId xmlns:a16="http://schemas.microsoft.com/office/drawing/2014/main" id="{2AA289E2-BFC0-67C1-AF79-B37D4555DC1F}"/>
              </a:ext>
            </a:extLst>
          </p:cNvPr>
          <p:cNvPicPr>
            <a:picLocks noChangeAspect="1"/>
          </p:cNvPicPr>
          <p:nvPr>
            <p:custDataLst>
              <p:tags r:id="rId5"/>
            </p:custDataLst>
          </p:nvPr>
        </p:nvPicPr>
        <p:blipFill>
          <a:blip r:embed="rId9"/>
          <a:stretch>
            <a:fillRect/>
          </a:stretch>
        </p:blipFill>
        <p:spPr>
          <a:xfrm>
            <a:off x="7480642" y="2448757"/>
            <a:ext cx="4667217" cy="2437613"/>
          </a:xfrm>
          <a:prstGeom prst="rect">
            <a:avLst/>
          </a:prstGeom>
        </p:spPr>
      </p:pic>
      <p:sp>
        <p:nvSpPr>
          <p:cNvPr id="6" name="ZoneTexte 5">
            <a:extLst>
              <a:ext uri="{FF2B5EF4-FFF2-40B4-BE49-F238E27FC236}">
                <a16:creationId xmlns:a16="http://schemas.microsoft.com/office/drawing/2014/main" id="{2BB42671-26F1-D27D-F2DD-4ABF2407F3DC}"/>
              </a:ext>
            </a:extLst>
          </p:cNvPr>
          <p:cNvSpPr txBox="1"/>
          <p:nvPr>
            <p:custDataLst>
              <p:tags r:id="rId6"/>
            </p:custDataLst>
          </p:nvPr>
        </p:nvSpPr>
        <p:spPr>
          <a:xfrm>
            <a:off x="8437418" y="4888773"/>
            <a:ext cx="3145405" cy="338554"/>
          </a:xfrm>
          <a:prstGeom prst="rect">
            <a:avLst/>
          </a:prstGeom>
          <a:noFill/>
        </p:spPr>
        <p:txBody>
          <a:bodyPr wrap="square">
            <a:spAutoFit/>
          </a:bodyPr>
          <a:lstStyle/>
          <a:p>
            <a:pPr algn="just"/>
            <a:r>
              <a:rPr lang="en-GB" sz="1600" dirty="0">
                <a:effectLst/>
                <a:latin typeface="Calibri" panose="020F0502020204030204" pitchFamily="34" charset="0"/>
                <a:ea typeface="SimSun" panose="02010600030101010101" pitchFamily="2" charset="-122"/>
                <a:cs typeface="Times New Roman" panose="02020603050405020304" pitchFamily="18" charset="0"/>
              </a:rPr>
              <a:t>Figure 1 : Illustration de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PowerDIS</a:t>
            </a:r>
            <a:r>
              <a:rPr lang="en-GB" sz="1600" dirty="0">
                <a:effectLst/>
                <a:latin typeface="Calibri" panose="020F0502020204030204" pitchFamily="34" charset="0"/>
                <a:ea typeface="SimSun" panose="02010600030101010101" pitchFamily="2" charset="-122"/>
                <a:cs typeface="Times New Roman" panose="02020603050405020304" pitchFamily="18" charset="0"/>
              </a:rPr>
              <a:t>.</a:t>
            </a:r>
            <a:endParaRPr lang="en-GB" sz="1200" dirty="0"/>
          </a:p>
        </p:txBody>
      </p:sp>
    </p:spTree>
    <p:custDataLst>
      <p:tags r:id="rId1"/>
    </p:custDataLst>
    <p:extLst>
      <p:ext uri="{BB962C8B-B14F-4D97-AF65-F5344CB8AC3E}">
        <p14:creationId xmlns:p14="http://schemas.microsoft.com/office/powerpoint/2010/main" val="3298326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35022506002_0_7"/>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Contexte – sujet de la thèse</a:t>
            </a:r>
            <a:endParaRPr dirty="0">
              <a:solidFill>
                <a:srgbClr val="143F6A"/>
              </a:solidFill>
            </a:endParaRPr>
          </a:p>
        </p:txBody>
      </p:sp>
      <p:sp>
        <p:nvSpPr>
          <p:cNvPr id="153" name="Google Shape;153;g35022506002_0_7"/>
          <p:cNvSpPr txBox="1">
            <a:spLocks noGrp="1"/>
          </p:cNvSpPr>
          <p:nvPr>
            <p:ph type="body" idx="1"/>
            <p:custDataLst>
              <p:tags r:id="rId3"/>
            </p:custDataLst>
          </p:nvPr>
        </p:nvSpPr>
        <p:spPr>
          <a:xfrm>
            <a:off x="296649" y="1246025"/>
            <a:ext cx="7863678"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SzPts val="2400"/>
              <a:buNone/>
            </a:pPr>
            <a:r>
              <a:rPr lang="fr-FR" sz="2200" b="1" dirty="0">
                <a:solidFill>
                  <a:srgbClr val="253356"/>
                </a:solidFill>
              </a:rPr>
              <a:t>Urban Building Energy </a:t>
            </a:r>
            <a:r>
              <a:rPr lang="fr-FR" sz="2200" b="1" dirty="0" err="1">
                <a:solidFill>
                  <a:srgbClr val="253356"/>
                </a:solidFill>
              </a:rPr>
              <a:t>Modelling</a:t>
            </a:r>
            <a:r>
              <a:rPr lang="fr-FR" sz="2200" b="1" dirty="0">
                <a:solidFill>
                  <a:srgbClr val="253356"/>
                </a:solidFill>
              </a:rPr>
              <a:t> </a:t>
            </a:r>
            <a:r>
              <a:rPr lang="fr-FR" sz="2200" dirty="0">
                <a:solidFill>
                  <a:srgbClr val="253356"/>
                </a:solidFill>
              </a:rPr>
              <a:t>(UBEM) :</a:t>
            </a:r>
            <a:endParaRPr sz="2200" dirty="0">
              <a:solidFill>
                <a:srgbClr val="253356"/>
              </a:solidFill>
            </a:endParaRPr>
          </a:p>
          <a:p>
            <a:pPr marL="457200" lvl="0" indent="-368300" algn="l" rtl="0">
              <a:lnSpc>
                <a:spcPct val="100000"/>
              </a:lnSpc>
              <a:spcBef>
                <a:spcPts val="500"/>
              </a:spcBef>
              <a:spcAft>
                <a:spcPts val="0"/>
              </a:spcAft>
              <a:buClr>
                <a:srgbClr val="253356"/>
              </a:buClr>
              <a:buSzPts val="2200"/>
              <a:buChar char="▪"/>
            </a:pPr>
            <a:r>
              <a:rPr lang="fr-FR" sz="2200" dirty="0">
                <a:solidFill>
                  <a:srgbClr val="253356"/>
                </a:solidFill>
              </a:rPr>
              <a:t>Modèle thermo-énergétique de bâtiments à l’échelle urbaine</a:t>
            </a:r>
          </a:p>
          <a:p>
            <a:pPr marL="457200" lvl="0" indent="-368300" algn="l" rtl="0">
              <a:lnSpc>
                <a:spcPct val="100000"/>
              </a:lnSpc>
              <a:spcBef>
                <a:spcPts val="500"/>
              </a:spcBef>
              <a:spcAft>
                <a:spcPts val="0"/>
              </a:spcAft>
              <a:buClr>
                <a:srgbClr val="253356"/>
              </a:buClr>
              <a:buSzPts val="2200"/>
              <a:buChar char="▪"/>
            </a:pPr>
            <a:r>
              <a:rPr lang="fr-FR" sz="2200" dirty="0">
                <a:solidFill>
                  <a:srgbClr val="253356"/>
                </a:solidFill>
              </a:rPr>
              <a:t>Ex. </a:t>
            </a:r>
            <a:r>
              <a:rPr lang="fr-FR" sz="2200" dirty="0" err="1">
                <a:solidFill>
                  <a:srgbClr val="253356"/>
                </a:solidFill>
              </a:rPr>
              <a:t>PowerDIS</a:t>
            </a:r>
            <a:r>
              <a:rPr lang="fr-FR" sz="2200" dirty="0">
                <a:solidFill>
                  <a:srgbClr val="253356"/>
                </a:solidFill>
              </a:rPr>
              <a:t> : calcul des besoins des bâtiments + des consommations des systèmes énergétiques </a:t>
            </a:r>
            <a:endParaRPr sz="2200" dirty="0">
              <a:solidFill>
                <a:srgbClr val="253356"/>
              </a:solidFill>
            </a:endParaRPr>
          </a:p>
          <a:p>
            <a:pPr marL="0" lvl="0" indent="0" algn="l" rtl="0">
              <a:lnSpc>
                <a:spcPct val="100000"/>
              </a:lnSpc>
              <a:spcBef>
                <a:spcPts val="500"/>
              </a:spcBef>
              <a:spcAft>
                <a:spcPts val="0"/>
              </a:spcAft>
              <a:buNone/>
            </a:pPr>
            <a:endParaRPr sz="2200" dirty="0">
              <a:solidFill>
                <a:srgbClr val="253356"/>
              </a:solidFill>
            </a:endParaRPr>
          </a:p>
          <a:p>
            <a:pPr marL="0" lvl="0" indent="0" algn="l" rtl="0">
              <a:lnSpc>
                <a:spcPct val="100000"/>
              </a:lnSpc>
              <a:spcBef>
                <a:spcPts val="500"/>
              </a:spcBef>
              <a:spcAft>
                <a:spcPts val="0"/>
              </a:spcAft>
              <a:buNone/>
            </a:pPr>
            <a:r>
              <a:rPr lang="fr-FR" sz="2200" b="1" dirty="0">
                <a:solidFill>
                  <a:srgbClr val="253356"/>
                </a:solidFill>
              </a:rPr>
              <a:t>Validation du modèle physique</a:t>
            </a:r>
            <a:r>
              <a:rPr lang="fr-FR" sz="2200" dirty="0">
                <a:solidFill>
                  <a:srgbClr val="253356"/>
                </a:solidFill>
              </a:rPr>
              <a:t>: </a:t>
            </a:r>
            <a:endParaRPr sz="2200" dirty="0">
              <a:solidFill>
                <a:srgbClr val="253356"/>
              </a:solidFill>
            </a:endParaRPr>
          </a:p>
          <a:p>
            <a:pPr marL="457200" lvl="0" indent="-368300" algn="l" rtl="0">
              <a:lnSpc>
                <a:spcPct val="100000"/>
              </a:lnSpc>
              <a:spcBef>
                <a:spcPts val="500"/>
              </a:spcBef>
              <a:spcAft>
                <a:spcPts val="0"/>
              </a:spcAft>
              <a:buClr>
                <a:srgbClr val="253356"/>
              </a:buClr>
              <a:buSzPts val="2200"/>
              <a:buChar char="▪"/>
            </a:pPr>
            <a:r>
              <a:rPr lang="fr-FR" sz="2200" dirty="0">
                <a:solidFill>
                  <a:srgbClr val="253356"/>
                </a:solidFill>
              </a:rPr>
              <a:t>Confronter les prédictions du modèle aux mesures réelles</a:t>
            </a:r>
            <a:endParaRPr sz="2200" dirty="0">
              <a:solidFill>
                <a:srgbClr val="253356"/>
              </a:solidFill>
            </a:endParaRPr>
          </a:p>
          <a:p>
            <a:pPr marL="457200" lvl="0" indent="-368300" algn="l" rtl="0">
              <a:lnSpc>
                <a:spcPct val="100000"/>
              </a:lnSpc>
              <a:spcBef>
                <a:spcPts val="0"/>
              </a:spcBef>
              <a:spcAft>
                <a:spcPts val="0"/>
              </a:spcAft>
              <a:buClr>
                <a:srgbClr val="253356"/>
              </a:buClr>
              <a:buSzPts val="2200"/>
              <a:buChar char="▪"/>
            </a:pPr>
            <a:r>
              <a:rPr lang="fr-FR" sz="2200" dirty="0">
                <a:solidFill>
                  <a:srgbClr val="253356"/>
                </a:solidFill>
              </a:rPr>
              <a:t>Un modèle validé =&gt; un modèle avec une fiabilité connue</a:t>
            </a:r>
            <a:endParaRPr sz="2200" dirty="0">
              <a:solidFill>
                <a:srgbClr val="253356"/>
              </a:solid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rtl="0">
              <a:lnSpc>
                <a:spcPct val="100000"/>
              </a:lnSpc>
              <a:spcBef>
                <a:spcPts val="500"/>
              </a:spcBef>
              <a:spcAft>
                <a:spcPts val="0"/>
              </a:spcAft>
              <a:buSzPts val="100"/>
              <a:buNone/>
            </a:pPr>
            <a:r>
              <a:rPr lang="fr-FR" sz="2200" b="1" dirty="0">
                <a:noFill/>
              </a:rPr>
              <a:t>Sujet : Développement d'une méthodologie de validation pour les sorties dynamiques d’UBEM</a:t>
            </a:r>
          </a:p>
          <a:p>
            <a:pPr marL="0" lvl="0" indent="0" algn="l" rtl="0">
              <a:lnSpc>
                <a:spcPct val="100000"/>
              </a:lnSpc>
              <a:spcBef>
                <a:spcPts val="500"/>
              </a:spcBef>
              <a:spcAft>
                <a:spcPts val="0"/>
              </a:spcAft>
              <a:buSzPts val="100"/>
              <a:buNone/>
            </a:pPr>
            <a:r>
              <a:rPr lang="fr-FR" sz="2200" i="1" dirty="0">
                <a:noFill/>
              </a:rPr>
              <a:t>Au cours du processus de modélisation, quand, où et dans quelle mesure les erreurs se produisent-elles ?</a:t>
            </a:r>
            <a:endParaRPr sz="2200" i="1" dirty="0">
              <a:no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54" name="Google Shape;154;g35022506002_0_7"/>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4</a:t>
            </a:r>
            <a:endParaRPr/>
          </a:p>
        </p:txBody>
      </p:sp>
      <p:pic>
        <p:nvPicPr>
          <p:cNvPr id="5" name="Image 4">
            <a:extLst>
              <a:ext uri="{FF2B5EF4-FFF2-40B4-BE49-F238E27FC236}">
                <a16:creationId xmlns:a16="http://schemas.microsoft.com/office/drawing/2014/main" id="{2AA289E2-BFC0-67C1-AF79-B37D4555DC1F}"/>
              </a:ext>
            </a:extLst>
          </p:cNvPr>
          <p:cNvPicPr>
            <a:picLocks noChangeAspect="1"/>
          </p:cNvPicPr>
          <p:nvPr>
            <p:custDataLst>
              <p:tags r:id="rId5"/>
            </p:custDataLst>
          </p:nvPr>
        </p:nvPicPr>
        <p:blipFill>
          <a:blip r:embed="rId9"/>
          <a:stretch>
            <a:fillRect/>
          </a:stretch>
        </p:blipFill>
        <p:spPr>
          <a:xfrm>
            <a:off x="7480642" y="2448757"/>
            <a:ext cx="4667217" cy="2437613"/>
          </a:xfrm>
          <a:prstGeom prst="rect">
            <a:avLst/>
          </a:prstGeom>
        </p:spPr>
      </p:pic>
      <p:sp>
        <p:nvSpPr>
          <p:cNvPr id="6" name="ZoneTexte 5">
            <a:extLst>
              <a:ext uri="{FF2B5EF4-FFF2-40B4-BE49-F238E27FC236}">
                <a16:creationId xmlns:a16="http://schemas.microsoft.com/office/drawing/2014/main" id="{2BB42671-26F1-D27D-F2DD-4ABF2407F3DC}"/>
              </a:ext>
            </a:extLst>
          </p:cNvPr>
          <p:cNvSpPr txBox="1"/>
          <p:nvPr>
            <p:custDataLst>
              <p:tags r:id="rId6"/>
            </p:custDataLst>
          </p:nvPr>
        </p:nvSpPr>
        <p:spPr>
          <a:xfrm>
            <a:off x="8437418" y="4888773"/>
            <a:ext cx="3145405" cy="338554"/>
          </a:xfrm>
          <a:prstGeom prst="rect">
            <a:avLst/>
          </a:prstGeom>
          <a:noFill/>
        </p:spPr>
        <p:txBody>
          <a:bodyPr wrap="square">
            <a:spAutoFit/>
          </a:bodyPr>
          <a:lstStyle/>
          <a:p>
            <a:pPr algn="just"/>
            <a:r>
              <a:rPr lang="en-GB" sz="1600" dirty="0">
                <a:effectLst/>
                <a:latin typeface="Calibri" panose="020F0502020204030204" pitchFamily="34" charset="0"/>
                <a:ea typeface="SimSun" panose="02010600030101010101" pitchFamily="2" charset="-122"/>
                <a:cs typeface="Times New Roman" panose="02020603050405020304" pitchFamily="18" charset="0"/>
              </a:rPr>
              <a:t>Figure 1 : Illustration de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PowerDIS</a:t>
            </a:r>
            <a:r>
              <a:rPr lang="en-GB" sz="1600" dirty="0">
                <a:effectLst/>
                <a:latin typeface="Calibri" panose="020F0502020204030204" pitchFamily="34" charset="0"/>
                <a:ea typeface="SimSun" panose="02010600030101010101" pitchFamily="2" charset="-122"/>
                <a:cs typeface="Times New Roman" panose="02020603050405020304" pitchFamily="18" charset="0"/>
              </a:rPr>
              <a:t>.</a:t>
            </a:r>
            <a:endParaRPr lang="en-GB" sz="1200" dirty="0"/>
          </a:p>
        </p:txBody>
      </p:sp>
    </p:spTree>
    <p:custDataLst>
      <p:tags r:id="rId1"/>
    </p:custDataLst>
    <p:extLst>
      <p:ext uri="{BB962C8B-B14F-4D97-AF65-F5344CB8AC3E}">
        <p14:creationId xmlns:p14="http://schemas.microsoft.com/office/powerpoint/2010/main" val="1760167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35022506002_0_7"/>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Contexte – sujet de la thèse</a:t>
            </a:r>
            <a:endParaRPr dirty="0">
              <a:solidFill>
                <a:srgbClr val="143F6A"/>
              </a:solidFill>
            </a:endParaRPr>
          </a:p>
        </p:txBody>
      </p:sp>
      <p:sp>
        <p:nvSpPr>
          <p:cNvPr id="153" name="Google Shape;153;g35022506002_0_7"/>
          <p:cNvSpPr txBox="1">
            <a:spLocks noGrp="1"/>
          </p:cNvSpPr>
          <p:nvPr>
            <p:ph type="body" idx="1"/>
            <p:custDataLst>
              <p:tags r:id="rId3"/>
            </p:custDataLst>
          </p:nvPr>
        </p:nvSpPr>
        <p:spPr>
          <a:xfrm>
            <a:off x="296649" y="1246025"/>
            <a:ext cx="7863678"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SzPts val="2400"/>
              <a:buNone/>
            </a:pPr>
            <a:r>
              <a:rPr lang="fr-FR" sz="2200" b="1" dirty="0">
                <a:solidFill>
                  <a:srgbClr val="253356"/>
                </a:solidFill>
              </a:rPr>
              <a:t>Urban Building Energy </a:t>
            </a:r>
            <a:r>
              <a:rPr lang="fr-FR" sz="2200" b="1" dirty="0" err="1">
                <a:solidFill>
                  <a:srgbClr val="253356"/>
                </a:solidFill>
              </a:rPr>
              <a:t>Modelling</a:t>
            </a:r>
            <a:r>
              <a:rPr lang="fr-FR" sz="2200" b="1" dirty="0">
                <a:solidFill>
                  <a:srgbClr val="253356"/>
                </a:solidFill>
              </a:rPr>
              <a:t> </a:t>
            </a:r>
            <a:r>
              <a:rPr lang="fr-FR" sz="2200" dirty="0">
                <a:solidFill>
                  <a:srgbClr val="253356"/>
                </a:solidFill>
              </a:rPr>
              <a:t>(UBEM) :</a:t>
            </a:r>
            <a:endParaRPr sz="2200" dirty="0">
              <a:solidFill>
                <a:srgbClr val="253356"/>
              </a:solidFill>
            </a:endParaRPr>
          </a:p>
          <a:p>
            <a:pPr marL="457200" lvl="0" indent="-368300" algn="l" rtl="0">
              <a:lnSpc>
                <a:spcPct val="100000"/>
              </a:lnSpc>
              <a:spcBef>
                <a:spcPts val="500"/>
              </a:spcBef>
              <a:spcAft>
                <a:spcPts val="0"/>
              </a:spcAft>
              <a:buClr>
                <a:srgbClr val="253356"/>
              </a:buClr>
              <a:buSzPts val="2200"/>
              <a:buChar char="▪"/>
            </a:pPr>
            <a:r>
              <a:rPr lang="fr-FR" sz="2200" dirty="0">
                <a:solidFill>
                  <a:srgbClr val="253356"/>
                </a:solidFill>
              </a:rPr>
              <a:t>Modèle thermo-énergétique de bâtiments à l’échelle urbaine</a:t>
            </a:r>
          </a:p>
          <a:p>
            <a:pPr marL="457200" lvl="0" indent="-368300" algn="l" rtl="0">
              <a:lnSpc>
                <a:spcPct val="100000"/>
              </a:lnSpc>
              <a:spcBef>
                <a:spcPts val="500"/>
              </a:spcBef>
              <a:spcAft>
                <a:spcPts val="0"/>
              </a:spcAft>
              <a:buClr>
                <a:srgbClr val="253356"/>
              </a:buClr>
              <a:buSzPts val="2200"/>
              <a:buChar char="▪"/>
            </a:pPr>
            <a:r>
              <a:rPr lang="fr-FR" sz="2200" dirty="0">
                <a:solidFill>
                  <a:srgbClr val="253356"/>
                </a:solidFill>
              </a:rPr>
              <a:t>Ex. </a:t>
            </a:r>
            <a:r>
              <a:rPr lang="fr-FR" sz="2200" dirty="0" err="1">
                <a:solidFill>
                  <a:srgbClr val="253356"/>
                </a:solidFill>
              </a:rPr>
              <a:t>PowerDIS</a:t>
            </a:r>
            <a:r>
              <a:rPr lang="fr-FR" sz="2200" dirty="0">
                <a:solidFill>
                  <a:srgbClr val="253356"/>
                </a:solidFill>
              </a:rPr>
              <a:t> : calcul des besoins des bâtiments + des consommations des systèmes énergétiques </a:t>
            </a:r>
            <a:endParaRPr sz="2200" dirty="0">
              <a:solidFill>
                <a:srgbClr val="253356"/>
              </a:solidFill>
            </a:endParaRPr>
          </a:p>
          <a:p>
            <a:pPr marL="0" lvl="0" indent="0" algn="l" rtl="0">
              <a:lnSpc>
                <a:spcPct val="100000"/>
              </a:lnSpc>
              <a:spcBef>
                <a:spcPts val="500"/>
              </a:spcBef>
              <a:spcAft>
                <a:spcPts val="0"/>
              </a:spcAft>
              <a:buNone/>
            </a:pPr>
            <a:endParaRPr sz="2200" dirty="0">
              <a:solidFill>
                <a:srgbClr val="253356"/>
              </a:solidFill>
            </a:endParaRPr>
          </a:p>
          <a:p>
            <a:pPr marL="0" lvl="0" indent="0" algn="l" rtl="0">
              <a:lnSpc>
                <a:spcPct val="100000"/>
              </a:lnSpc>
              <a:spcBef>
                <a:spcPts val="500"/>
              </a:spcBef>
              <a:spcAft>
                <a:spcPts val="0"/>
              </a:spcAft>
              <a:buNone/>
            </a:pPr>
            <a:r>
              <a:rPr lang="fr-FR" sz="2200" b="1" dirty="0">
                <a:solidFill>
                  <a:srgbClr val="253356"/>
                </a:solidFill>
              </a:rPr>
              <a:t>Validation du modèle physique</a:t>
            </a:r>
            <a:r>
              <a:rPr lang="fr-FR" sz="2200" dirty="0">
                <a:solidFill>
                  <a:srgbClr val="253356"/>
                </a:solidFill>
              </a:rPr>
              <a:t>: </a:t>
            </a:r>
            <a:endParaRPr sz="2200" dirty="0">
              <a:solidFill>
                <a:srgbClr val="253356"/>
              </a:solidFill>
            </a:endParaRPr>
          </a:p>
          <a:p>
            <a:pPr marL="457200" lvl="0" indent="-368300" algn="l" rtl="0">
              <a:lnSpc>
                <a:spcPct val="100000"/>
              </a:lnSpc>
              <a:spcBef>
                <a:spcPts val="500"/>
              </a:spcBef>
              <a:spcAft>
                <a:spcPts val="0"/>
              </a:spcAft>
              <a:buClr>
                <a:srgbClr val="253356"/>
              </a:buClr>
              <a:buSzPts val="2200"/>
              <a:buChar char="▪"/>
            </a:pPr>
            <a:r>
              <a:rPr lang="fr-FR" sz="2200" dirty="0">
                <a:solidFill>
                  <a:srgbClr val="253356"/>
                </a:solidFill>
              </a:rPr>
              <a:t>Confronter les prédictions du modèle aux mesures réelles</a:t>
            </a:r>
            <a:endParaRPr sz="2200" dirty="0">
              <a:solidFill>
                <a:srgbClr val="253356"/>
              </a:solidFill>
            </a:endParaRPr>
          </a:p>
          <a:p>
            <a:pPr marL="457200" lvl="0" indent="-368300" algn="l" rtl="0">
              <a:lnSpc>
                <a:spcPct val="100000"/>
              </a:lnSpc>
              <a:spcBef>
                <a:spcPts val="0"/>
              </a:spcBef>
              <a:spcAft>
                <a:spcPts val="0"/>
              </a:spcAft>
              <a:buClr>
                <a:srgbClr val="253356"/>
              </a:buClr>
              <a:buSzPts val="2200"/>
              <a:buChar char="▪"/>
            </a:pPr>
            <a:r>
              <a:rPr lang="fr-FR" sz="2200" dirty="0">
                <a:solidFill>
                  <a:srgbClr val="253356"/>
                </a:solidFill>
              </a:rPr>
              <a:t>Un modèle validé =&gt; un modèle avec une fiabilité connue</a:t>
            </a:r>
            <a:endParaRPr sz="2200" dirty="0">
              <a:solidFill>
                <a:srgbClr val="253356"/>
              </a:solid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rtl="0">
              <a:lnSpc>
                <a:spcPct val="100000"/>
              </a:lnSpc>
              <a:spcBef>
                <a:spcPts val="500"/>
              </a:spcBef>
              <a:spcAft>
                <a:spcPts val="0"/>
              </a:spcAft>
              <a:buSzPts val="2400"/>
              <a:buNone/>
            </a:pPr>
            <a:r>
              <a:rPr lang="fr-FR" sz="2200" b="1" dirty="0">
                <a:solidFill>
                  <a:srgbClr val="253356"/>
                </a:solidFill>
              </a:rPr>
              <a:t>Sujet : Développement d'une méthodologie de validation pour les </a:t>
            </a:r>
            <a:r>
              <a:rPr lang="fr-FR" sz="2200" b="1" dirty="0">
                <a:solidFill>
                  <a:schemeClr val="bg2"/>
                </a:solidFill>
              </a:rPr>
              <a:t>sorties dynamiques </a:t>
            </a:r>
            <a:r>
              <a:rPr lang="fr-FR" sz="2200" b="1" dirty="0">
                <a:solidFill>
                  <a:srgbClr val="253356"/>
                </a:solidFill>
              </a:rPr>
              <a:t>d’UBEM</a:t>
            </a:r>
          </a:p>
          <a:p>
            <a:pPr marL="0" lvl="0" indent="0" algn="l" rtl="0">
              <a:lnSpc>
                <a:spcPct val="100000"/>
              </a:lnSpc>
              <a:spcBef>
                <a:spcPts val="500"/>
              </a:spcBef>
              <a:spcAft>
                <a:spcPts val="0"/>
              </a:spcAft>
              <a:buSzPts val="2400"/>
              <a:buNone/>
            </a:pPr>
            <a:r>
              <a:rPr lang="fr-FR" sz="2200" i="1" dirty="0">
                <a:solidFill>
                  <a:srgbClr val="253356"/>
                </a:solidFill>
              </a:rPr>
              <a:t>Au cours du processus de modélisation, </a:t>
            </a:r>
            <a:r>
              <a:rPr lang="fr-FR" sz="2200" i="1" dirty="0">
                <a:solidFill>
                  <a:srgbClr val="FF0000"/>
                </a:solidFill>
              </a:rPr>
              <a:t>quand</a:t>
            </a:r>
            <a:r>
              <a:rPr lang="fr-FR" sz="2200" i="1" dirty="0">
                <a:solidFill>
                  <a:srgbClr val="253356"/>
                </a:solidFill>
              </a:rPr>
              <a:t>, </a:t>
            </a:r>
            <a:r>
              <a:rPr lang="fr-FR" sz="2200" i="1" dirty="0">
                <a:solidFill>
                  <a:srgbClr val="FF0000"/>
                </a:solidFill>
              </a:rPr>
              <a:t>où</a:t>
            </a:r>
            <a:r>
              <a:rPr lang="fr-FR" sz="2200" i="1" dirty="0">
                <a:solidFill>
                  <a:srgbClr val="253356"/>
                </a:solidFill>
              </a:rPr>
              <a:t> </a:t>
            </a:r>
            <a:r>
              <a:rPr lang="fr-FR" sz="2200" i="1" dirty="0">
                <a:solidFill>
                  <a:srgbClr val="FF0000"/>
                </a:solidFill>
              </a:rPr>
              <a:t>et dans quelle mesure </a:t>
            </a:r>
            <a:r>
              <a:rPr lang="fr-FR" sz="2200" i="1" dirty="0">
                <a:solidFill>
                  <a:srgbClr val="253356"/>
                </a:solidFill>
              </a:rPr>
              <a:t>les erreurs se produisent-elles ?</a:t>
            </a:r>
            <a:endParaRPr sz="2200" i="1"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54" name="Google Shape;154;g35022506002_0_7"/>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4</a:t>
            </a:r>
            <a:endParaRPr/>
          </a:p>
        </p:txBody>
      </p:sp>
      <p:pic>
        <p:nvPicPr>
          <p:cNvPr id="5" name="Image 4">
            <a:extLst>
              <a:ext uri="{FF2B5EF4-FFF2-40B4-BE49-F238E27FC236}">
                <a16:creationId xmlns:a16="http://schemas.microsoft.com/office/drawing/2014/main" id="{2AA289E2-BFC0-67C1-AF79-B37D4555DC1F}"/>
              </a:ext>
            </a:extLst>
          </p:cNvPr>
          <p:cNvPicPr>
            <a:picLocks noChangeAspect="1"/>
          </p:cNvPicPr>
          <p:nvPr>
            <p:custDataLst>
              <p:tags r:id="rId5"/>
            </p:custDataLst>
          </p:nvPr>
        </p:nvPicPr>
        <p:blipFill>
          <a:blip r:embed="rId9"/>
          <a:stretch>
            <a:fillRect/>
          </a:stretch>
        </p:blipFill>
        <p:spPr>
          <a:xfrm>
            <a:off x="7480642" y="2448757"/>
            <a:ext cx="4667217" cy="2437613"/>
          </a:xfrm>
          <a:prstGeom prst="rect">
            <a:avLst/>
          </a:prstGeom>
        </p:spPr>
      </p:pic>
      <p:sp>
        <p:nvSpPr>
          <p:cNvPr id="6" name="ZoneTexte 5">
            <a:extLst>
              <a:ext uri="{FF2B5EF4-FFF2-40B4-BE49-F238E27FC236}">
                <a16:creationId xmlns:a16="http://schemas.microsoft.com/office/drawing/2014/main" id="{2BB42671-26F1-D27D-F2DD-4ABF2407F3DC}"/>
              </a:ext>
            </a:extLst>
          </p:cNvPr>
          <p:cNvSpPr txBox="1"/>
          <p:nvPr>
            <p:custDataLst>
              <p:tags r:id="rId6"/>
            </p:custDataLst>
          </p:nvPr>
        </p:nvSpPr>
        <p:spPr>
          <a:xfrm>
            <a:off x="8437418" y="4888773"/>
            <a:ext cx="3145405" cy="338554"/>
          </a:xfrm>
          <a:prstGeom prst="rect">
            <a:avLst/>
          </a:prstGeom>
          <a:noFill/>
        </p:spPr>
        <p:txBody>
          <a:bodyPr wrap="square">
            <a:spAutoFit/>
          </a:bodyPr>
          <a:lstStyle/>
          <a:p>
            <a:pPr algn="just"/>
            <a:r>
              <a:rPr lang="en-GB" sz="1600" dirty="0">
                <a:effectLst/>
                <a:latin typeface="Calibri" panose="020F0502020204030204" pitchFamily="34" charset="0"/>
                <a:ea typeface="SimSun" panose="02010600030101010101" pitchFamily="2" charset="-122"/>
                <a:cs typeface="Times New Roman" panose="02020603050405020304" pitchFamily="18" charset="0"/>
              </a:rPr>
              <a:t>Figure 1 : Illustration de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PowerDIS</a:t>
            </a:r>
            <a:r>
              <a:rPr lang="en-GB" sz="1600" dirty="0">
                <a:effectLst/>
                <a:latin typeface="Calibri" panose="020F0502020204030204" pitchFamily="34" charset="0"/>
                <a:ea typeface="SimSun" panose="02010600030101010101" pitchFamily="2" charset="-122"/>
                <a:cs typeface="Times New Roman" panose="02020603050405020304" pitchFamily="18" charset="0"/>
              </a:rPr>
              <a:t>.</a:t>
            </a:r>
            <a:endParaRPr lang="en-GB" sz="1200" dirty="0"/>
          </a:p>
        </p:txBody>
      </p:sp>
    </p:spTree>
    <p:custDataLst>
      <p:tags r:id="rId1"/>
    </p:custDataLst>
    <p:extLst>
      <p:ext uri="{BB962C8B-B14F-4D97-AF65-F5344CB8AC3E}">
        <p14:creationId xmlns:p14="http://schemas.microsoft.com/office/powerpoint/2010/main" val="1440998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35022506002_0_0"/>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Conflits dans la préparation de données de validation</a:t>
            </a:r>
            <a:endParaRPr dirty="0">
              <a:solidFill>
                <a:srgbClr val="143F6A"/>
              </a:solidFill>
            </a:endParaRPr>
          </a:p>
        </p:txBody>
      </p:sp>
      <p:sp>
        <p:nvSpPr>
          <p:cNvPr id="170" name="Google Shape;170;g35022506002_0_0"/>
          <p:cNvSpPr txBox="1">
            <a:spLocks noGrp="1"/>
          </p:cNvSpPr>
          <p:nvPr>
            <p:ph type="body" idx="1"/>
            <p:custDataLst>
              <p:tags r:id="rId3"/>
            </p:custDataLst>
          </p:nvPr>
        </p:nvSpPr>
        <p:spPr>
          <a:xfrm>
            <a:off x="296650" y="1246025"/>
            <a:ext cx="115995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None/>
            </a:pPr>
            <a:r>
              <a:rPr lang="fr-FR" b="1" dirty="0">
                <a:solidFill>
                  <a:schemeClr val="dk2"/>
                </a:solidFill>
              </a:rPr>
              <a:t>Données pour la validation</a:t>
            </a:r>
            <a:r>
              <a:rPr lang="fr-FR" dirty="0">
                <a:solidFill>
                  <a:schemeClr val="dk2"/>
                </a:solidFill>
              </a:rPr>
              <a:t> (Jensen, 1995) : </a:t>
            </a:r>
            <a:endParaRPr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Complètes</a:t>
            </a:r>
            <a:r>
              <a:rPr lang="fr-FR" sz="2000" b="1" dirty="0">
                <a:solidFill>
                  <a:schemeClr val="dk2"/>
                </a:solidFill>
              </a:rPr>
              <a:t> </a:t>
            </a:r>
            <a:r>
              <a:rPr lang="fr-FR" sz="2000" dirty="0">
                <a:solidFill>
                  <a:schemeClr val="dk2"/>
                </a:solidFill>
              </a:rPr>
              <a:t>=&gt; connaître les paramètres du modèle à valider</a:t>
            </a:r>
            <a:endParaRPr sz="2000" dirty="0">
              <a:solidFill>
                <a:schemeClr val="dk2"/>
              </a:solidFill>
            </a:endParaRPr>
          </a:p>
          <a:p>
            <a:pPr marL="457200" lvl="0" indent="-368300" algn="l" rtl="0">
              <a:spcBef>
                <a:spcPts val="0"/>
              </a:spcBef>
              <a:spcAft>
                <a:spcPts val="0"/>
              </a:spcAft>
              <a:buClr>
                <a:schemeClr val="dk2"/>
              </a:buClr>
              <a:buSzPts val="2200"/>
              <a:buChar char="-"/>
            </a:pPr>
            <a:r>
              <a:rPr lang="fr-FR" sz="2000" dirty="0">
                <a:solidFill>
                  <a:schemeClr val="dk2"/>
                </a:solidFill>
              </a:rPr>
              <a:t>Avec faible incertitude</a:t>
            </a:r>
            <a:endParaRPr sz="20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Détaillées =&gt; permettre d’identifier les sources d’écarts entre les mesures et les simulations</a:t>
            </a:r>
            <a:endParaRPr sz="20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Vérifiées et nettoyées</a:t>
            </a:r>
            <a:endParaRPr sz="20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Documentée </a:t>
            </a:r>
          </a:p>
          <a:p>
            <a:pPr marL="457200" lvl="0" indent="-368300" algn="l" rtl="0">
              <a:lnSpc>
                <a:spcPct val="100000"/>
              </a:lnSpc>
              <a:spcBef>
                <a:spcPts val="0"/>
              </a:spcBef>
              <a:spcAft>
                <a:spcPts val="0"/>
              </a:spcAft>
              <a:buClr>
                <a:schemeClr val="dk2"/>
              </a:buClr>
              <a:buSzPts val="2200"/>
              <a:buChar char="-"/>
            </a:pPr>
            <a:endParaRPr lang="fr-FR" sz="2200" dirty="0">
              <a:solidFill>
                <a:schemeClr val="dk2"/>
              </a:solidFill>
            </a:endParaRPr>
          </a:p>
          <a:p>
            <a:pPr marL="88900" lvl="0" indent="0" algn="l" rtl="0">
              <a:lnSpc>
                <a:spcPct val="100000"/>
              </a:lnSpc>
              <a:spcBef>
                <a:spcPts val="0"/>
              </a:spcBef>
              <a:spcAft>
                <a:spcPts val="0"/>
              </a:spcAft>
              <a:buClr>
                <a:schemeClr val="dk2"/>
              </a:buClr>
              <a:buSzPts val="100"/>
              <a:buNone/>
            </a:pPr>
            <a:r>
              <a:rPr lang="fr-FR" dirty="0">
                <a:noFill/>
              </a:rPr>
              <a:t>Challenges de données dans la validation d’UBEM : </a:t>
            </a:r>
          </a:p>
          <a:p>
            <a:pPr marL="431800" indent="-342900" algn="l">
              <a:spcBef>
                <a:spcPts val="0"/>
              </a:spcBef>
              <a:buClr>
                <a:schemeClr val="dk2"/>
              </a:buClr>
              <a:buSzPts val="100"/>
            </a:pPr>
            <a:r>
              <a:rPr lang="fr-FR" sz="2000" dirty="0">
                <a:noFill/>
              </a:rPr>
              <a:t>Qualité de données </a:t>
            </a:r>
          </a:p>
          <a:p>
            <a:pPr marL="889000" lvl="1" indent="-342900">
              <a:spcBef>
                <a:spcPts val="0"/>
              </a:spcBef>
              <a:buClr>
                <a:schemeClr val="dk2"/>
              </a:buClr>
              <a:buSzPts val="100"/>
            </a:pPr>
            <a:r>
              <a:rPr lang="fr-FR" sz="2000" dirty="0">
                <a:noFill/>
              </a:rPr>
              <a:t>Mesurées par les entreprises commerciales</a:t>
            </a:r>
          </a:p>
          <a:p>
            <a:pPr marL="431800" indent="-342900" algn="l">
              <a:spcBef>
                <a:spcPts val="0"/>
              </a:spcBef>
              <a:buClr>
                <a:schemeClr val="dk2"/>
              </a:buClr>
              <a:buSzPts val="100"/>
            </a:pPr>
            <a:r>
              <a:rPr lang="fr-FR" sz="2000" dirty="0">
                <a:noFill/>
              </a:rPr>
              <a:t>Disponibilité de données</a:t>
            </a:r>
          </a:p>
          <a:p>
            <a:pPr marL="889000" lvl="1" indent="-342900">
              <a:spcBef>
                <a:spcPts val="0"/>
              </a:spcBef>
              <a:buClr>
                <a:schemeClr val="dk2"/>
              </a:buClr>
              <a:buSzPts val="100"/>
            </a:pPr>
            <a:r>
              <a:rPr lang="fr-FR" sz="2000" dirty="0">
                <a:noFill/>
              </a:rPr>
              <a:t>Peu de données d’entrée </a:t>
            </a:r>
          </a:p>
          <a:p>
            <a:pPr marL="889000" lvl="1" indent="-342900">
              <a:spcBef>
                <a:spcPts val="0"/>
              </a:spcBef>
              <a:buClr>
                <a:schemeClr val="dk2"/>
              </a:buClr>
              <a:buSzPts val="100"/>
            </a:pPr>
            <a:r>
              <a:rPr lang="fr-FR" sz="2000" dirty="0">
                <a:noFill/>
              </a:rPr>
              <a:t>Échantillons de bâtiments</a:t>
            </a:r>
          </a:p>
          <a:p>
            <a:pPr marL="889000" lvl="1" indent="-342900">
              <a:spcBef>
                <a:spcPts val="0"/>
              </a:spcBef>
              <a:buClr>
                <a:schemeClr val="dk2"/>
              </a:buClr>
              <a:buSzPts val="100"/>
            </a:pPr>
            <a:r>
              <a:rPr lang="fr-FR" sz="2000" dirty="0">
                <a:noFill/>
              </a:rPr>
              <a:t>Complétude de mesures horaires</a:t>
            </a:r>
            <a:endParaRPr lang="en-GB" sz="2000" dirty="0">
              <a:noFill/>
            </a:endParaRPr>
          </a:p>
          <a:p>
            <a:pPr marL="431800" indent="-342900" algn="l">
              <a:spcBef>
                <a:spcPts val="0"/>
              </a:spcBef>
              <a:buClr>
                <a:schemeClr val="dk2"/>
              </a:buClr>
              <a:buSzPts val="2200"/>
            </a:pPr>
            <a:endParaRPr lang="fr-FR" sz="2200" dirty="0">
              <a:solidFill>
                <a:schemeClr val="dk2"/>
              </a:solidFill>
            </a:endParaRPr>
          </a:p>
          <a:p>
            <a:pPr marL="0" lvl="0" indent="0" algn="l" rtl="0">
              <a:lnSpc>
                <a:spcPct val="100000"/>
              </a:lnSpc>
              <a:spcBef>
                <a:spcPts val="500"/>
              </a:spcBef>
              <a:spcAft>
                <a:spcPts val="0"/>
              </a:spcAft>
              <a:buSzPts val="2400"/>
              <a:buNone/>
            </a:pPr>
            <a:endParaRPr sz="2000"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71" name="Google Shape;171;g35022506002_0_0"/>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5</a:t>
            </a:r>
            <a:endParaRPr/>
          </a:p>
        </p:txBody>
      </p:sp>
    </p:spTree>
    <p:custDataLst>
      <p:tags r:id="rId1"/>
    </p:custDataLst>
    <p:extLst>
      <p:ext uri="{BB962C8B-B14F-4D97-AF65-F5344CB8AC3E}">
        <p14:creationId xmlns:p14="http://schemas.microsoft.com/office/powerpoint/2010/main" val="3289496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35022506002_0_0"/>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Conflits dans la préparation de données de validation</a:t>
            </a:r>
            <a:endParaRPr dirty="0">
              <a:solidFill>
                <a:srgbClr val="143F6A"/>
              </a:solidFill>
            </a:endParaRPr>
          </a:p>
        </p:txBody>
      </p:sp>
      <p:sp>
        <p:nvSpPr>
          <p:cNvPr id="170" name="Google Shape;170;g35022506002_0_0"/>
          <p:cNvSpPr txBox="1">
            <a:spLocks noGrp="1"/>
          </p:cNvSpPr>
          <p:nvPr>
            <p:ph type="body" idx="1"/>
            <p:custDataLst>
              <p:tags r:id="rId3"/>
            </p:custDataLst>
          </p:nvPr>
        </p:nvSpPr>
        <p:spPr>
          <a:xfrm>
            <a:off x="296650" y="1246025"/>
            <a:ext cx="115995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None/>
            </a:pPr>
            <a:r>
              <a:rPr lang="fr-FR" b="1" dirty="0">
                <a:solidFill>
                  <a:schemeClr val="dk2"/>
                </a:solidFill>
              </a:rPr>
              <a:t>Données pour la validation</a:t>
            </a:r>
            <a:r>
              <a:rPr lang="fr-FR" dirty="0">
                <a:solidFill>
                  <a:schemeClr val="dk2"/>
                </a:solidFill>
              </a:rPr>
              <a:t> (Jensen, 1995) : </a:t>
            </a:r>
            <a:endParaRPr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Complètes</a:t>
            </a:r>
            <a:r>
              <a:rPr lang="fr-FR" sz="2000" b="1" dirty="0">
                <a:solidFill>
                  <a:schemeClr val="dk2"/>
                </a:solidFill>
              </a:rPr>
              <a:t> </a:t>
            </a:r>
            <a:r>
              <a:rPr lang="fr-FR" sz="2000" dirty="0">
                <a:solidFill>
                  <a:schemeClr val="dk2"/>
                </a:solidFill>
              </a:rPr>
              <a:t>=&gt; connaître les paramètres du modèle à valider</a:t>
            </a:r>
            <a:endParaRPr sz="2000" dirty="0">
              <a:solidFill>
                <a:schemeClr val="dk2"/>
              </a:solidFill>
            </a:endParaRPr>
          </a:p>
          <a:p>
            <a:pPr marL="457200" lvl="0" indent="-368300" algn="l" rtl="0">
              <a:spcBef>
                <a:spcPts val="0"/>
              </a:spcBef>
              <a:spcAft>
                <a:spcPts val="0"/>
              </a:spcAft>
              <a:buClr>
                <a:schemeClr val="dk2"/>
              </a:buClr>
              <a:buSzPts val="2200"/>
              <a:buChar char="-"/>
            </a:pPr>
            <a:r>
              <a:rPr lang="fr-FR" sz="2000" dirty="0">
                <a:solidFill>
                  <a:schemeClr val="dk2"/>
                </a:solidFill>
              </a:rPr>
              <a:t>Avec faible incertitude</a:t>
            </a:r>
            <a:endParaRPr sz="20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Détaillées =&gt; permettre d’identifier les sources d’écarts entre les mesures et les simulations</a:t>
            </a:r>
            <a:endParaRPr sz="20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Vérifiées et nettoyées</a:t>
            </a:r>
            <a:endParaRPr sz="20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Documentée </a:t>
            </a:r>
          </a:p>
          <a:p>
            <a:pPr marL="457200" lvl="0" indent="-368300" algn="l" rtl="0">
              <a:lnSpc>
                <a:spcPct val="100000"/>
              </a:lnSpc>
              <a:spcBef>
                <a:spcPts val="0"/>
              </a:spcBef>
              <a:spcAft>
                <a:spcPts val="0"/>
              </a:spcAft>
              <a:buClr>
                <a:schemeClr val="dk2"/>
              </a:buClr>
              <a:buSzPts val="2200"/>
              <a:buChar char="-"/>
            </a:pPr>
            <a:endParaRPr lang="fr-FR" sz="2200" dirty="0">
              <a:solidFill>
                <a:schemeClr val="dk2"/>
              </a:solidFill>
            </a:endParaRPr>
          </a:p>
          <a:p>
            <a:pPr marL="88900" lvl="0" indent="0" algn="l" rtl="0">
              <a:lnSpc>
                <a:spcPct val="100000"/>
              </a:lnSpc>
              <a:spcBef>
                <a:spcPts val="0"/>
              </a:spcBef>
              <a:spcAft>
                <a:spcPts val="0"/>
              </a:spcAft>
              <a:buClr>
                <a:schemeClr val="dk2"/>
              </a:buClr>
              <a:buSzPts val="2200"/>
              <a:buNone/>
            </a:pPr>
            <a:r>
              <a:rPr lang="fr-FR" dirty="0">
                <a:solidFill>
                  <a:schemeClr val="dk2"/>
                </a:solidFill>
              </a:rPr>
              <a:t>Challenges de données dans la validation d’UBEM : </a:t>
            </a:r>
          </a:p>
          <a:p>
            <a:pPr marL="431800" indent="-342900" algn="l">
              <a:spcBef>
                <a:spcPts val="0"/>
              </a:spcBef>
              <a:buClr>
                <a:schemeClr val="dk2"/>
              </a:buClr>
              <a:buSzPts val="2200"/>
            </a:pPr>
            <a:r>
              <a:rPr lang="fr-FR" sz="2000" dirty="0">
                <a:solidFill>
                  <a:srgbClr val="FF0000"/>
                </a:solidFill>
              </a:rPr>
              <a:t>Qualité</a:t>
            </a:r>
            <a:r>
              <a:rPr lang="fr-FR" sz="2000" dirty="0">
                <a:solidFill>
                  <a:schemeClr val="dk2"/>
                </a:solidFill>
              </a:rPr>
              <a:t> de données </a:t>
            </a:r>
          </a:p>
          <a:p>
            <a:pPr marL="889000" lvl="1" indent="-342900">
              <a:spcBef>
                <a:spcPts val="0"/>
              </a:spcBef>
              <a:buClr>
                <a:schemeClr val="dk2"/>
              </a:buClr>
              <a:buSzPts val="100"/>
            </a:pPr>
            <a:r>
              <a:rPr lang="fr-FR" sz="2000" dirty="0">
                <a:noFill/>
              </a:rPr>
              <a:t>Mesurées par les entreprises commerciales</a:t>
            </a:r>
          </a:p>
          <a:p>
            <a:pPr marL="431800" indent="-342900" algn="l">
              <a:spcBef>
                <a:spcPts val="0"/>
              </a:spcBef>
              <a:buClr>
                <a:schemeClr val="dk2"/>
              </a:buClr>
              <a:buSzPts val="2200"/>
            </a:pPr>
            <a:r>
              <a:rPr lang="fr-FR" sz="2000" dirty="0">
                <a:solidFill>
                  <a:srgbClr val="FF0000"/>
                </a:solidFill>
              </a:rPr>
              <a:t>Disponibilité</a:t>
            </a:r>
            <a:r>
              <a:rPr lang="fr-FR" sz="2000" dirty="0">
                <a:solidFill>
                  <a:schemeClr val="dk2"/>
                </a:solidFill>
              </a:rPr>
              <a:t> de données</a:t>
            </a:r>
          </a:p>
          <a:p>
            <a:pPr marL="889000" lvl="1" indent="-342900">
              <a:spcBef>
                <a:spcPts val="0"/>
              </a:spcBef>
              <a:buClr>
                <a:schemeClr val="dk2"/>
              </a:buClr>
              <a:buSzPts val="100"/>
            </a:pPr>
            <a:r>
              <a:rPr lang="fr-FR" sz="2000" dirty="0">
                <a:noFill/>
              </a:rPr>
              <a:t>Peu de données d’entrée </a:t>
            </a:r>
          </a:p>
          <a:p>
            <a:pPr marL="889000" lvl="1" indent="-342900">
              <a:spcBef>
                <a:spcPts val="0"/>
              </a:spcBef>
              <a:buClr>
                <a:schemeClr val="dk2"/>
              </a:buClr>
              <a:buSzPts val="100"/>
            </a:pPr>
            <a:r>
              <a:rPr lang="fr-FR" sz="2000" dirty="0">
                <a:noFill/>
              </a:rPr>
              <a:t>Échantillons de bâtiments</a:t>
            </a:r>
          </a:p>
          <a:p>
            <a:pPr marL="889000" lvl="1" indent="-342900">
              <a:spcBef>
                <a:spcPts val="0"/>
              </a:spcBef>
              <a:buClr>
                <a:schemeClr val="dk2"/>
              </a:buClr>
              <a:buSzPts val="100"/>
            </a:pPr>
            <a:r>
              <a:rPr lang="fr-FR" sz="2000" dirty="0">
                <a:noFill/>
              </a:rPr>
              <a:t>Complétude de mesures horaires</a:t>
            </a:r>
            <a:endParaRPr lang="en-GB" sz="2000" dirty="0">
              <a:noFill/>
            </a:endParaRPr>
          </a:p>
          <a:p>
            <a:pPr marL="431800" indent="-342900" algn="l">
              <a:spcBef>
                <a:spcPts val="0"/>
              </a:spcBef>
              <a:buClr>
                <a:schemeClr val="dk2"/>
              </a:buClr>
              <a:buSzPts val="2200"/>
            </a:pPr>
            <a:endParaRPr lang="fr-FR" sz="2200" dirty="0">
              <a:solidFill>
                <a:schemeClr val="dk2"/>
              </a:solidFill>
            </a:endParaRPr>
          </a:p>
          <a:p>
            <a:pPr marL="0" lvl="0" indent="0" algn="l" rtl="0">
              <a:lnSpc>
                <a:spcPct val="100000"/>
              </a:lnSpc>
              <a:spcBef>
                <a:spcPts val="500"/>
              </a:spcBef>
              <a:spcAft>
                <a:spcPts val="0"/>
              </a:spcAft>
              <a:buSzPts val="2400"/>
              <a:buNone/>
            </a:pPr>
            <a:endParaRPr sz="2000"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71" name="Google Shape;171;g35022506002_0_0"/>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5</a:t>
            </a:r>
            <a:endParaRPr/>
          </a:p>
        </p:txBody>
      </p:sp>
    </p:spTree>
    <p:custDataLst>
      <p:tags r:id="rId1"/>
    </p:custDataLst>
    <p:extLst>
      <p:ext uri="{BB962C8B-B14F-4D97-AF65-F5344CB8AC3E}">
        <p14:creationId xmlns:p14="http://schemas.microsoft.com/office/powerpoint/2010/main" val="1187963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35022506002_0_0"/>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Conflits dans la préparation de données de validation</a:t>
            </a:r>
            <a:endParaRPr dirty="0">
              <a:solidFill>
                <a:srgbClr val="143F6A"/>
              </a:solidFill>
            </a:endParaRPr>
          </a:p>
        </p:txBody>
      </p:sp>
      <p:sp>
        <p:nvSpPr>
          <p:cNvPr id="170" name="Google Shape;170;g35022506002_0_0"/>
          <p:cNvSpPr txBox="1">
            <a:spLocks noGrp="1"/>
          </p:cNvSpPr>
          <p:nvPr>
            <p:ph type="body" idx="1"/>
            <p:custDataLst>
              <p:tags r:id="rId3"/>
            </p:custDataLst>
          </p:nvPr>
        </p:nvSpPr>
        <p:spPr>
          <a:xfrm>
            <a:off x="296650" y="1246025"/>
            <a:ext cx="115995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None/>
            </a:pPr>
            <a:r>
              <a:rPr lang="fr-FR" b="1" dirty="0">
                <a:solidFill>
                  <a:schemeClr val="dk2"/>
                </a:solidFill>
              </a:rPr>
              <a:t>Données pour la validation</a:t>
            </a:r>
            <a:r>
              <a:rPr lang="fr-FR" dirty="0">
                <a:solidFill>
                  <a:schemeClr val="dk2"/>
                </a:solidFill>
              </a:rPr>
              <a:t> (Jensen, 1995) : </a:t>
            </a:r>
            <a:endParaRPr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Complètes</a:t>
            </a:r>
            <a:r>
              <a:rPr lang="fr-FR" sz="2000" b="1" dirty="0">
                <a:solidFill>
                  <a:schemeClr val="dk2"/>
                </a:solidFill>
              </a:rPr>
              <a:t> </a:t>
            </a:r>
            <a:r>
              <a:rPr lang="fr-FR" sz="2000" dirty="0">
                <a:solidFill>
                  <a:schemeClr val="dk2"/>
                </a:solidFill>
              </a:rPr>
              <a:t>=&gt; connaître les paramètres du modèle à valider</a:t>
            </a:r>
            <a:endParaRPr sz="2000" dirty="0">
              <a:solidFill>
                <a:schemeClr val="dk2"/>
              </a:solidFill>
            </a:endParaRPr>
          </a:p>
          <a:p>
            <a:pPr marL="457200" lvl="0" indent="-368300" algn="l" rtl="0">
              <a:spcBef>
                <a:spcPts val="0"/>
              </a:spcBef>
              <a:spcAft>
                <a:spcPts val="0"/>
              </a:spcAft>
              <a:buClr>
                <a:schemeClr val="dk2"/>
              </a:buClr>
              <a:buSzPts val="2200"/>
              <a:buChar char="-"/>
            </a:pPr>
            <a:r>
              <a:rPr lang="fr-FR" sz="2000" dirty="0">
                <a:solidFill>
                  <a:schemeClr val="dk2"/>
                </a:solidFill>
              </a:rPr>
              <a:t>Avec faible incertitude</a:t>
            </a:r>
            <a:endParaRPr sz="20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Détaillées =&gt; permettre d’identifier les sources d’écarts entre les mesures et les simulations</a:t>
            </a:r>
            <a:endParaRPr sz="20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Vérifiées et nettoyées</a:t>
            </a:r>
            <a:endParaRPr sz="20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Documentée </a:t>
            </a:r>
          </a:p>
          <a:p>
            <a:pPr marL="457200" lvl="0" indent="-368300" algn="l" rtl="0">
              <a:lnSpc>
                <a:spcPct val="100000"/>
              </a:lnSpc>
              <a:spcBef>
                <a:spcPts val="0"/>
              </a:spcBef>
              <a:spcAft>
                <a:spcPts val="0"/>
              </a:spcAft>
              <a:buClr>
                <a:schemeClr val="dk2"/>
              </a:buClr>
              <a:buSzPts val="2200"/>
              <a:buChar char="-"/>
            </a:pPr>
            <a:endParaRPr lang="fr-FR" sz="2200" dirty="0">
              <a:solidFill>
                <a:schemeClr val="dk2"/>
              </a:solidFill>
            </a:endParaRPr>
          </a:p>
          <a:p>
            <a:pPr marL="88900" lvl="0" indent="0" algn="l" rtl="0">
              <a:lnSpc>
                <a:spcPct val="100000"/>
              </a:lnSpc>
              <a:spcBef>
                <a:spcPts val="0"/>
              </a:spcBef>
              <a:spcAft>
                <a:spcPts val="0"/>
              </a:spcAft>
              <a:buClr>
                <a:schemeClr val="dk2"/>
              </a:buClr>
              <a:buSzPts val="2200"/>
              <a:buNone/>
            </a:pPr>
            <a:r>
              <a:rPr lang="fr-FR" dirty="0">
                <a:solidFill>
                  <a:schemeClr val="dk2"/>
                </a:solidFill>
              </a:rPr>
              <a:t>Challenges de données dans la validation d’UBEM : </a:t>
            </a:r>
          </a:p>
          <a:p>
            <a:pPr marL="431800" indent="-342900" algn="l">
              <a:spcBef>
                <a:spcPts val="0"/>
              </a:spcBef>
              <a:buClr>
                <a:schemeClr val="dk2"/>
              </a:buClr>
              <a:buSzPts val="2200"/>
            </a:pPr>
            <a:r>
              <a:rPr lang="fr-FR" sz="2000" dirty="0">
                <a:solidFill>
                  <a:srgbClr val="FF0000"/>
                </a:solidFill>
              </a:rPr>
              <a:t>Qualité</a:t>
            </a:r>
            <a:r>
              <a:rPr lang="fr-FR" sz="2000" dirty="0">
                <a:solidFill>
                  <a:schemeClr val="dk2"/>
                </a:solidFill>
              </a:rPr>
              <a:t> de données </a:t>
            </a:r>
          </a:p>
          <a:p>
            <a:pPr marL="889000" lvl="1" indent="-342900">
              <a:spcBef>
                <a:spcPts val="0"/>
              </a:spcBef>
              <a:buClr>
                <a:schemeClr val="dk2"/>
              </a:buClr>
              <a:buSzPts val="2200"/>
            </a:pPr>
            <a:r>
              <a:rPr lang="fr-FR" sz="2000" dirty="0">
                <a:solidFill>
                  <a:schemeClr val="dk2"/>
                </a:solidFill>
              </a:rPr>
              <a:t>Mesurées par les entreprises commerciales</a:t>
            </a:r>
          </a:p>
          <a:p>
            <a:pPr marL="431800" indent="-342900" algn="l">
              <a:spcBef>
                <a:spcPts val="0"/>
              </a:spcBef>
              <a:buClr>
                <a:schemeClr val="dk2"/>
              </a:buClr>
              <a:buSzPts val="2200"/>
            </a:pPr>
            <a:r>
              <a:rPr lang="fr-FR" sz="2000" dirty="0">
                <a:solidFill>
                  <a:srgbClr val="FF0000"/>
                </a:solidFill>
              </a:rPr>
              <a:t>Disponibilité</a:t>
            </a:r>
            <a:r>
              <a:rPr lang="fr-FR" sz="2000" dirty="0">
                <a:solidFill>
                  <a:schemeClr val="dk2"/>
                </a:solidFill>
              </a:rPr>
              <a:t> de données</a:t>
            </a:r>
          </a:p>
          <a:p>
            <a:pPr marL="889000" lvl="1" indent="-342900">
              <a:spcBef>
                <a:spcPts val="0"/>
              </a:spcBef>
              <a:buClr>
                <a:schemeClr val="dk2"/>
              </a:buClr>
              <a:buSzPts val="100"/>
            </a:pPr>
            <a:r>
              <a:rPr lang="fr-FR" sz="2000" dirty="0">
                <a:noFill/>
              </a:rPr>
              <a:t>Peu de données d’entrée </a:t>
            </a:r>
          </a:p>
          <a:p>
            <a:pPr marL="889000" lvl="1" indent="-342900">
              <a:spcBef>
                <a:spcPts val="0"/>
              </a:spcBef>
              <a:buClr>
                <a:schemeClr val="dk2"/>
              </a:buClr>
              <a:buSzPts val="100"/>
            </a:pPr>
            <a:r>
              <a:rPr lang="fr-FR" sz="2000" dirty="0">
                <a:noFill/>
              </a:rPr>
              <a:t>Échantillons de bâtiments</a:t>
            </a:r>
          </a:p>
          <a:p>
            <a:pPr marL="889000" lvl="1" indent="-342900">
              <a:spcBef>
                <a:spcPts val="0"/>
              </a:spcBef>
              <a:buClr>
                <a:schemeClr val="dk2"/>
              </a:buClr>
              <a:buSzPts val="100"/>
            </a:pPr>
            <a:r>
              <a:rPr lang="fr-FR" sz="2000" dirty="0">
                <a:noFill/>
              </a:rPr>
              <a:t>Complétude de mesures horaires</a:t>
            </a:r>
            <a:endParaRPr lang="en-GB" sz="2000" dirty="0">
              <a:noFill/>
            </a:endParaRPr>
          </a:p>
          <a:p>
            <a:pPr marL="431800" indent="-342900" algn="l">
              <a:spcBef>
                <a:spcPts val="0"/>
              </a:spcBef>
              <a:buClr>
                <a:schemeClr val="dk2"/>
              </a:buClr>
              <a:buSzPts val="2200"/>
            </a:pPr>
            <a:endParaRPr lang="fr-FR" sz="2200" dirty="0">
              <a:solidFill>
                <a:schemeClr val="dk2"/>
              </a:solidFill>
            </a:endParaRPr>
          </a:p>
          <a:p>
            <a:pPr marL="0" lvl="0" indent="0" algn="l" rtl="0">
              <a:lnSpc>
                <a:spcPct val="100000"/>
              </a:lnSpc>
              <a:spcBef>
                <a:spcPts val="500"/>
              </a:spcBef>
              <a:spcAft>
                <a:spcPts val="0"/>
              </a:spcAft>
              <a:buSzPts val="2400"/>
              <a:buNone/>
            </a:pPr>
            <a:endParaRPr sz="2000"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71" name="Google Shape;171;g35022506002_0_0"/>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5</a:t>
            </a:r>
            <a:endParaRPr/>
          </a:p>
        </p:txBody>
      </p:sp>
    </p:spTree>
    <p:custDataLst>
      <p:tags r:id="rId1"/>
    </p:custDataLst>
    <p:extLst>
      <p:ext uri="{BB962C8B-B14F-4D97-AF65-F5344CB8AC3E}">
        <p14:creationId xmlns:p14="http://schemas.microsoft.com/office/powerpoint/2010/main" val="3092577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35022506002_0_0"/>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Conflits dans la préparation de données de validation</a:t>
            </a:r>
            <a:endParaRPr dirty="0">
              <a:solidFill>
                <a:srgbClr val="143F6A"/>
              </a:solidFill>
            </a:endParaRPr>
          </a:p>
        </p:txBody>
      </p:sp>
      <p:sp>
        <p:nvSpPr>
          <p:cNvPr id="170" name="Google Shape;170;g35022506002_0_0"/>
          <p:cNvSpPr txBox="1">
            <a:spLocks noGrp="1"/>
          </p:cNvSpPr>
          <p:nvPr>
            <p:ph type="body" idx="1"/>
            <p:custDataLst>
              <p:tags r:id="rId3"/>
            </p:custDataLst>
          </p:nvPr>
        </p:nvSpPr>
        <p:spPr>
          <a:xfrm>
            <a:off x="296650" y="1246025"/>
            <a:ext cx="115995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None/>
            </a:pPr>
            <a:r>
              <a:rPr lang="fr-FR" b="1" dirty="0">
                <a:solidFill>
                  <a:schemeClr val="dk2"/>
                </a:solidFill>
              </a:rPr>
              <a:t>Données pour la validation</a:t>
            </a:r>
            <a:r>
              <a:rPr lang="fr-FR" dirty="0">
                <a:solidFill>
                  <a:schemeClr val="dk2"/>
                </a:solidFill>
              </a:rPr>
              <a:t> (Jensen, 1995) : </a:t>
            </a:r>
            <a:endParaRPr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Complètes</a:t>
            </a:r>
            <a:r>
              <a:rPr lang="fr-FR" sz="2000" b="1" dirty="0">
                <a:solidFill>
                  <a:schemeClr val="dk2"/>
                </a:solidFill>
              </a:rPr>
              <a:t> </a:t>
            </a:r>
            <a:r>
              <a:rPr lang="fr-FR" sz="2000" dirty="0">
                <a:solidFill>
                  <a:schemeClr val="dk2"/>
                </a:solidFill>
              </a:rPr>
              <a:t>=&gt; connaître les paramètres du modèle à valider</a:t>
            </a:r>
            <a:endParaRPr sz="2000" dirty="0">
              <a:solidFill>
                <a:schemeClr val="dk2"/>
              </a:solidFill>
            </a:endParaRPr>
          </a:p>
          <a:p>
            <a:pPr marL="457200" lvl="0" indent="-368300" algn="l" rtl="0">
              <a:spcBef>
                <a:spcPts val="0"/>
              </a:spcBef>
              <a:spcAft>
                <a:spcPts val="0"/>
              </a:spcAft>
              <a:buClr>
                <a:schemeClr val="dk2"/>
              </a:buClr>
              <a:buSzPts val="2200"/>
              <a:buChar char="-"/>
            </a:pPr>
            <a:r>
              <a:rPr lang="fr-FR" sz="2000" dirty="0">
                <a:solidFill>
                  <a:schemeClr val="dk2"/>
                </a:solidFill>
              </a:rPr>
              <a:t>Avec faible incertitude</a:t>
            </a:r>
            <a:endParaRPr sz="20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Détaillées =&gt; permettre d’identifier les sources d’écarts entre les mesures et les simulations</a:t>
            </a:r>
            <a:endParaRPr sz="20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Vérifiées et nettoyées</a:t>
            </a:r>
            <a:endParaRPr sz="20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000" dirty="0">
                <a:solidFill>
                  <a:schemeClr val="dk2"/>
                </a:solidFill>
              </a:rPr>
              <a:t>Documentée </a:t>
            </a:r>
          </a:p>
          <a:p>
            <a:pPr marL="457200" lvl="0" indent="-368300" algn="l" rtl="0">
              <a:lnSpc>
                <a:spcPct val="100000"/>
              </a:lnSpc>
              <a:spcBef>
                <a:spcPts val="0"/>
              </a:spcBef>
              <a:spcAft>
                <a:spcPts val="0"/>
              </a:spcAft>
              <a:buClr>
                <a:schemeClr val="dk2"/>
              </a:buClr>
              <a:buSzPts val="2200"/>
              <a:buChar char="-"/>
            </a:pPr>
            <a:endParaRPr lang="fr-FR" sz="2200" dirty="0">
              <a:solidFill>
                <a:schemeClr val="dk2"/>
              </a:solidFill>
            </a:endParaRPr>
          </a:p>
          <a:p>
            <a:pPr marL="88900" lvl="0" indent="0" algn="l" rtl="0">
              <a:lnSpc>
                <a:spcPct val="100000"/>
              </a:lnSpc>
              <a:spcBef>
                <a:spcPts val="0"/>
              </a:spcBef>
              <a:spcAft>
                <a:spcPts val="0"/>
              </a:spcAft>
              <a:buClr>
                <a:schemeClr val="dk2"/>
              </a:buClr>
              <a:buSzPts val="2200"/>
              <a:buNone/>
            </a:pPr>
            <a:r>
              <a:rPr lang="fr-FR" dirty="0">
                <a:solidFill>
                  <a:schemeClr val="dk2"/>
                </a:solidFill>
              </a:rPr>
              <a:t>Challenges de données dans la validation d’UBEM : </a:t>
            </a:r>
          </a:p>
          <a:p>
            <a:pPr marL="431800" indent="-342900" algn="l">
              <a:spcBef>
                <a:spcPts val="0"/>
              </a:spcBef>
              <a:buClr>
                <a:schemeClr val="dk2"/>
              </a:buClr>
              <a:buSzPts val="2200"/>
            </a:pPr>
            <a:r>
              <a:rPr lang="fr-FR" sz="2000" dirty="0">
                <a:solidFill>
                  <a:srgbClr val="FF0000"/>
                </a:solidFill>
              </a:rPr>
              <a:t>Qualité</a:t>
            </a:r>
            <a:r>
              <a:rPr lang="fr-FR" sz="2000" dirty="0">
                <a:solidFill>
                  <a:schemeClr val="dk2"/>
                </a:solidFill>
              </a:rPr>
              <a:t> de données </a:t>
            </a:r>
          </a:p>
          <a:p>
            <a:pPr marL="889000" lvl="1" indent="-342900">
              <a:spcBef>
                <a:spcPts val="0"/>
              </a:spcBef>
              <a:buClr>
                <a:schemeClr val="dk2"/>
              </a:buClr>
              <a:buSzPts val="2200"/>
            </a:pPr>
            <a:r>
              <a:rPr lang="fr-FR" sz="2000" dirty="0">
                <a:solidFill>
                  <a:schemeClr val="dk2"/>
                </a:solidFill>
              </a:rPr>
              <a:t>Mesurées par les entreprises commerciales</a:t>
            </a:r>
          </a:p>
          <a:p>
            <a:pPr marL="431800" indent="-342900" algn="l">
              <a:spcBef>
                <a:spcPts val="0"/>
              </a:spcBef>
              <a:buClr>
                <a:schemeClr val="dk2"/>
              </a:buClr>
              <a:buSzPts val="2200"/>
            </a:pPr>
            <a:r>
              <a:rPr lang="fr-FR" sz="2000" dirty="0">
                <a:solidFill>
                  <a:srgbClr val="FF0000"/>
                </a:solidFill>
              </a:rPr>
              <a:t>Disponibilité</a:t>
            </a:r>
            <a:r>
              <a:rPr lang="fr-FR" sz="2000" dirty="0">
                <a:solidFill>
                  <a:schemeClr val="dk2"/>
                </a:solidFill>
              </a:rPr>
              <a:t> de données</a:t>
            </a:r>
          </a:p>
          <a:p>
            <a:pPr marL="889000" lvl="1" indent="-342900">
              <a:spcBef>
                <a:spcPts val="0"/>
              </a:spcBef>
              <a:buClr>
                <a:schemeClr val="dk2"/>
              </a:buClr>
              <a:buSzPts val="2200"/>
            </a:pPr>
            <a:r>
              <a:rPr lang="fr-FR" sz="2000" dirty="0">
                <a:solidFill>
                  <a:schemeClr val="dk2"/>
                </a:solidFill>
              </a:rPr>
              <a:t>Peu de données d’entrée </a:t>
            </a:r>
          </a:p>
          <a:p>
            <a:pPr marL="889000" lvl="1" indent="-342900">
              <a:spcBef>
                <a:spcPts val="0"/>
              </a:spcBef>
              <a:buClr>
                <a:schemeClr val="dk2"/>
              </a:buClr>
              <a:buSzPts val="2200"/>
            </a:pPr>
            <a:r>
              <a:rPr lang="fr-FR" sz="2000" dirty="0">
                <a:solidFill>
                  <a:schemeClr val="dk2"/>
                </a:solidFill>
              </a:rPr>
              <a:t>Échantillons de bâtiments</a:t>
            </a:r>
          </a:p>
          <a:p>
            <a:pPr marL="889000" lvl="1" indent="-342900">
              <a:spcBef>
                <a:spcPts val="0"/>
              </a:spcBef>
              <a:buClr>
                <a:schemeClr val="dk2"/>
              </a:buClr>
              <a:buSzPts val="2200"/>
            </a:pPr>
            <a:r>
              <a:rPr lang="fr-FR" sz="2000" dirty="0">
                <a:solidFill>
                  <a:schemeClr val="dk2"/>
                </a:solidFill>
              </a:rPr>
              <a:t>Complétude de mesures horaires</a:t>
            </a:r>
            <a:endParaRPr lang="en-GB" sz="2000" dirty="0">
              <a:solidFill>
                <a:srgbClr val="314462"/>
              </a:solidFill>
            </a:endParaRPr>
          </a:p>
          <a:p>
            <a:pPr marL="431800" indent="-342900" algn="l">
              <a:spcBef>
                <a:spcPts val="0"/>
              </a:spcBef>
              <a:buClr>
                <a:schemeClr val="dk2"/>
              </a:buClr>
              <a:buSzPts val="2200"/>
            </a:pPr>
            <a:endParaRPr lang="fr-FR" sz="2200" dirty="0">
              <a:solidFill>
                <a:schemeClr val="dk2"/>
              </a:solidFill>
            </a:endParaRPr>
          </a:p>
          <a:p>
            <a:pPr marL="0" lvl="0" indent="0" algn="l" rtl="0">
              <a:lnSpc>
                <a:spcPct val="100000"/>
              </a:lnSpc>
              <a:spcBef>
                <a:spcPts val="500"/>
              </a:spcBef>
              <a:spcAft>
                <a:spcPts val="0"/>
              </a:spcAft>
              <a:buSzPts val="2400"/>
              <a:buNone/>
            </a:pPr>
            <a:endParaRPr sz="2000"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71" name="Google Shape;171;g35022506002_0_0"/>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5</a:t>
            </a:r>
            <a:endParaRPr/>
          </a:p>
        </p:txBody>
      </p:sp>
    </p:spTree>
    <p:custDataLst>
      <p:tags r:id="rId1"/>
    </p:custDataLst>
    <p:extLst>
      <p:ext uri="{BB962C8B-B14F-4D97-AF65-F5344CB8AC3E}">
        <p14:creationId xmlns:p14="http://schemas.microsoft.com/office/powerpoint/2010/main" val="517285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15fc2b25ae_0_0"/>
          <p:cNvSpPr txBox="1">
            <a:spLocks noGrp="1"/>
          </p:cNvSpPr>
          <p:nvPr>
            <p:ph type="title"/>
          </p:nvPr>
        </p:nvSpPr>
        <p:spPr>
          <a:xfrm>
            <a:off x="1899700" y="2978600"/>
            <a:ext cx="10090500" cy="1326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Qualité de données</a:t>
            </a:r>
            <a:endParaRPr dirty="0">
              <a:solidFill>
                <a:srgbClr val="143F6A"/>
              </a:solidFill>
            </a:endParaRPr>
          </a:p>
        </p:txBody>
      </p:sp>
      <p:sp>
        <p:nvSpPr>
          <p:cNvPr id="186" name="Google Shape;186;g315fc2b25ae_0_0"/>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r>
              <a:rPr lang="fr-FR"/>
              <a:t>6</a:t>
            </a:r>
            <a:endParaRPr/>
          </a:p>
        </p:txBody>
      </p:sp>
    </p:spTree>
    <p:custDataLst>
      <p:tags r:id="rId1"/>
    </p:custDataLst>
    <p:extLst>
      <p:ext uri="{BB962C8B-B14F-4D97-AF65-F5344CB8AC3E}">
        <p14:creationId xmlns:p14="http://schemas.microsoft.com/office/powerpoint/2010/main" val="4015868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5094c70174_0_0"/>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Garantir la fiabilité des données de validation</a:t>
            </a:r>
            <a:endParaRPr dirty="0">
              <a:solidFill>
                <a:srgbClr val="143F6A"/>
              </a:solidFill>
            </a:endParaRPr>
          </a:p>
        </p:txBody>
      </p:sp>
      <p:sp>
        <p:nvSpPr>
          <p:cNvPr id="178" name="Google Shape;178;g35094c70174_0_0"/>
          <p:cNvSpPr txBox="1">
            <a:spLocks noGrp="1"/>
          </p:cNvSpPr>
          <p:nvPr>
            <p:ph type="body" idx="1"/>
            <p:custDataLst>
              <p:tags r:id="rId3"/>
            </p:custDataLst>
          </p:nvPr>
        </p:nvSpPr>
        <p:spPr>
          <a:xfrm>
            <a:off x="296650" y="1246025"/>
            <a:ext cx="112983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SzPts val="2400"/>
              <a:buNone/>
            </a:pPr>
            <a:r>
              <a:rPr lang="fr-FR" sz="2200" b="1" dirty="0">
                <a:solidFill>
                  <a:srgbClr val="253356"/>
                </a:solidFill>
              </a:rPr>
              <a:t>Objectif</a:t>
            </a:r>
            <a:r>
              <a:rPr lang="fr-FR" sz="2200" dirty="0">
                <a:solidFill>
                  <a:srgbClr val="253356"/>
                </a:solidFill>
              </a:rPr>
              <a:t> : garantir l’interprétabilité de résultats de validation.</a:t>
            </a:r>
            <a:endParaRPr sz="2200" dirty="0">
              <a:solidFill>
                <a:srgbClr val="253356"/>
              </a:solid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rtl="0">
              <a:lnSpc>
                <a:spcPct val="100000"/>
              </a:lnSpc>
              <a:spcBef>
                <a:spcPts val="500"/>
              </a:spcBef>
              <a:spcAft>
                <a:spcPts val="0"/>
              </a:spcAft>
              <a:buSzPts val="100"/>
              <a:buNone/>
            </a:pPr>
            <a:r>
              <a:rPr lang="fr-FR" sz="2200" b="1" dirty="0">
                <a:noFill/>
              </a:rPr>
              <a:t>Question</a:t>
            </a:r>
            <a:r>
              <a:rPr lang="fr-FR" sz="2200" dirty="0">
                <a:noFill/>
              </a:rPr>
              <a:t> de départ : </a:t>
            </a:r>
            <a:endParaRPr sz="2200" dirty="0">
              <a:noFill/>
            </a:endParaRPr>
          </a:p>
          <a:p>
            <a:pPr marL="457200" lvl="0" indent="-368300" algn="l" rtl="0">
              <a:lnSpc>
                <a:spcPct val="100000"/>
              </a:lnSpc>
              <a:spcBef>
                <a:spcPts val="500"/>
              </a:spcBef>
              <a:spcAft>
                <a:spcPts val="0"/>
              </a:spcAft>
              <a:buClr>
                <a:srgbClr val="253356"/>
              </a:buClr>
              <a:buSzPts val="100"/>
              <a:buChar char="▪"/>
            </a:pPr>
            <a:r>
              <a:rPr lang="fr-FR" sz="2200" dirty="0">
                <a:noFill/>
              </a:rPr>
              <a:t>Un écart simulation – mesure reflète-t-il toujours un défaut du modèle ?</a:t>
            </a:r>
          </a:p>
          <a:p>
            <a:pPr marL="88900" lvl="0" indent="0" algn="l" rtl="0">
              <a:lnSpc>
                <a:spcPct val="100000"/>
              </a:lnSpc>
              <a:spcBef>
                <a:spcPts val="500"/>
              </a:spcBef>
              <a:spcAft>
                <a:spcPts val="0"/>
              </a:spcAft>
              <a:buClr>
                <a:srgbClr val="253356"/>
              </a:buClr>
              <a:buSzPts val="2200"/>
              <a:buNone/>
            </a:pPr>
            <a:r>
              <a:rPr lang="fr-FR" sz="2200" dirty="0">
                <a:solidFill>
                  <a:srgbClr val="253356"/>
                </a:solidFill>
              </a:rPr>
              <a:t>                      </a:t>
            </a:r>
          </a:p>
          <a:p>
            <a:pPr marL="88900" lvl="0" indent="0" algn="l" rtl="0">
              <a:lnSpc>
                <a:spcPct val="100000"/>
              </a:lnSpc>
              <a:spcBef>
                <a:spcPts val="500"/>
              </a:spcBef>
              <a:spcAft>
                <a:spcPts val="0"/>
              </a:spcAft>
              <a:buClr>
                <a:srgbClr val="253356"/>
              </a:buClr>
              <a:buSzPts val="100"/>
              <a:buNone/>
            </a:pPr>
            <a:r>
              <a:rPr lang="fr-FR" sz="2200" dirty="0">
                <a:noFill/>
              </a:rPr>
              <a:t>                </a:t>
            </a:r>
            <a:r>
              <a:rPr lang="fr-FR" sz="2200" b="1" dirty="0">
                <a:noFill/>
              </a:rPr>
              <a:t> Pas forcément ! </a:t>
            </a:r>
            <a:endParaRPr sz="2200" b="1" dirty="0">
              <a:no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a:spcBef>
                <a:spcPts val="500"/>
              </a:spcBef>
              <a:buSzPts val="100"/>
              <a:buNone/>
            </a:pPr>
            <a:r>
              <a:rPr lang="fr-FR" sz="2200" b="1" dirty="0">
                <a:noFill/>
              </a:rPr>
              <a:t>Principe</a:t>
            </a:r>
            <a:r>
              <a:rPr lang="fr-FR" sz="2200" dirty="0">
                <a:noFill/>
              </a:rPr>
              <a:t> : Si un écart peut s’expliquer autrement, on le retire car les mesures ne servent pas à évaluer la performance du modèle.</a:t>
            </a:r>
          </a:p>
          <a:p>
            <a:pPr marL="0" lvl="0" indent="0" algn="l">
              <a:spcBef>
                <a:spcPts val="500"/>
              </a:spcBef>
              <a:buNone/>
            </a:pPr>
            <a:endParaRPr lang="fr-FR" sz="2200" dirty="0">
              <a:solidFill>
                <a:srgbClr val="253356"/>
              </a:solidFill>
            </a:endParaRPr>
          </a:p>
          <a:p>
            <a:pPr marL="0" lvl="0" indent="0" algn="l">
              <a:spcBef>
                <a:spcPts val="500"/>
              </a:spcBef>
              <a:buSzPts val="100"/>
              <a:buNone/>
            </a:pPr>
            <a:r>
              <a:rPr lang="fr-FR" sz="2200" b="1" dirty="0">
                <a:noFill/>
              </a:rPr>
              <a:t>Action </a:t>
            </a:r>
            <a:r>
              <a:rPr lang="fr-FR" sz="2200" dirty="0">
                <a:noFill/>
              </a:rPr>
              <a:t>:</a:t>
            </a:r>
            <a:endParaRPr sz="2200" dirty="0">
              <a:noFill/>
            </a:endParaRPr>
          </a:p>
          <a:p>
            <a:pPr marL="0" lvl="0" indent="0" algn="l" rtl="0">
              <a:lnSpc>
                <a:spcPct val="100000"/>
              </a:lnSpc>
              <a:spcBef>
                <a:spcPts val="500"/>
              </a:spcBef>
              <a:spcAft>
                <a:spcPts val="0"/>
              </a:spcAft>
              <a:buSzPts val="100"/>
              <a:buNone/>
            </a:pPr>
            <a:r>
              <a:rPr lang="fr-FR" sz="2200" b="1" dirty="0">
                <a:noFill/>
              </a:rPr>
              <a:t>=&gt; Détection d’anomalies dans les séries temporelles multivariables</a:t>
            </a:r>
            <a:endParaRPr sz="2200" b="1" dirty="0">
              <a:noFill/>
            </a:endParaRPr>
          </a:p>
          <a:p>
            <a:pPr marL="0" lvl="0" indent="0" algn="l" rtl="0">
              <a:lnSpc>
                <a:spcPct val="100000"/>
              </a:lnSpc>
              <a:spcBef>
                <a:spcPts val="500"/>
              </a:spcBef>
              <a:spcAft>
                <a:spcPts val="0"/>
              </a:spcAft>
              <a:buSzPts val="2400"/>
              <a:buNone/>
            </a:pPr>
            <a:endParaRPr sz="2000" b="1"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79" name="Google Shape;179;g35094c70174_0_0"/>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7</a:t>
            </a:r>
            <a:endParaRPr/>
          </a:p>
        </p:txBody>
      </p:sp>
    </p:spTree>
    <p:custDataLst>
      <p:tags r:id="rId1"/>
    </p:custDataLst>
    <p:extLst>
      <p:ext uri="{BB962C8B-B14F-4D97-AF65-F5344CB8AC3E}">
        <p14:creationId xmlns:p14="http://schemas.microsoft.com/office/powerpoint/2010/main" val="3291198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5094c70174_0_0"/>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Garantir la fiabilité des données de validation</a:t>
            </a:r>
            <a:endParaRPr dirty="0">
              <a:solidFill>
                <a:srgbClr val="143F6A"/>
              </a:solidFill>
            </a:endParaRPr>
          </a:p>
        </p:txBody>
      </p:sp>
      <p:sp>
        <p:nvSpPr>
          <p:cNvPr id="178" name="Google Shape;178;g35094c70174_0_0"/>
          <p:cNvSpPr txBox="1">
            <a:spLocks noGrp="1"/>
          </p:cNvSpPr>
          <p:nvPr>
            <p:ph type="body" idx="1"/>
            <p:custDataLst>
              <p:tags r:id="rId3"/>
            </p:custDataLst>
          </p:nvPr>
        </p:nvSpPr>
        <p:spPr>
          <a:xfrm>
            <a:off x="296650" y="1246025"/>
            <a:ext cx="112983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SzPts val="2400"/>
              <a:buNone/>
            </a:pPr>
            <a:r>
              <a:rPr lang="fr-FR" sz="2200" b="1" dirty="0">
                <a:solidFill>
                  <a:srgbClr val="253356"/>
                </a:solidFill>
              </a:rPr>
              <a:t>Objectif</a:t>
            </a:r>
            <a:r>
              <a:rPr lang="fr-FR" sz="2200" dirty="0">
                <a:solidFill>
                  <a:srgbClr val="253356"/>
                </a:solidFill>
              </a:rPr>
              <a:t> : garantir l’interprétabilité de résultats de validation.</a:t>
            </a:r>
            <a:endParaRPr sz="2200" dirty="0">
              <a:solidFill>
                <a:srgbClr val="253356"/>
              </a:solid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rtl="0">
              <a:lnSpc>
                <a:spcPct val="100000"/>
              </a:lnSpc>
              <a:spcBef>
                <a:spcPts val="500"/>
              </a:spcBef>
              <a:spcAft>
                <a:spcPts val="0"/>
              </a:spcAft>
              <a:buSzPts val="2400"/>
              <a:buNone/>
            </a:pPr>
            <a:r>
              <a:rPr lang="fr-FR" sz="2200" b="1" dirty="0">
                <a:solidFill>
                  <a:srgbClr val="253356"/>
                </a:solidFill>
              </a:rPr>
              <a:t>Question</a:t>
            </a:r>
            <a:r>
              <a:rPr lang="fr-FR" sz="2200" dirty="0">
                <a:solidFill>
                  <a:srgbClr val="253356"/>
                </a:solidFill>
              </a:rPr>
              <a:t> de départ : </a:t>
            </a:r>
            <a:endParaRPr sz="2200" dirty="0">
              <a:solidFill>
                <a:srgbClr val="253356"/>
              </a:solidFill>
            </a:endParaRPr>
          </a:p>
          <a:p>
            <a:pPr marL="457200" lvl="0" indent="-368300" algn="l" rtl="0">
              <a:lnSpc>
                <a:spcPct val="100000"/>
              </a:lnSpc>
              <a:spcBef>
                <a:spcPts val="500"/>
              </a:spcBef>
              <a:spcAft>
                <a:spcPts val="0"/>
              </a:spcAft>
              <a:buClr>
                <a:srgbClr val="253356"/>
              </a:buClr>
              <a:buSzPts val="2200"/>
              <a:buChar char="▪"/>
            </a:pPr>
            <a:r>
              <a:rPr lang="fr-FR" sz="2200" dirty="0">
                <a:solidFill>
                  <a:srgbClr val="253356"/>
                </a:solidFill>
              </a:rPr>
              <a:t>Un écart simulation – mesure reflète-t-il toujours un défaut du modèle ?</a:t>
            </a:r>
          </a:p>
          <a:p>
            <a:pPr marL="88900" lvl="0" indent="0" algn="l" rtl="0">
              <a:lnSpc>
                <a:spcPct val="100000"/>
              </a:lnSpc>
              <a:spcBef>
                <a:spcPts val="500"/>
              </a:spcBef>
              <a:spcAft>
                <a:spcPts val="0"/>
              </a:spcAft>
              <a:buClr>
                <a:srgbClr val="253356"/>
              </a:buClr>
              <a:buSzPts val="2200"/>
              <a:buNone/>
            </a:pPr>
            <a:r>
              <a:rPr lang="fr-FR" sz="2200" dirty="0">
                <a:solidFill>
                  <a:srgbClr val="253356"/>
                </a:solidFill>
              </a:rPr>
              <a:t>                      </a:t>
            </a:r>
          </a:p>
          <a:p>
            <a:pPr marL="88900" lvl="0" indent="0" algn="l" rtl="0">
              <a:lnSpc>
                <a:spcPct val="100000"/>
              </a:lnSpc>
              <a:spcBef>
                <a:spcPts val="500"/>
              </a:spcBef>
              <a:spcAft>
                <a:spcPts val="0"/>
              </a:spcAft>
              <a:buClr>
                <a:srgbClr val="253356"/>
              </a:buClr>
              <a:buSzPts val="100"/>
              <a:buNone/>
            </a:pPr>
            <a:r>
              <a:rPr lang="fr-FR" sz="2200" dirty="0">
                <a:noFill/>
              </a:rPr>
              <a:t>                </a:t>
            </a:r>
            <a:r>
              <a:rPr lang="fr-FR" sz="2200" b="1" dirty="0">
                <a:noFill/>
              </a:rPr>
              <a:t> Pas forcément ! </a:t>
            </a:r>
            <a:endParaRPr sz="2200" b="1" dirty="0">
              <a:no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a:spcBef>
                <a:spcPts val="500"/>
              </a:spcBef>
              <a:buSzPts val="100"/>
              <a:buNone/>
            </a:pPr>
            <a:r>
              <a:rPr lang="fr-FR" sz="2200" b="1" dirty="0">
                <a:noFill/>
              </a:rPr>
              <a:t>Principe</a:t>
            </a:r>
            <a:r>
              <a:rPr lang="fr-FR" sz="2200" dirty="0">
                <a:noFill/>
              </a:rPr>
              <a:t> : Si un écart peut s’expliquer autrement, on le retire car les mesures ne servent pas à évaluer la performance du modèle.</a:t>
            </a:r>
          </a:p>
          <a:p>
            <a:pPr marL="0" lvl="0" indent="0" algn="l">
              <a:spcBef>
                <a:spcPts val="500"/>
              </a:spcBef>
              <a:buNone/>
            </a:pPr>
            <a:endParaRPr lang="fr-FR" sz="2200" dirty="0">
              <a:solidFill>
                <a:srgbClr val="253356"/>
              </a:solidFill>
            </a:endParaRPr>
          </a:p>
          <a:p>
            <a:pPr marL="0" lvl="0" indent="0" algn="l">
              <a:spcBef>
                <a:spcPts val="500"/>
              </a:spcBef>
              <a:buSzPts val="100"/>
              <a:buNone/>
            </a:pPr>
            <a:r>
              <a:rPr lang="fr-FR" sz="2200" b="1" dirty="0">
                <a:noFill/>
              </a:rPr>
              <a:t>Action </a:t>
            </a:r>
            <a:r>
              <a:rPr lang="fr-FR" sz="2200" dirty="0">
                <a:noFill/>
              </a:rPr>
              <a:t>:</a:t>
            </a:r>
            <a:endParaRPr sz="2200" dirty="0">
              <a:noFill/>
            </a:endParaRPr>
          </a:p>
          <a:p>
            <a:pPr marL="0" lvl="0" indent="0" algn="l" rtl="0">
              <a:lnSpc>
                <a:spcPct val="100000"/>
              </a:lnSpc>
              <a:spcBef>
                <a:spcPts val="500"/>
              </a:spcBef>
              <a:spcAft>
                <a:spcPts val="0"/>
              </a:spcAft>
              <a:buSzPts val="100"/>
              <a:buNone/>
            </a:pPr>
            <a:r>
              <a:rPr lang="fr-FR" sz="2200" b="1" dirty="0">
                <a:noFill/>
              </a:rPr>
              <a:t>=&gt; Détection d’anomalies dans les séries temporelles multivariables</a:t>
            </a:r>
            <a:endParaRPr sz="2200" b="1" dirty="0">
              <a:noFill/>
            </a:endParaRPr>
          </a:p>
          <a:p>
            <a:pPr marL="0" lvl="0" indent="0" algn="l" rtl="0">
              <a:lnSpc>
                <a:spcPct val="100000"/>
              </a:lnSpc>
              <a:spcBef>
                <a:spcPts val="500"/>
              </a:spcBef>
              <a:spcAft>
                <a:spcPts val="0"/>
              </a:spcAft>
              <a:buSzPts val="2400"/>
              <a:buNone/>
            </a:pPr>
            <a:endParaRPr sz="2000" b="1"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79" name="Google Shape;179;g35094c70174_0_0"/>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7</a:t>
            </a:r>
            <a:endParaRPr/>
          </a:p>
        </p:txBody>
      </p:sp>
    </p:spTree>
    <p:custDataLst>
      <p:tags r:id="rId1"/>
    </p:custDataLst>
    <p:extLst>
      <p:ext uri="{BB962C8B-B14F-4D97-AF65-F5344CB8AC3E}">
        <p14:creationId xmlns:p14="http://schemas.microsoft.com/office/powerpoint/2010/main" val="1643698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5094c70174_0_0"/>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Garantir la fiabilité des données de validation</a:t>
            </a:r>
            <a:endParaRPr dirty="0">
              <a:solidFill>
                <a:srgbClr val="143F6A"/>
              </a:solidFill>
            </a:endParaRPr>
          </a:p>
        </p:txBody>
      </p:sp>
      <p:sp>
        <p:nvSpPr>
          <p:cNvPr id="178" name="Google Shape;178;g35094c70174_0_0"/>
          <p:cNvSpPr txBox="1">
            <a:spLocks noGrp="1"/>
          </p:cNvSpPr>
          <p:nvPr>
            <p:ph type="body" idx="1"/>
            <p:custDataLst>
              <p:tags r:id="rId3"/>
            </p:custDataLst>
          </p:nvPr>
        </p:nvSpPr>
        <p:spPr>
          <a:xfrm>
            <a:off x="296650" y="1246025"/>
            <a:ext cx="112983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SzPts val="2400"/>
              <a:buNone/>
            </a:pPr>
            <a:r>
              <a:rPr lang="fr-FR" sz="2200" b="1" dirty="0">
                <a:solidFill>
                  <a:srgbClr val="253356"/>
                </a:solidFill>
              </a:rPr>
              <a:t>Objectif</a:t>
            </a:r>
            <a:r>
              <a:rPr lang="fr-FR" sz="2200" dirty="0">
                <a:solidFill>
                  <a:srgbClr val="253356"/>
                </a:solidFill>
              </a:rPr>
              <a:t> : garantir l’interprétabilité de résultats de validation.</a:t>
            </a:r>
            <a:endParaRPr sz="2200" dirty="0">
              <a:solidFill>
                <a:srgbClr val="253356"/>
              </a:solid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rtl="0">
              <a:lnSpc>
                <a:spcPct val="100000"/>
              </a:lnSpc>
              <a:spcBef>
                <a:spcPts val="500"/>
              </a:spcBef>
              <a:spcAft>
                <a:spcPts val="0"/>
              </a:spcAft>
              <a:buSzPts val="2400"/>
              <a:buNone/>
            </a:pPr>
            <a:r>
              <a:rPr lang="fr-FR" sz="2200" b="1" dirty="0">
                <a:solidFill>
                  <a:srgbClr val="253356"/>
                </a:solidFill>
              </a:rPr>
              <a:t>Question</a:t>
            </a:r>
            <a:r>
              <a:rPr lang="fr-FR" sz="2200" dirty="0">
                <a:solidFill>
                  <a:srgbClr val="253356"/>
                </a:solidFill>
              </a:rPr>
              <a:t> de départ : </a:t>
            </a:r>
            <a:endParaRPr sz="2200" dirty="0">
              <a:solidFill>
                <a:srgbClr val="253356"/>
              </a:solidFill>
            </a:endParaRPr>
          </a:p>
          <a:p>
            <a:pPr marL="457200" lvl="0" indent="-368300" algn="l" rtl="0">
              <a:lnSpc>
                <a:spcPct val="100000"/>
              </a:lnSpc>
              <a:spcBef>
                <a:spcPts val="500"/>
              </a:spcBef>
              <a:spcAft>
                <a:spcPts val="0"/>
              </a:spcAft>
              <a:buClr>
                <a:srgbClr val="253356"/>
              </a:buClr>
              <a:buSzPts val="2200"/>
              <a:buChar char="▪"/>
            </a:pPr>
            <a:r>
              <a:rPr lang="fr-FR" sz="2200" dirty="0">
                <a:solidFill>
                  <a:srgbClr val="253356"/>
                </a:solidFill>
              </a:rPr>
              <a:t>Un écart simulation – mesure reflète-t-il toujours un défaut du modèle ?</a:t>
            </a:r>
          </a:p>
          <a:p>
            <a:pPr marL="88900" lvl="0" indent="0" algn="l" rtl="0">
              <a:lnSpc>
                <a:spcPct val="100000"/>
              </a:lnSpc>
              <a:spcBef>
                <a:spcPts val="500"/>
              </a:spcBef>
              <a:spcAft>
                <a:spcPts val="0"/>
              </a:spcAft>
              <a:buClr>
                <a:srgbClr val="253356"/>
              </a:buClr>
              <a:buSzPts val="2200"/>
              <a:buNone/>
            </a:pPr>
            <a:r>
              <a:rPr lang="fr-FR" sz="2200" dirty="0">
                <a:solidFill>
                  <a:srgbClr val="253356"/>
                </a:solidFill>
              </a:rPr>
              <a:t>                      </a:t>
            </a:r>
          </a:p>
          <a:p>
            <a:pPr marL="88900" lvl="0" indent="0" algn="l" rtl="0">
              <a:lnSpc>
                <a:spcPct val="100000"/>
              </a:lnSpc>
              <a:spcBef>
                <a:spcPts val="500"/>
              </a:spcBef>
              <a:spcAft>
                <a:spcPts val="0"/>
              </a:spcAft>
              <a:buClr>
                <a:srgbClr val="253356"/>
              </a:buClr>
              <a:buSzPts val="2200"/>
              <a:buNone/>
            </a:pPr>
            <a:r>
              <a:rPr lang="fr-FR" sz="2200" dirty="0">
                <a:solidFill>
                  <a:srgbClr val="253356"/>
                </a:solidFill>
              </a:rPr>
              <a:t>                </a:t>
            </a:r>
            <a:r>
              <a:rPr lang="fr-FR" sz="2200" b="1" dirty="0">
                <a:solidFill>
                  <a:srgbClr val="253356"/>
                </a:solidFill>
              </a:rPr>
              <a:t> </a:t>
            </a:r>
            <a:r>
              <a:rPr lang="fr-FR" sz="2200" b="1" dirty="0">
                <a:solidFill>
                  <a:srgbClr val="FF0000"/>
                </a:solidFill>
              </a:rPr>
              <a:t>Pas forcément ! </a:t>
            </a:r>
            <a:endParaRPr sz="2200" b="1" dirty="0">
              <a:solidFill>
                <a:srgbClr val="FF0000"/>
              </a:solid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a:spcBef>
                <a:spcPts val="500"/>
              </a:spcBef>
              <a:buSzPts val="100"/>
              <a:buNone/>
            </a:pPr>
            <a:r>
              <a:rPr lang="fr-FR" sz="2200" b="1" dirty="0">
                <a:noFill/>
              </a:rPr>
              <a:t>Principe</a:t>
            </a:r>
            <a:r>
              <a:rPr lang="fr-FR" sz="2200" dirty="0">
                <a:noFill/>
              </a:rPr>
              <a:t> : Si un écart peut s’expliquer autrement, on le retire car les mesures ne servent pas à évaluer la performance du modèle.</a:t>
            </a:r>
          </a:p>
          <a:p>
            <a:pPr marL="0" lvl="0" indent="0" algn="l">
              <a:spcBef>
                <a:spcPts val="500"/>
              </a:spcBef>
              <a:buNone/>
            </a:pPr>
            <a:endParaRPr lang="fr-FR" sz="2200" dirty="0">
              <a:solidFill>
                <a:srgbClr val="253356"/>
              </a:solidFill>
            </a:endParaRPr>
          </a:p>
          <a:p>
            <a:pPr marL="0" lvl="0" indent="0" algn="l">
              <a:spcBef>
                <a:spcPts val="500"/>
              </a:spcBef>
              <a:buSzPts val="100"/>
              <a:buNone/>
            </a:pPr>
            <a:r>
              <a:rPr lang="fr-FR" sz="2200" b="1" dirty="0">
                <a:noFill/>
              </a:rPr>
              <a:t>Action </a:t>
            </a:r>
            <a:r>
              <a:rPr lang="fr-FR" sz="2200" dirty="0">
                <a:noFill/>
              </a:rPr>
              <a:t>:</a:t>
            </a:r>
            <a:endParaRPr sz="2200" dirty="0">
              <a:noFill/>
            </a:endParaRPr>
          </a:p>
          <a:p>
            <a:pPr marL="0" lvl="0" indent="0" algn="l" rtl="0">
              <a:lnSpc>
                <a:spcPct val="100000"/>
              </a:lnSpc>
              <a:spcBef>
                <a:spcPts val="500"/>
              </a:spcBef>
              <a:spcAft>
                <a:spcPts val="0"/>
              </a:spcAft>
              <a:buSzPts val="100"/>
              <a:buNone/>
            </a:pPr>
            <a:r>
              <a:rPr lang="fr-FR" sz="2200" b="1" dirty="0">
                <a:noFill/>
              </a:rPr>
              <a:t>=&gt; Détection d’anomalies dans les séries temporelles multivariables</a:t>
            </a:r>
            <a:endParaRPr sz="2200" b="1" dirty="0">
              <a:noFill/>
            </a:endParaRPr>
          </a:p>
          <a:p>
            <a:pPr marL="0" lvl="0" indent="0" algn="l" rtl="0">
              <a:lnSpc>
                <a:spcPct val="100000"/>
              </a:lnSpc>
              <a:spcBef>
                <a:spcPts val="500"/>
              </a:spcBef>
              <a:spcAft>
                <a:spcPts val="0"/>
              </a:spcAft>
              <a:buSzPts val="2400"/>
              <a:buNone/>
            </a:pPr>
            <a:endParaRPr sz="2000" b="1"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79" name="Google Shape;179;g35094c70174_0_0"/>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7</a:t>
            </a:r>
            <a:endParaRPr/>
          </a:p>
        </p:txBody>
      </p:sp>
      <p:pic>
        <p:nvPicPr>
          <p:cNvPr id="2" name="Google Shape;170;g34c015beba5_0_15">
            <a:extLst>
              <a:ext uri="{FF2B5EF4-FFF2-40B4-BE49-F238E27FC236}">
                <a16:creationId xmlns:a16="http://schemas.microsoft.com/office/drawing/2014/main" id="{92412428-0AF1-0D6E-4D15-A35120930DB3}"/>
              </a:ext>
            </a:extLst>
          </p:cNvPr>
          <p:cNvPicPr preferRelativeResize="0"/>
          <p:nvPr>
            <p:custDataLst>
              <p:tags r:id="rId5"/>
            </p:custDataLst>
          </p:nvPr>
        </p:nvPicPr>
        <p:blipFill>
          <a:blip r:embed="rId8">
            <a:alphaModFix/>
          </a:blip>
          <a:stretch>
            <a:fillRect/>
          </a:stretch>
        </p:blipFill>
        <p:spPr>
          <a:xfrm>
            <a:off x="597050" y="2967464"/>
            <a:ext cx="923072" cy="923071"/>
          </a:xfrm>
          <a:prstGeom prst="rect">
            <a:avLst/>
          </a:prstGeom>
          <a:noFill/>
          <a:ln>
            <a:noFill/>
          </a:ln>
        </p:spPr>
      </p:pic>
    </p:spTree>
    <p:custDataLst>
      <p:tags r:id="rId1"/>
    </p:custDataLst>
    <p:extLst>
      <p:ext uri="{BB962C8B-B14F-4D97-AF65-F5344CB8AC3E}">
        <p14:creationId xmlns:p14="http://schemas.microsoft.com/office/powerpoint/2010/main" val="121855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5094c70174_0_0"/>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Garantir la fiabilité des données de validation</a:t>
            </a:r>
            <a:endParaRPr dirty="0">
              <a:solidFill>
                <a:srgbClr val="143F6A"/>
              </a:solidFill>
            </a:endParaRPr>
          </a:p>
        </p:txBody>
      </p:sp>
      <p:sp>
        <p:nvSpPr>
          <p:cNvPr id="178" name="Google Shape;178;g35094c70174_0_0"/>
          <p:cNvSpPr txBox="1">
            <a:spLocks noGrp="1"/>
          </p:cNvSpPr>
          <p:nvPr>
            <p:ph type="body" idx="1"/>
            <p:custDataLst>
              <p:tags r:id="rId3"/>
            </p:custDataLst>
          </p:nvPr>
        </p:nvSpPr>
        <p:spPr>
          <a:xfrm>
            <a:off x="296650" y="1246025"/>
            <a:ext cx="112983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SzPts val="2400"/>
              <a:buNone/>
            </a:pPr>
            <a:r>
              <a:rPr lang="fr-FR" sz="2200" b="1" dirty="0">
                <a:solidFill>
                  <a:srgbClr val="253356"/>
                </a:solidFill>
              </a:rPr>
              <a:t>Objectif</a:t>
            </a:r>
            <a:r>
              <a:rPr lang="fr-FR" sz="2200" dirty="0">
                <a:solidFill>
                  <a:srgbClr val="253356"/>
                </a:solidFill>
              </a:rPr>
              <a:t> : garantir l’interprétabilité de résultats de validation.</a:t>
            </a:r>
            <a:endParaRPr sz="2200" dirty="0">
              <a:solidFill>
                <a:srgbClr val="253356"/>
              </a:solid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rtl="0">
              <a:lnSpc>
                <a:spcPct val="100000"/>
              </a:lnSpc>
              <a:spcBef>
                <a:spcPts val="500"/>
              </a:spcBef>
              <a:spcAft>
                <a:spcPts val="0"/>
              </a:spcAft>
              <a:buSzPts val="2400"/>
              <a:buNone/>
            </a:pPr>
            <a:r>
              <a:rPr lang="fr-FR" sz="2200" b="1" dirty="0">
                <a:solidFill>
                  <a:srgbClr val="253356"/>
                </a:solidFill>
              </a:rPr>
              <a:t>Question</a:t>
            </a:r>
            <a:r>
              <a:rPr lang="fr-FR" sz="2200" dirty="0">
                <a:solidFill>
                  <a:srgbClr val="253356"/>
                </a:solidFill>
              </a:rPr>
              <a:t> de départ : </a:t>
            </a:r>
            <a:endParaRPr sz="2200" dirty="0">
              <a:solidFill>
                <a:srgbClr val="253356"/>
              </a:solidFill>
            </a:endParaRPr>
          </a:p>
          <a:p>
            <a:pPr marL="457200" lvl="0" indent="-368300" algn="l" rtl="0">
              <a:lnSpc>
                <a:spcPct val="100000"/>
              </a:lnSpc>
              <a:spcBef>
                <a:spcPts val="500"/>
              </a:spcBef>
              <a:spcAft>
                <a:spcPts val="0"/>
              </a:spcAft>
              <a:buClr>
                <a:srgbClr val="253356"/>
              </a:buClr>
              <a:buSzPts val="2200"/>
              <a:buChar char="▪"/>
            </a:pPr>
            <a:r>
              <a:rPr lang="fr-FR" sz="2200" dirty="0">
                <a:solidFill>
                  <a:srgbClr val="253356"/>
                </a:solidFill>
              </a:rPr>
              <a:t>Un écart simulation – mesure reflète-t-il toujours un défaut du modèle ?</a:t>
            </a:r>
          </a:p>
          <a:p>
            <a:pPr marL="88900" lvl="0" indent="0" algn="l" rtl="0">
              <a:lnSpc>
                <a:spcPct val="100000"/>
              </a:lnSpc>
              <a:spcBef>
                <a:spcPts val="500"/>
              </a:spcBef>
              <a:spcAft>
                <a:spcPts val="0"/>
              </a:spcAft>
              <a:buClr>
                <a:srgbClr val="253356"/>
              </a:buClr>
              <a:buSzPts val="2200"/>
              <a:buNone/>
            </a:pPr>
            <a:r>
              <a:rPr lang="fr-FR" sz="2200" dirty="0">
                <a:solidFill>
                  <a:srgbClr val="253356"/>
                </a:solidFill>
              </a:rPr>
              <a:t>                      </a:t>
            </a:r>
          </a:p>
          <a:p>
            <a:pPr marL="88900" lvl="0" indent="0" algn="l" rtl="0">
              <a:lnSpc>
                <a:spcPct val="100000"/>
              </a:lnSpc>
              <a:spcBef>
                <a:spcPts val="500"/>
              </a:spcBef>
              <a:spcAft>
                <a:spcPts val="0"/>
              </a:spcAft>
              <a:buClr>
                <a:srgbClr val="253356"/>
              </a:buClr>
              <a:buSzPts val="2200"/>
              <a:buNone/>
            </a:pPr>
            <a:r>
              <a:rPr lang="fr-FR" sz="2200" dirty="0">
                <a:solidFill>
                  <a:srgbClr val="253356"/>
                </a:solidFill>
              </a:rPr>
              <a:t>                </a:t>
            </a:r>
            <a:r>
              <a:rPr lang="fr-FR" sz="2200" b="1" dirty="0">
                <a:solidFill>
                  <a:srgbClr val="253356"/>
                </a:solidFill>
              </a:rPr>
              <a:t> </a:t>
            </a:r>
            <a:r>
              <a:rPr lang="fr-FR" sz="2200" b="1" dirty="0">
                <a:solidFill>
                  <a:srgbClr val="FF0000"/>
                </a:solidFill>
              </a:rPr>
              <a:t>Pas forcément ! </a:t>
            </a:r>
            <a:endParaRPr sz="2200" b="1" dirty="0">
              <a:solidFill>
                <a:srgbClr val="FF0000"/>
              </a:solid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a:spcBef>
                <a:spcPts val="500"/>
              </a:spcBef>
              <a:buNone/>
            </a:pPr>
            <a:r>
              <a:rPr lang="fr-FR" sz="2200" b="1" dirty="0">
                <a:solidFill>
                  <a:srgbClr val="253356"/>
                </a:solidFill>
              </a:rPr>
              <a:t>Principe</a:t>
            </a:r>
            <a:r>
              <a:rPr lang="fr-FR" sz="2200" dirty="0">
                <a:solidFill>
                  <a:srgbClr val="253356"/>
                </a:solidFill>
              </a:rPr>
              <a:t> : Si un écart peut s’expliquer autrement, on le retire car les mesures ne servent pas à évaluer la performance du modèle.</a:t>
            </a:r>
          </a:p>
          <a:p>
            <a:pPr marL="0" lvl="0" indent="0" algn="l">
              <a:spcBef>
                <a:spcPts val="500"/>
              </a:spcBef>
              <a:buNone/>
            </a:pPr>
            <a:endParaRPr lang="fr-FR" sz="2200" dirty="0">
              <a:solidFill>
                <a:srgbClr val="253356"/>
              </a:solidFill>
            </a:endParaRPr>
          </a:p>
          <a:p>
            <a:pPr marL="0" lvl="0" indent="0" algn="l">
              <a:spcBef>
                <a:spcPts val="500"/>
              </a:spcBef>
              <a:buSzPts val="100"/>
              <a:buNone/>
            </a:pPr>
            <a:r>
              <a:rPr lang="fr-FR" sz="2200" b="1" dirty="0">
                <a:noFill/>
              </a:rPr>
              <a:t>Action </a:t>
            </a:r>
            <a:r>
              <a:rPr lang="fr-FR" sz="2200" dirty="0">
                <a:noFill/>
              </a:rPr>
              <a:t>:</a:t>
            </a:r>
            <a:endParaRPr sz="2200" dirty="0">
              <a:noFill/>
            </a:endParaRPr>
          </a:p>
          <a:p>
            <a:pPr marL="0" lvl="0" indent="0" algn="l" rtl="0">
              <a:lnSpc>
                <a:spcPct val="100000"/>
              </a:lnSpc>
              <a:spcBef>
                <a:spcPts val="500"/>
              </a:spcBef>
              <a:spcAft>
                <a:spcPts val="0"/>
              </a:spcAft>
              <a:buSzPts val="100"/>
              <a:buNone/>
            </a:pPr>
            <a:r>
              <a:rPr lang="fr-FR" sz="2200" b="1" dirty="0">
                <a:noFill/>
              </a:rPr>
              <a:t>=&gt; Détection d’anomalies dans les séries temporelles multivariables</a:t>
            </a:r>
            <a:endParaRPr sz="2200" b="1" dirty="0">
              <a:noFill/>
            </a:endParaRPr>
          </a:p>
          <a:p>
            <a:pPr marL="0" lvl="0" indent="0" algn="l" rtl="0">
              <a:lnSpc>
                <a:spcPct val="100000"/>
              </a:lnSpc>
              <a:spcBef>
                <a:spcPts val="500"/>
              </a:spcBef>
              <a:spcAft>
                <a:spcPts val="0"/>
              </a:spcAft>
              <a:buSzPts val="2400"/>
              <a:buNone/>
            </a:pPr>
            <a:endParaRPr sz="2000" b="1"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79" name="Google Shape;179;g35094c70174_0_0"/>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7</a:t>
            </a:r>
            <a:endParaRPr/>
          </a:p>
        </p:txBody>
      </p:sp>
      <p:pic>
        <p:nvPicPr>
          <p:cNvPr id="2" name="Google Shape;170;g34c015beba5_0_15">
            <a:extLst>
              <a:ext uri="{FF2B5EF4-FFF2-40B4-BE49-F238E27FC236}">
                <a16:creationId xmlns:a16="http://schemas.microsoft.com/office/drawing/2014/main" id="{92412428-0AF1-0D6E-4D15-A35120930DB3}"/>
              </a:ext>
            </a:extLst>
          </p:cNvPr>
          <p:cNvPicPr preferRelativeResize="0"/>
          <p:nvPr>
            <p:custDataLst>
              <p:tags r:id="rId5"/>
            </p:custDataLst>
          </p:nvPr>
        </p:nvPicPr>
        <p:blipFill>
          <a:blip r:embed="rId8">
            <a:alphaModFix/>
          </a:blip>
          <a:stretch>
            <a:fillRect/>
          </a:stretch>
        </p:blipFill>
        <p:spPr>
          <a:xfrm>
            <a:off x="597050" y="2967464"/>
            <a:ext cx="923072" cy="923071"/>
          </a:xfrm>
          <a:prstGeom prst="rect">
            <a:avLst/>
          </a:prstGeom>
          <a:noFill/>
          <a:ln>
            <a:noFill/>
          </a:ln>
        </p:spPr>
      </p:pic>
    </p:spTree>
    <p:custDataLst>
      <p:tags r:id="rId1"/>
    </p:custDataLst>
    <p:extLst>
      <p:ext uri="{BB962C8B-B14F-4D97-AF65-F5344CB8AC3E}">
        <p14:creationId xmlns:p14="http://schemas.microsoft.com/office/powerpoint/2010/main" val="3042286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5094c70174_0_0"/>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Garantir la fiabilité des données de validation</a:t>
            </a:r>
            <a:endParaRPr dirty="0">
              <a:solidFill>
                <a:srgbClr val="143F6A"/>
              </a:solidFill>
            </a:endParaRPr>
          </a:p>
        </p:txBody>
      </p:sp>
      <p:sp>
        <p:nvSpPr>
          <p:cNvPr id="178" name="Google Shape;178;g35094c70174_0_0"/>
          <p:cNvSpPr txBox="1">
            <a:spLocks noGrp="1"/>
          </p:cNvSpPr>
          <p:nvPr>
            <p:ph type="body" idx="1"/>
            <p:custDataLst>
              <p:tags r:id="rId3"/>
            </p:custDataLst>
          </p:nvPr>
        </p:nvSpPr>
        <p:spPr>
          <a:xfrm>
            <a:off x="296650" y="1246025"/>
            <a:ext cx="112983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SzPts val="2400"/>
              <a:buNone/>
            </a:pPr>
            <a:r>
              <a:rPr lang="fr-FR" sz="2200" b="1" dirty="0">
                <a:solidFill>
                  <a:srgbClr val="253356"/>
                </a:solidFill>
              </a:rPr>
              <a:t>Objectif</a:t>
            </a:r>
            <a:r>
              <a:rPr lang="fr-FR" sz="2200" dirty="0">
                <a:solidFill>
                  <a:srgbClr val="253356"/>
                </a:solidFill>
              </a:rPr>
              <a:t> : garantir l’interprétabilité de résultats de validation.</a:t>
            </a:r>
            <a:endParaRPr sz="2200" dirty="0">
              <a:solidFill>
                <a:srgbClr val="253356"/>
              </a:solid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rtl="0">
              <a:lnSpc>
                <a:spcPct val="100000"/>
              </a:lnSpc>
              <a:spcBef>
                <a:spcPts val="500"/>
              </a:spcBef>
              <a:spcAft>
                <a:spcPts val="0"/>
              </a:spcAft>
              <a:buSzPts val="2400"/>
              <a:buNone/>
            </a:pPr>
            <a:r>
              <a:rPr lang="fr-FR" sz="2200" b="1" dirty="0">
                <a:solidFill>
                  <a:srgbClr val="253356"/>
                </a:solidFill>
              </a:rPr>
              <a:t>Question</a:t>
            </a:r>
            <a:r>
              <a:rPr lang="fr-FR" sz="2200" dirty="0">
                <a:solidFill>
                  <a:srgbClr val="253356"/>
                </a:solidFill>
              </a:rPr>
              <a:t> de départ : </a:t>
            </a:r>
            <a:endParaRPr sz="2200" dirty="0">
              <a:solidFill>
                <a:srgbClr val="253356"/>
              </a:solidFill>
            </a:endParaRPr>
          </a:p>
          <a:p>
            <a:pPr marL="457200" lvl="0" indent="-368300" algn="l" rtl="0">
              <a:lnSpc>
                <a:spcPct val="100000"/>
              </a:lnSpc>
              <a:spcBef>
                <a:spcPts val="500"/>
              </a:spcBef>
              <a:spcAft>
                <a:spcPts val="0"/>
              </a:spcAft>
              <a:buClr>
                <a:srgbClr val="253356"/>
              </a:buClr>
              <a:buSzPts val="2200"/>
              <a:buChar char="▪"/>
            </a:pPr>
            <a:r>
              <a:rPr lang="fr-FR" sz="2200" dirty="0">
                <a:solidFill>
                  <a:srgbClr val="253356"/>
                </a:solidFill>
              </a:rPr>
              <a:t>Un écart simulation – mesure reflète-t-il toujours un défaut du modèle ?</a:t>
            </a:r>
          </a:p>
          <a:p>
            <a:pPr marL="88900" lvl="0" indent="0" algn="l" rtl="0">
              <a:lnSpc>
                <a:spcPct val="100000"/>
              </a:lnSpc>
              <a:spcBef>
                <a:spcPts val="500"/>
              </a:spcBef>
              <a:spcAft>
                <a:spcPts val="0"/>
              </a:spcAft>
              <a:buClr>
                <a:srgbClr val="253356"/>
              </a:buClr>
              <a:buSzPts val="2200"/>
              <a:buNone/>
            </a:pPr>
            <a:r>
              <a:rPr lang="fr-FR" sz="2200" dirty="0">
                <a:solidFill>
                  <a:srgbClr val="253356"/>
                </a:solidFill>
              </a:rPr>
              <a:t>                      </a:t>
            </a:r>
          </a:p>
          <a:p>
            <a:pPr marL="88900" lvl="0" indent="0" algn="l" rtl="0">
              <a:lnSpc>
                <a:spcPct val="100000"/>
              </a:lnSpc>
              <a:spcBef>
                <a:spcPts val="500"/>
              </a:spcBef>
              <a:spcAft>
                <a:spcPts val="0"/>
              </a:spcAft>
              <a:buClr>
                <a:srgbClr val="253356"/>
              </a:buClr>
              <a:buSzPts val="2200"/>
              <a:buNone/>
            </a:pPr>
            <a:r>
              <a:rPr lang="fr-FR" sz="2200" dirty="0">
                <a:solidFill>
                  <a:srgbClr val="253356"/>
                </a:solidFill>
              </a:rPr>
              <a:t>                </a:t>
            </a:r>
            <a:r>
              <a:rPr lang="fr-FR" sz="2200" b="1" dirty="0">
                <a:solidFill>
                  <a:srgbClr val="253356"/>
                </a:solidFill>
              </a:rPr>
              <a:t> </a:t>
            </a:r>
            <a:r>
              <a:rPr lang="fr-FR" sz="2200" b="1" dirty="0">
                <a:solidFill>
                  <a:srgbClr val="FF0000"/>
                </a:solidFill>
              </a:rPr>
              <a:t>Pas forcément ! </a:t>
            </a:r>
            <a:endParaRPr sz="2200" b="1" dirty="0">
              <a:solidFill>
                <a:srgbClr val="FF0000"/>
              </a:solid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a:spcBef>
                <a:spcPts val="500"/>
              </a:spcBef>
              <a:buNone/>
            </a:pPr>
            <a:r>
              <a:rPr lang="fr-FR" sz="2200" b="1" dirty="0">
                <a:solidFill>
                  <a:srgbClr val="253356"/>
                </a:solidFill>
              </a:rPr>
              <a:t>Principe</a:t>
            </a:r>
            <a:r>
              <a:rPr lang="fr-FR" sz="2200" dirty="0">
                <a:solidFill>
                  <a:srgbClr val="253356"/>
                </a:solidFill>
              </a:rPr>
              <a:t> : Si un écart peut s’expliquer autrement, on le retire car les mesures ne servent pas à évaluer la performance du modèle.</a:t>
            </a:r>
          </a:p>
          <a:p>
            <a:pPr marL="0" lvl="0" indent="0" algn="l">
              <a:spcBef>
                <a:spcPts val="500"/>
              </a:spcBef>
              <a:buNone/>
            </a:pPr>
            <a:endParaRPr lang="fr-FR" sz="2200" dirty="0">
              <a:solidFill>
                <a:srgbClr val="253356"/>
              </a:solidFill>
            </a:endParaRPr>
          </a:p>
          <a:p>
            <a:pPr marL="0" lvl="0" indent="0" algn="l">
              <a:spcBef>
                <a:spcPts val="500"/>
              </a:spcBef>
              <a:buNone/>
            </a:pPr>
            <a:r>
              <a:rPr lang="fr-FR" sz="2200" b="1" dirty="0">
                <a:solidFill>
                  <a:srgbClr val="253356"/>
                </a:solidFill>
              </a:rPr>
              <a:t>Action </a:t>
            </a:r>
            <a:r>
              <a:rPr lang="fr-FR" sz="2200" dirty="0">
                <a:solidFill>
                  <a:srgbClr val="253356"/>
                </a:solidFill>
              </a:rPr>
              <a:t>:</a:t>
            </a:r>
            <a:endParaRPr sz="2200" dirty="0">
              <a:solidFill>
                <a:srgbClr val="253356"/>
              </a:solidFill>
            </a:endParaRPr>
          </a:p>
          <a:p>
            <a:pPr marL="0" lvl="0" indent="0" algn="l" rtl="0">
              <a:lnSpc>
                <a:spcPct val="100000"/>
              </a:lnSpc>
              <a:spcBef>
                <a:spcPts val="500"/>
              </a:spcBef>
              <a:spcAft>
                <a:spcPts val="0"/>
              </a:spcAft>
              <a:buSzPts val="2400"/>
              <a:buNone/>
            </a:pPr>
            <a:r>
              <a:rPr lang="fr-FR" sz="2200" b="1" dirty="0">
                <a:solidFill>
                  <a:srgbClr val="253356"/>
                </a:solidFill>
              </a:rPr>
              <a:t>=&gt; </a:t>
            </a:r>
            <a:r>
              <a:rPr lang="fr-FR" sz="2200" b="1" dirty="0">
                <a:solidFill>
                  <a:srgbClr val="FF0000"/>
                </a:solidFill>
              </a:rPr>
              <a:t>Détection d’anomalies dans les séries temporelles multivariables</a:t>
            </a:r>
            <a:endParaRPr sz="2200" b="1" dirty="0">
              <a:solidFill>
                <a:srgbClr val="FF0000"/>
              </a:solidFill>
            </a:endParaRPr>
          </a:p>
          <a:p>
            <a:pPr marL="0" lvl="0" indent="0" algn="l" rtl="0">
              <a:lnSpc>
                <a:spcPct val="100000"/>
              </a:lnSpc>
              <a:spcBef>
                <a:spcPts val="500"/>
              </a:spcBef>
              <a:spcAft>
                <a:spcPts val="0"/>
              </a:spcAft>
              <a:buSzPts val="2400"/>
              <a:buNone/>
            </a:pPr>
            <a:endParaRPr sz="2000" b="1"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79" name="Google Shape;179;g35094c70174_0_0"/>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7</a:t>
            </a:r>
            <a:endParaRPr/>
          </a:p>
        </p:txBody>
      </p:sp>
      <p:pic>
        <p:nvPicPr>
          <p:cNvPr id="2" name="Google Shape;170;g34c015beba5_0_15">
            <a:extLst>
              <a:ext uri="{FF2B5EF4-FFF2-40B4-BE49-F238E27FC236}">
                <a16:creationId xmlns:a16="http://schemas.microsoft.com/office/drawing/2014/main" id="{92412428-0AF1-0D6E-4D15-A35120930DB3}"/>
              </a:ext>
            </a:extLst>
          </p:cNvPr>
          <p:cNvPicPr preferRelativeResize="0"/>
          <p:nvPr>
            <p:custDataLst>
              <p:tags r:id="rId5"/>
            </p:custDataLst>
          </p:nvPr>
        </p:nvPicPr>
        <p:blipFill>
          <a:blip r:embed="rId8">
            <a:alphaModFix/>
          </a:blip>
          <a:stretch>
            <a:fillRect/>
          </a:stretch>
        </p:blipFill>
        <p:spPr>
          <a:xfrm>
            <a:off x="597050" y="2967464"/>
            <a:ext cx="923072" cy="923071"/>
          </a:xfrm>
          <a:prstGeom prst="rect">
            <a:avLst/>
          </a:prstGeom>
          <a:noFill/>
          <a:ln>
            <a:noFill/>
          </a:ln>
        </p:spPr>
      </p:pic>
    </p:spTree>
    <p:custDataLst>
      <p:tags r:id="rId1"/>
    </p:custDataLst>
    <p:extLst>
      <p:ext uri="{BB962C8B-B14F-4D97-AF65-F5344CB8AC3E}">
        <p14:creationId xmlns:p14="http://schemas.microsoft.com/office/powerpoint/2010/main" val="308570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2e9e33ca579_0_0"/>
          <p:cNvSpPr txBox="1">
            <a:spLocks noGrp="1"/>
          </p:cNvSpPr>
          <p:nvPr>
            <p:ph type="title"/>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a:solidFill>
                  <a:srgbClr val="143F6A"/>
                </a:solidFill>
              </a:rPr>
              <a:t>Sources d’écarts entre les mesures et les simulations</a:t>
            </a:r>
            <a:endParaRPr>
              <a:solidFill>
                <a:srgbClr val="143F6A"/>
              </a:solidFill>
            </a:endParaRPr>
          </a:p>
        </p:txBody>
      </p:sp>
      <p:sp>
        <p:nvSpPr>
          <p:cNvPr id="193" name="Google Shape;193;g2e9e33ca579_0_0"/>
          <p:cNvSpPr txBox="1">
            <a:spLocks noGrp="1"/>
          </p:cNvSpPr>
          <p:nvPr>
            <p:ph type="body" idx="1"/>
          </p:nvPr>
        </p:nvSpPr>
        <p:spPr>
          <a:xfrm>
            <a:off x="296650" y="1246025"/>
            <a:ext cx="112983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fr-FR" sz="2200" b="1" dirty="0">
                <a:solidFill>
                  <a:schemeClr val="dk2"/>
                </a:solidFill>
              </a:rPr>
              <a:t>Les sources fréquentes non-liées à la performance du modèle :</a:t>
            </a:r>
            <a:endParaRPr sz="2200" b="1"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Défauts dans l’instrument de mesure (e.g. bruit / quantification)</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Défauts dans le système énergétique (</a:t>
            </a:r>
            <a:r>
              <a:rPr lang="fr-FR" sz="2200" dirty="0" err="1">
                <a:solidFill>
                  <a:schemeClr val="dk2"/>
                </a:solidFill>
              </a:rPr>
              <a:t>Gadd</a:t>
            </a:r>
            <a:r>
              <a:rPr lang="fr-FR" sz="2200" dirty="0">
                <a:solidFill>
                  <a:schemeClr val="dk2"/>
                </a:solidFill>
              </a:rPr>
              <a:t> et Werner, 2014)</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Scénarios d’occupation / gestion particulières (</a:t>
            </a:r>
            <a:r>
              <a:rPr lang="fr-FR" sz="2200" dirty="0" err="1">
                <a:solidFill>
                  <a:schemeClr val="dk2"/>
                </a:solidFill>
              </a:rPr>
              <a:t>Hedegaard</a:t>
            </a:r>
            <a:r>
              <a:rPr lang="fr-FR" sz="2200" dirty="0">
                <a:solidFill>
                  <a:schemeClr val="dk2"/>
                </a:solidFill>
              </a:rPr>
              <a:t> et al., 2019)</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Changement de consignes,</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Travaux,</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Etc. </a:t>
            </a:r>
            <a:endParaRPr sz="2200" dirty="0">
              <a:solidFill>
                <a:schemeClr val="dk2"/>
              </a:solidFill>
            </a:endParaRPr>
          </a:p>
          <a:p>
            <a:pPr marL="0" lvl="0" indent="0" algn="l" rtl="0">
              <a:lnSpc>
                <a:spcPct val="100000"/>
              </a:lnSpc>
              <a:spcBef>
                <a:spcPts val="0"/>
              </a:spcBef>
              <a:spcAft>
                <a:spcPts val="0"/>
              </a:spcAft>
              <a:buNone/>
            </a:pPr>
            <a:endParaRPr sz="2200" b="1" dirty="0">
              <a:solidFill>
                <a:schemeClr val="dk2"/>
              </a:solidFill>
            </a:endParaRPr>
          </a:p>
          <a:p>
            <a:pPr marL="0" lvl="0" indent="0" algn="l" rtl="0">
              <a:lnSpc>
                <a:spcPct val="100000"/>
              </a:lnSpc>
              <a:spcBef>
                <a:spcPts val="0"/>
              </a:spcBef>
              <a:spcAft>
                <a:spcPts val="0"/>
              </a:spcAft>
              <a:buNone/>
            </a:pPr>
            <a:endParaRPr sz="2200" b="1" dirty="0">
              <a:solidFill>
                <a:schemeClr val="dk2"/>
              </a:solidFill>
            </a:endParaRPr>
          </a:p>
          <a:p>
            <a:pPr marL="0" lvl="0" indent="0" algn="l" rtl="0">
              <a:lnSpc>
                <a:spcPct val="100000"/>
              </a:lnSpc>
              <a:spcBef>
                <a:spcPts val="0"/>
              </a:spcBef>
              <a:spcAft>
                <a:spcPts val="0"/>
              </a:spcAft>
              <a:buNone/>
            </a:pPr>
            <a:r>
              <a:rPr lang="fr-FR" sz="2200" b="1" dirty="0">
                <a:solidFill>
                  <a:schemeClr val="dk2"/>
                </a:solidFill>
              </a:rPr>
              <a:t>Solutions possibles : </a:t>
            </a:r>
            <a:endParaRPr sz="2200" b="1" dirty="0">
              <a:solidFill>
                <a:schemeClr val="dk2"/>
              </a:solidFill>
            </a:endParaRPr>
          </a:p>
          <a:p>
            <a:pPr marL="457200" lvl="0" indent="-368300" algn="l" rtl="0">
              <a:spcBef>
                <a:spcPts val="0"/>
              </a:spcBef>
              <a:spcAft>
                <a:spcPts val="0"/>
              </a:spcAft>
              <a:buClr>
                <a:schemeClr val="dk2"/>
              </a:buClr>
              <a:buSzPts val="2200"/>
              <a:buAutoNum type="arabicPeriod"/>
            </a:pPr>
            <a:r>
              <a:rPr lang="fr-FR" sz="2200" dirty="0">
                <a:solidFill>
                  <a:schemeClr val="dk2"/>
                </a:solidFill>
              </a:rPr>
              <a:t>Indicateurs statistiques,</a:t>
            </a:r>
            <a:endParaRPr sz="2200" dirty="0">
              <a:solidFill>
                <a:schemeClr val="dk2"/>
              </a:solidFill>
            </a:endParaRPr>
          </a:p>
          <a:p>
            <a:pPr marL="457200" lvl="0" indent="-368300" algn="l" rtl="0">
              <a:lnSpc>
                <a:spcPct val="100000"/>
              </a:lnSpc>
              <a:spcBef>
                <a:spcPts val="0"/>
              </a:spcBef>
              <a:spcAft>
                <a:spcPts val="0"/>
              </a:spcAft>
              <a:buClr>
                <a:schemeClr val="dk2"/>
              </a:buClr>
              <a:buSzPts val="2200"/>
              <a:buAutoNum type="arabicPeriod"/>
            </a:pPr>
            <a:r>
              <a:rPr lang="fr-FR" sz="2200" dirty="0">
                <a:solidFill>
                  <a:schemeClr val="dk2"/>
                </a:solidFill>
              </a:rPr>
              <a:t>Lois empiriques selon la densité de données </a:t>
            </a:r>
            <a:endParaRPr sz="2200" dirty="0">
              <a:solidFill>
                <a:schemeClr val="dk2"/>
              </a:solidFill>
            </a:endParaRPr>
          </a:p>
          <a:p>
            <a:pPr marL="457200" lvl="0" indent="-368300" algn="l" rtl="0">
              <a:lnSpc>
                <a:spcPct val="100000"/>
              </a:lnSpc>
              <a:spcBef>
                <a:spcPts val="0"/>
              </a:spcBef>
              <a:spcAft>
                <a:spcPts val="0"/>
              </a:spcAft>
              <a:buClr>
                <a:schemeClr val="dk2"/>
              </a:buClr>
              <a:buSzPts val="2200"/>
              <a:buAutoNum type="arabicPeriod"/>
            </a:pPr>
            <a:r>
              <a:rPr lang="fr-FR" sz="2200" dirty="0">
                <a:solidFill>
                  <a:schemeClr val="dk2"/>
                </a:solidFill>
              </a:rPr>
              <a:t>Algorithme non-supervisé pour la détection d’anomalies</a:t>
            </a:r>
            <a:endParaRPr sz="2200" dirty="0">
              <a:solidFill>
                <a:schemeClr val="dk2"/>
              </a:solidFill>
            </a:endParaRPr>
          </a:p>
          <a:p>
            <a:pPr marL="457200" lvl="0" indent="-368300" algn="l" rtl="0">
              <a:lnSpc>
                <a:spcPct val="100000"/>
              </a:lnSpc>
              <a:spcBef>
                <a:spcPts val="0"/>
              </a:spcBef>
              <a:spcAft>
                <a:spcPts val="0"/>
              </a:spcAft>
              <a:buClr>
                <a:schemeClr val="dk2"/>
              </a:buClr>
              <a:buSzPts val="2200"/>
              <a:buAutoNum type="arabicPeriod"/>
            </a:pPr>
            <a:r>
              <a:rPr lang="fr-FR" sz="2200" dirty="0">
                <a:solidFill>
                  <a:schemeClr val="dk2"/>
                </a:solidFill>
              </a:rPr>
              <a:t>etc.</a:t>
            </a: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94" name="Google Shape;194;g2e9e33ca579_0_0"/>
          <p:cNvSpPr txBox="1">
            <a:spLocks noGrp="1"/>
          </p:cNvSpPr>
          <p:nvPr>
            <p:ph type="sldNum" idx="12"/>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8</a:t>
            </a:r>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g35094c70174_0_56"/>
          <p:cNvSpPr txBox="1">
            <a:spLocks noGrp="1"/>
          </p:cNvSpPr>
          <p:nvPr>
            <p:ph type="title"/>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Quantification : tolérance de mesure</a:t>
            </a:r>
            <a:endParaRPr dirty="0">
              <a:solidFill>
                <a:srgbClr val="143F6A"/>
              </a:solidFill>
            </a:endParaRPr>
          </a:p>
        </p:txBody>
      </p:sp>
      <p:sp>
        <p:nvSpPr>
          <p:cNvPr id="201" name="Google Shape;201;g35094c70174_0_56"/>
          <p:cNvSpPr txBox="1">
            <a:spLocks noGrp="1"/>
          </p:cNvSpPr>
          <p:nvPr>
            <p:ph type="body" idx="1"/>
          </p:nvPr>
        </p:nvSpPr>
        <p:spPr>
          <a:xfrm>
            <a:off x="296650" y="1246025"/>
            <a:ext cx="51642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fr-FR" sz="2200" b="1" dirty="0">
                <a:solidFill>
                  <a:schemeClr val="dk2"/>
                </a:solidFill>
              </a:rPr>
              <a:t>Caractéristiques :</a:t>
            </a:r>
            <a:endParaRPr sz="2200" b="1"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Dépend de la précision d’instrument</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L'impact varie selon la grandeur de mesure</a:t>
            </a:r>
            <a:endParaRPr sz="2200" dirty="0">
              <a:solidFill>
                <a:schemeClr val="dk2"/>
              </a:solidFill>
            </a:endParaRPr>
          </a:p>
          <a:p>
            <a:pPr marL="0" lvl="0" indent="0" algn="l" rtl="0">
              <a:lnSpc>
                <a:spcPct val="100000"/>
              </a:lnSpc>
              <a:spcBef>
                <a:spcPts val="0"/>
              </a:spcBef>
              <a:spcAft>
                <a:spcPts val="0"/>
              </a:spcAft>
              <a:buNone/>
            </a:pPr>
            <a:endParaRPr sz="2200" b="1" dirty="0">
              <a:solidFill>
                <a:schemeClr val="dk2"/>
              </a:solidFill>
            </a:endParaRPr>
          </a:p>
          <a:p>
            <a:pPr marL="0" lvl="0" indent="0" algn="l" rtl="0">
              <a:lnSpc>
                <a:spcPct val="100000"/>
              </a:lnSpc>
              <a:spcBef>
                <a:spcPts val="0"/>
              </a:spcBef>
              <a:spcAft>
                <a:spcPts val="0"/>
              </a:spcAft>
              <a:buNone/>
            </a:pPr>
            <a:endParaRPr sz="2200" b="1" dirty="0">
              <a:solidFill>
                <a:schemeClr val="dk2"/>
              </a:solidFill>
            </a:endParaRPr>
          </a:p>
          <a:p>
            <a:pPr marL="0" lvl="0" indent="0" algn="l" rtl="0">
              <a:lnSpc>
                <a:spcPct val="100000"/>
              </a:lnSpc>
              <a:spcBef>
                <a:spcPts val="0"/>
              </a:spcBef>
              <a:spcAft>
                <a:spcPts val="0"/>
              </a:spcAft>
              <a:buNone/>
            </a:pPr>
            <a:endParaRPr sz="2200" b="1" dirty="0">
              <a:solidFill>
                <a:schemeClr val="dk2"/>
              </a:solidFill>
            </a:endParaRPr>
          </a:p>
          <a:p>
            <a:pPr marL="0" lvl="0" indent="0" algn="l" rtl="0">
              <a:lnSpc>
                <a:spcPct val="100000"/>
              </a:lnSpc>
              <a:spcBef>
                <a:spcPts val="0"/>
              </a:spcBef>
              <a:spcAft>
                <a:spcPts val="0"/>
              </a:spcAft>
              <a:buNone/>
            </a:pPr>
            <a:r>
              <a:rPr lang="fr-FR" sz="2200" b="1" dirty="0">
                <a:solidFill>
                  <a:schemeClr val="dk2"/>
                </a:solidFill>
              </a:rPr>
              <a:t>Solutions possibles : </a:t>
            </a:r>
            <a:endParaRPr sz="2200" b="1"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Eliminer les mesures</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Reconstruction du signal analogique </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Prise en compte d’incertitudes de mesures</a:t>
            </a:r>
            <a:endParaRPr sz="2200" dirty="0">
              <a:solidFill>
                <a:schemeClr val="dk2"/>
              </a:solidFill>
            </a:endParaRPr>
          </a:p>
          <a:p>
            <a:pPr marL="0" lvl="0" indent="0" algn="l" rtl="0">
              <a:lnSpc>
                <a:spcPct val="100000"/>
              </a:lnSpc>
              <a:spcBef>
                <a:spcPts val="500"/>
              </a:spcBef>
              <a:spcAft>
                <a:spcPts val="0"/>
              </a:spcAft>
              <a:buSzPts val="2400"/>
              <a:buNone/>
            </a:pPr>
            <a:endParaRPr sz="2000"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202" name="Google Shape;202;g35094c70174_0_56"/>
          <p:cNvSpPr txBox="1">
            <a:spLocks noGrp="1"/>
          </p:cNvSpPr>
          <p:nvPr>
            <p:ph type="sldNum" idx="12"/>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9</a:t>
            </a:r>
            <a:endParaRPr/>
          </a:p>
        </p:txBody>
      </p:sp>
      <p:pic>
        <p:nvPicPr>
          <p:cNvPr id="203" name="Google Shape;203;g35094c70174_0_56"/>
          <p:cNvPicPr preferRelativeResize="0"/>
          <p:nvPr/>
        </p:nvPicPr>
        <p:blipFill>
          <a:blip r:embed="rId4">
            <a:alphaModFix/>
          </a:blip>
          <a:stretch>
            <a:fillRect/>
          </a:stretch>
        </p:blipFill>
        <p:spPr>
          <a:xfrm>
            <a:off x="6412735" y="963268"/>
            <a:ext cx="5547460" cy="2887840"/>
          </a:xfrm>
          <a:prstGeom prst="rect">
            <a:avLst/>
          </a:prstGeom>
          <a:noFill/>
          <a:ln>
            <a:noFill/>
          </a:ln>
        </p:spPr>
      </p:pic>
      <p:pic>
        <p:nvPicPr>
          <p:cNvPr id="204" name="Google Shape;204;g35094c70174_0_56"/>
          <p:cNvPicPr preferRelativeResize="0"/>
          <p:nvPr/>
        </p:nvPicPr>
        <p:blipFill>
          <a:blip r:embed="rId5">
            <a:alphaModFix/>
          </a:blip>
          <a:stretch>
            <a:fillRect/>
          </a:stretch>
        </p:blipFill>
        <p:spPr>
          <a:xfrm>
            <a:off x="6412736" y="3747660"/>
            <a:ext cx="5547458" cy="2886370"/>
          </a:xfrm>
          <a:prstGeom prst="rect">
            <a:avLst/>
          </a:prstGeom>
          <a:noFill/>
          <a:ln>
            <a:noFill/>
          </a:ln>
        </p:spPr>
      </p:pic>
      <p:sp>
        <p:nvSpPr>
          <p:cNvPr id="205" name="Google Shape;205;g35094c70174_0_56"/>
          <p:cNvSpPr/>
          <p:nvPr/>
        </p:nvSpPr>
        <p:spPr>
          <a:xfrm>
            <a:off x="10441900" y="255050"/>
            <a:ext cx="945900" cy="28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ZoneTexte 1">
            <a:extLst>
              <a:ext uri="{FF2B5EF4-FFF2-40B4-BE49-F238E27FC236}">
                <a16:creationId xmlns:a16="http://schemas.microsoft.com/office/drawing/2014/main" id="{D2575CB2-89A5-F4F5-BA67-E90E7264165F}"/>
              </a:ext>
            </a:extLst>
          </p:cNvPr>
          <p:cNvSpPr txBox="1"/>
          <p:nvPr/>
        </p:nvSpPr>
        <p:spPr>
          <a:xfrm>
            <a:off x="2269987" y="5875928"/>
            <a:ext cx="3955083" cy="830997"/>
          </a:xfrm>
          <a:prstGeom prst="rect">
            <a:avLst/>
          </a:prstGeom>
          <a:noFill/>
        </p:spPr>
        <p:txBody>
          <a:bodyPr wrap="square">
            <a:spAutoFit/>
          </a:bodyPr>
          <a:lstStyle/>
          <a:p>
            <a:pPr algn="just"/>
            <a:r>
              <a:rPr lang="en-GB" sz="1600" dirty="0">
                <a:effectLst/>
                <a:latin typeface="Calibri" panose="020F0502020204030204" pitchFamily="34" charset="0"/>
                <a:ea typeface="SimSun" panose="02010600030101010101" pitchFamily="2" charset="-122"/>
                <a:cs typeface="Times New Roman" panose="02020603050405020304" pitchFamily="18" charset="0"/>
              </a:rPr>
              <a:t>Figure </a:t>
            </a:r>
            <a:r>
              <a:rPr lang="en-GB" sz="1600" dirty="0">
                <a:latin typeface="Calibri" panose="020F0502020204030204" pitchFamily="34" charset="0"/>
                <a:ea typeface="SimSun" panose="02010600030101010101" pitchFamily="2" charset="-122"/>
                <a:cs typeface="Times New Roman" panose="02020603050405020304" pitchFamily="18" charset="0"/>
              </a:rPr>
              <a:t>2 </a:t>
            </a:r>
            <a:r>
              <a:rPr lang="en-GB" sz="1600" dirty="0">
                <a:effectLst/>
                <a:latin typeface="Calibri" panose="020F0502020204030204" pitchFamily="34" charset="0"/>
                <a:ea typeface="SimSun" panose="02010600030101010101" pitchFamily="2" charset="-122"/>
                <a:cs typeface="Times New Roman" panose="02020603050405020304" pitchFamily="18" charset="0"/>
              </a:rPr>
              <a:t>: Illustration de la quantification. En haut: signal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réel</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pointillé</a:t>
            </a:r>
            <a:r>
              <a:rPr lang="en-GB" sz="1600" dirty="0">
                <a:effectLst/>
                <a:latin typeface="Calibri" panose="020F0502020204030204" pitchFamily="34" charset="0"/>
                <a:ea typeface="SimSun" panose="02010600030101010101" pitchFamily="2" charset="-122"/>
                <a:cs typeface="Times New Roman" panose="02020603050405020304" pitchFamily="18" charset="0"/>
              </a:rPr>
              <a:t>) et signal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mesuré</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continu</a:t>
            </a:r>
            <a:r>
              <a:rPr lang="en-GB" sz="1600" dirty="0">
                <a:effectLst/>
                <a:latin typeface="Calibri" panose="020F0502020204030204" pitchFamily="34" charset="0"/>
                <a:ea typeface="SimSun" panose="02010600030101010101" pitchFamily="2" charset="-122"/>
                <a:cs typeface="Times New Roman" panose="02020603050405020304" pitchFamily="18" charset="0"/>
              </a:rPr>
              <a:t>).</a:t>
            </a:r>
            <a:endParaRPr lang="en-GB" sz="1200" dirty="0"/>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g35094c70174_0_21"/>
          <p:cNvPicPr preferRelativeResize="0"/>
          <p:nvPr/>
        </p:nvPicPr>
        <p:blipFill>
          <a:blip r:embed="rId4">
            <a:alphaModFix/>
          </a:blip>
          <a:srcRect b="13479"/>
          <a:stretch/>
        </p:blipFill>
        <p:spPr>
          <a:xfrm>
            <a:off x="4580775" y="1246031"/>
            <a:ext cx="6781156" cy="3977134"/>
          </a:xfrm>
          <a:prstGeom prst="rect">
            <a:avLst/>
          </a:prstGeom>
          <a:noFill/>
          <a:ln>
            <a:noFill/>
          </a:ln>
        </p:spPr>
      </p:pic>
      <p:sp>
        <p:nvSpPr>
          <p:cNvPr id="212" name="Google Shape;212;g35094c70174_0_21"/>
          <p:cNvSpPr txBox="1">
            <a:spLocks noGrp="1"/>
          </p:cNvSpPr>
          <p:nvPr>
            <p:ph type="title"/>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a:solidFill>
                  <a:srgbClr val="143F6A"/>
                </a:solidFill>
              </a:rPr>
              <a:t>Anomalie – points</a:t>
            </a:r>
            <a:endParaRPr>
              <a:solidFill>
                <a:srgbClr val="143F6A"/>
              </a:solidFill>
            </a:endParaRPr>
          </a:p>
        </p:txBody>
      </p:sp>
      <p:sp>
        <p:nvSpPr>
          <p:cNvPr id="213" name="Google Shape;213;g35094c70174_0_21"/>
          <p:cNvSpPr txBox="1">
            <a:spLocks noGrp="1"/>
          </p:cNvSpPr>
          <p:nvPr>
            <p:ph type="body" idx="1"/>
          </p:nvPr>
        </p:nvSpPr>
        <p:spPr>
          <a:xfrm>
            <a:off x="296650" y="1246025"/>
            <a:ext cx="51642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fr-FR" sz="2200" b="1" dirty="0">
                <a:solidFill>
                  <a:schemeClr val="dk2"/>
                </a:solidFill>
              </a:rPr>
              <a:t>Caractéristiques :</a:t>
            </a:r>
            <a:endParaRPr sz="2200" b="1"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Valeur extrême</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durée courte</a:t>
            </a:r>
            <a:endParaRPr sz="2200" dirty="0">
              <a:solidFill>
                <a:schemeClr val="dk2"/>
              </a:solidFill>
            </a:endParaRPr>
          </a:p>
          <a:p>
            <a:pPr marL="0" lvl="0" indent="0" algn="l" rtl="0">
              <a:lnSpc>
                <a:spcPct val="100000"/>
              </a:lnSpc>
              <a:spcBef>
                <a:spcPts val="0"/>
              </a:spcBef>
              <a:spcAft>
                <a:spcPts val="0"/>
              </a:spcAft>
              <a:buNone/>
            </a:pPr>
            <a:endParaRPr sz="2200" b="1" dirty="0">
              <a:solidFill>
                <a:schemeClr val="dk2"/>
              </a:solidFill>
            </a:endParaRPr>
          </a:p>
          <a:p>
            <a:pPr marL="0" lvl="0" indent="0" algn="l" rtl="0">
              <a:lnSpc>
                <a:spcPct val="100000"/>
              </a:lnSpc>
              <a:spcBef>
                <a:spcPts val="0"/>
              </a:spcBef>
              <a:spcAft>
                <a:spcPts val="0"/>
              </a:spcAft>
              <a:buNone/>
            </a:pPr>
            <a:r>
              <a:rPr lang="fr-FR" sz="2200" b="1" dirty="0">
                <a:solidFill>
                  <a:schemeClr val="dk2"/>
                </a:solidFill>
              </a:rPr>
              <a:t>Cause potentielle :</a:t>
            </a:r>
            <a:endParaRPr sz="2200" b="1"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défaut d’instrument de mesure</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opération particulière (e.g., maintenance)</a:t>
            </a:r>
            <a:endParaRPr sz="2200" dirty="0">
              <a:solidFill>
                <a:schemeClr val="dk2"/>
              </a:solidFill>
            </a:endParaRPr>
          </a:p>
          <a:p>
            <a:pPr marL="0" lvl="0" indent="0" algn="l" rtl="0">
              <a:lnSpc>
                <a:spcPct val="100000"/>
              </a:lnSpc>
              <a:spcBef>
                <a:spcPts val="0"/>
              </a:spcBef>
              <a:spcAft>
                <a:spcPts val="0"/>
              </a:spcAft>
              <a:buNone/>
            </a:pPr>
            <a:endParaRPr sz="2200" b="1" dirty="0">
              <a:solidFill>
                <a:schemeClr val="dk2"/>
              </a:solidFill>
            </a:endParaRPr>
          </a:p>
          <a:p>
            <a:pPr marL="0" lvl="0" indent="0" algn="l" rtl="0">
              <a:lnSpc>
                <a:spcPct val="100000"/>
              </a:lnSpc>
              <a:spcBef>
                <a:spcPts val="0"/>
              </a:spcBef>
              <a:spcAft>
                <a:spcPts val="0"/>
              </a:spcAft>
              <a:buNone/>
            </a:pPr>
            <a:r>
              <a:rPr lang="fr-FR" sz="2200" b="1" dirty="0">
                <a:solidFill>
                  <a:schemeClr val="dk2"/>
                </a:solidFill>
              </a:rPr>
              <a:t>Solution possible : </a:t>
            </a:r>
            <a:endParaRPr sz="2200" b="1"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Indicateur statistique</a:t>
            </a:r>
            <a:endParaRPr sz="2200" dirty="0">
              <a:solidFill>
                <a:schemeClr val="dk2"/>
              </a:solidFill>
            </a:endParaRPr>
          </a:p>
          <a:p>
            <a:pPr marL="0" lvl="0" indent="0" algn="l" rtl="0">
              <a:lnSpc>
                <a:spcPct val="100000"/>
              </a:lnSpc>
              <a:spcBef>
                <a:spcPts val="500"/>
              </a:spcBef>
              <a:spcAft>
                <a:spcPts val="0"/>
              </a:spcAft>
              <a:buSzPts val="2400"/>
              <a:buNone/>
            </a:pPr>
            <a:endParaRPr sz="2000"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214" name="Google Shape;214;g35094c70174_0_21"/>
          <p:cNvSpPr txBox="1">
            <a:spLocks noGrp="1"/>
          </p:cNvSpPr>
          <p:nvPr>
            <p:ph type="sldNum" idx="12"/>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10</a:t>
            </a:r>
            <a:endParaRPr/>
          </a:p>
        </p:txBody>
      </p:sp>
      <p:sp>
        <p:nvSpPr>
          <p:cNvPr id="2" name="ZoneTexte 1">
            <a:extLst>
              <a:ext uri="{FF2B5EF4-FFF2-40B4-BE49-F238E27FC236}">
                <a16:creationId xmlns:a16="http://schemas.microsoft.com/office/drawing/2014/main" id="{7A51B36D-C15A-2F41-1915-862E508D7CA0}"/>
              </a:ext>
            </a:extLst>
          </p:cNvPr>
          <p:cNvSpPr txBox="1"/>
          <p:nvPr/>
        </p:nvSpPr>
        <p:spPr>
          <a:xfrm>
            <a:off x="5276423" y="5223165"/>
            <a:ext cx="6915577" cy="338554"/>
          </a:xfrm>
          <a:prstGeom prst="rect">
            <a:avLst/>
          </a:prstGeom>
          <a:noFill/>
        </p:spPr>
        <p:txBody>
          <a:bodyPr wrap="square">
            <a:spAutoFit/>
          </a:bodyPr>
          <a:lstStyle/>
          <a:p>
            <a:pPr algn="just"/>
            <a:r>
              <a:rPr lang="en-GB" sz="1600" dirty="0">
                <a:effectLst/>
                <a:latin typeface="Calibri" panose="020F0502020204030204" pitchFamily="34" charset="0"/>
                <a:ea typeface="SimSun" panose="02010600030101010101" pitchFamily="2" charset="-122"/>
                <a:cs typeface="Times New Roman" panose="02020603050405020304" pitchFamily="18" charset="0"/>
              </a:rPr>
              <a:t>Figure </a:t>
            </a:r>
            <a:r>
              <a:rPr lang="en-GB" sz="1600" dirty="0">
                <a:latin typeface="Calibri" panose="020F0502020204030204" pitchFamily="34" charset="0"/>
                <a:ea typeface="SimSun" panose="02010600030101010101" pitchFamily="2" charset="-122"/>
                <a:cs typeface="Times New Roman" panose="02020603050405020304" pitchFamily="18" charset="0"/>
              </a:rPr>
              <a:t>3 : </a:t>
            </a:r>
            <a:r>
              <a:rPr lang="en-GB" sz="1600" dirty="0" err="1">
                <a:latin typeface="Calibri" panose="020F0502020204030204" pitchFamily="34" charset="0"/>
                <a:ea typeface="SimSun" panose="02010600030101010101" pitchFamily="2" charset="-122"/>
                <a:cs typeface="Times New Roman" panose="02020603050405020304" pitchFamily="18" charset="0"/>
              </a:rPr>
              <a:t>Anomalie</a:t>
            </a:r>
            <a:r>
              <a:rPr lang="en-GB" sz="1600" dirty="0">
                <a:latin typeface="Calibri" panose="020F0502020204030204" pitchFamily="34" charset="0"/>
                <a:ea typeface="SimSun" panose="02010600030101010101" pitchFamily="2" charset="-122"/>
                <a:cs typeface="Times New Roman" panose="02020603050405020304" pitchFamily="18" charset="0"/>
              </a:rPr>
              <a:t> </a:t>
            </a:r>
            <a:r>
              <a:rPr lang="en-GB" sz="1600" dirty="0" err="1">
                <a:latin typeface="Calibri" panose="020F0502020204030204" pitchFamily="34" charset="0"/>
                <a:ea typeface="SimSun" panose="02010600030101010101" pitchFamily="2" charset="-122"/>
                <a:cs typeface="Times New Roman" panose="02020603050405020304" pitchFamily="18" charset="0"/>
              </a:rPr>
              <a:t>en</a:t>
            </a:r>
            <a:r>
              <a:rPr lang="en-GB" sz="1600" dirty="0">
                <a:latin typeface="Calibri" panose="020F0502020204030204" pitchFamily="34" charset="0"/>
                <a:ea typeface="SimSun" panose="02010600030101010101" pitchFamily="2" charset="-122"/>
                <a:cs typeface="Times New Roman" panose="02020603050405020304" pitchFamily="18" charset="0"/>
              </a:rPr>
              <a:t> point (cercle rouge) dans un bruit </a:t>
            </a:r>
            <a:r>
              <a:rPr lang="en-GB" sz="1600" dirty="0" err="1">
                <a:latin typeface="Calibri" panose="020F0502020204030204" pitchFamily="34" charset="0"/>
                <a:ea typeface="SimSun" panose="02010600030101010101" pitchFamily="2" charset="-122"/>
                <a:cs typeface="Times New Roman" panose="02020603050405020304" pitchFamily="18" charset="0"/>
              </a:rPr>
              <a:t>gaussien</a:t>
            </a:r>
            <a:r>
              <a:rPr lang="en-GB" sz="1600" dirty="0">
                <a:latin typeface="Calibri" panose="020F0502020204030204" pitchFamily="34" charset="0"/>
                <a:ea typeface="SimSun" panose="02010600030101010101" pitchFamily="2" charset="-122"/>
                <a:cs typeface="Times New Roman" panose="02020603050405020304" pitchFamily="18" charset="0"/>
              </a:rPr>
              <a:t> </a:t>
            </a:r>
            <a:r>
              <a:rPr lang="en-GB" sz="1600" dirty="0" err="1">
                <a:latin typeface="Calibri" panose="020F0502020204030204" pitchFamily="34" charset="0"/>
                <a:ea typeface="SimSun" panose="02010600030101010101" pitchFamily="2" charset="-122"/>
                <a:cs typeface="Times New Roman" panose="02020603050405020304" pitchFamily="18" charset="0"/>
              </a:rPr>
              <a:t>aléatoire</a:t>
            </a:r>
            <a:r>
              <a:rPr lang="en-GB" sz="1600" dirty="0">
                <a:latin typeface="Calibri" panose="020F0502020204030204" pitchFamily="34" charset="0"/>
                <a:ea typeface="SimSun" panose="02010600030101010101" pitchFamily="2" charset="-122"/>
                <a:cs typeface="Times New Roman" panose="02020603050405020304" pitchFamily="18" charset="0"/>
              </a:rPr>
              <a:t>.</a:t>
            </a:r>
            <a:endParaRPr lang="en-GB" sz="1200" dirty="0"/>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g35094c70174_0_38"/>
          <p:cNvSpPr txBox="1">
            <a:spLocks noGrp="1"/>
          </p:cNvSpPr>
          <p:nvPr>
            <p:ph type="title"/>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Anomalie – anomalie collective</a:t>
            </a:r>
            <a:endParaRPr dirty="0">
              <a:solidFill>
                <a:srgbClr val="143F6A"/>
              </a:solidFill>
            </a:endParaRPr>
          </a:p>
        </p:txBody>
      </p:sp>
      <p:sp>
        <p:nvSpPr>
          <p:cNvPr id="230" name="Google Shape;230;g35094c70174_0_38"/>
          <p:cNvSpPr txBox="1">
            <a:spLocks noGrp="1"/>
          </p:cNvSpPr>
          <p:nvPr>
            <p:ph type="body" idx="1"/>
          </p:nvPr>
        </p:nvSpPr>
        <p:spPr>
          <a:xfrm>
            <a:off x="296650" y="1246025"/>
            <a:ext cx="48921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fr-FR" sz="2200" b="1" dirty="0">
                <a:solidFill>
                  <a:schemeClr val="dk2"/>
                </a:solidFill>
              </a:rPr>
              <a:t>Caractéristiques :</a:t>
            </a:r>
            <a:endParaRPr sz="2200" b="1"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Valeur non-extrême</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selon le contexte</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ensemble d’observations</a:t>
            </a:r>
            <a:endParaRPr sz="2200" dirty="0">
              <a:solidFill>
                <a:schemeClr val="dk2"/>
              </a:solidFill>
            </a:endParaRPr>
          </a:p>
          <a:p>
            <a:pPr marL="0" lvl="0" indent="0" algn="l" rtl="0">
              <a:lnSpc>
                <a:spcPct val="100000"/>
              </a:lnSpc>
              <a:spcBef>
                <a:spcPts val="0"/>
              </a:spcBef>
              <a:spcAft>
                <a:spcPts val="0"/>
              </a:spcAft>
              <a:buNone/>
            </a:pPr>
            <a:endParaRPr sz="2200" b="1" dirty="0">
              <a:solidFill>
                <a:schemeClr val="dk2"/>
              </a:solidFill>
            </a:endParaRPr>
          </a:p>
          <a:p>
            <a:pPr marL="0" lvl="0" indent="0" algn="l" rtl="0">
              <a:lnSpc>
                <a:spcPct val="100000"/>
              </a:lnSpc>
              <a:spcBef>
                <a:spcPts val="0"/>
              </a:spcBef>
              <a:spcAft>
                <a:spcPts val="0"/>
              </a:spcAft>
              <a:buNone/>
            </a:pPr>
            <a:r>
              <a:rPr lang="fr-FR" sz="2200" b="1" dirty="0">
                <a:solidFill>
                  <a:schemeClr val="dk2"/>
                </a:solidFill>
              </a:rPr>
              <a:t>Cause potentielle :</a:t>
            </a:r>
            <a:endParaRPr sz="2200" b="1"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opération particulière (e.g., maintenance)</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défaut de système énergétiques,</a:t>
            </a:r>
            <a:endParaRPr sz="2200" dirty="0">
              <a:solidFill>
                <a:schemeClr val="dk2"/>
              </a:solidFill>
            </a:endParaRPr>
          </a:p>
          <a:p>
            <a:pPr marL="0" lvl="0" indent="0" algn="l" rtl="0">
              <a:lnSpc>
                <a:spcPct val="100000"/>
              </a:lnSpc>
              <a:spcBef>
                <a:spcPts val="0"/>
              </a:spcBef>
              <a:spcAft>
                <a:spcPts val="0"/>
              </a:spcAft>
              <a:buNone/>
            </a:pPr>
            <a:endParaRPr sz="2200" b="1" dirty="0">
              <a:solidFill>
                <a:schemeClr val="dk2"/>
              </a:solidFill>
            </a:endParaRPr>
          </a:p>
          <a:p>
            <a:pPr marL="0" lvl="0" indent="0" algn="l" rtl="0">
              <a:lnSpc>
                <a:spcPct val="100000"/>
              </a:lnSpc>
              <a:spcBef>
                <a:spcPts val="0"/>
              </a:spcBef>
              <a:spcAft>
                <a:spcPts val="0"/>
              </a:spcAft>
              <a:buNone/>
            </a:pPr>
            <a:r>
              <a:rPr lang="fr-FR" sz="2200" b="1" dirty="0">
                <a:solidFill>
                  <a:schemeClr val="dk2"/>
                </a:solidFill>
              </a:rPr>
              <a:t>Solutions possibles : </a:t>
            </a:r>
            <a:endParaRPr sz="2200" b="1"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Log de maintenance</a:t>
            </a:r>
            <a:endParaRPr sz="2200" dirty="0">
              <a:solidFill>
                <a:schemeClr val="dk2"/>
              </a:solidFill>
            </a:endParaRPr>
          </a:p>
          <a:p>
            <a:pPr marL="457200" lvl="0" indent="-368300" algn="l" rtl="0">
              <a:lnSpc>
                <a:spcPct val="100000"/>
              </a:lnSpc>
              <a:spcBef>
                <a:spcPts val="0"/>
              </a:spcBef>
              <a:spcAft>
                <a:spcPts val="0"/>
              </a:spcAft>
              <a:buClr>
                <a:schemeClr val="dk2"/>
              </a:buClr>
              <a:buSzPts val="2200"/>
              <a:buChar char="-"/>
            </a:pPr>
            <a:r>
              <a:rPr lang="fr-FR" sz="2200" dirty="0">
                <a:solidFill>
                  <a:schemeClr val="dk2"/>
                </a:solidFill>
              </a:rPr>
              <a:t>Détection d’anomalie</a:t>
            </a:r>
            <a:endParaRPr sz="2200" dirty="0">
              <a:solidFill>
                <a:schemeClr val="dk2"/>
              </a:solidFill>
            </a:endParaRPr>
          </a:p>
          <a:p>
            <a:pPr marL="0" lvl="0" indent="0" algn="l" rtl="0">
              <a:lnSpc>
                <a:spcPct val="100000"/>
              </a:lnSpc>
              <a:spcBef>
                <a:spcPts val="500"/>
              </a:spcBef>
              <a:spcAft>
                <a:spcPts val="0"/>
              </a:spcAft>
              <a:buSzPts val="2400"/>
              <a:buNone/>
            </a:pPr>
            <a:endParaRPr sz="2000"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231" name="Google Shape;231;g35094c70174_0_38"/>
          <p:cNvSpPr txBox="1">
            <a:spLocks noGrp="1"/>
          </p:cNvSpPr>
          <p:nvPr>
            <p:ph type="sldNum" idx="12"/>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11</a:t>
            </a:r>
            <a:endParaRPr/>
          </a:p>
        </p:txBody>
      </p:sp>
      <p:pic>
        <p:nvPicPr>
          <p:cNvPr id="232" name="Google Shape;232;g35094c70174_0_38"/>
          <p:cNvPicPr preferRelativeResize="0"/>
          <p:nvPr/>
        </p:nvPicPr>
        <p:blipFill>
          <a:blip r:embed="rId4">
            <a:alphaModFix/>
          </a:blip>
          <a:srcRect b="16236"/>
          <a:stretch/>
        </p:blipFill>
        <p:spPr>
          <a:xfrm>
            <a:off x="5077450" y="1246023"/>
            <a:ext cx="6667500" cy="4212668"/>
          </a:xfrm>
          <a:prstGeom prst="rect">
            <a:avLst/>
          </a:prstGeom>
          <a:noFill/>
          <a:ln>
            <a:noFill/>
          </a:ln>
        </p:spPr>
      </p:pic>
      <p:sp>
        <p:nvSpPr>
          <p:cNvPr id="2" name="ZoneTexte 1">
            <a:extLst>
              <a:ext uri="{FF2B5EF4-FFF2-40B4-BE49-F238E27FC236}">
                <a16:creationId xmlns:a16="http://schemas.microsoft.com/office/drawing/2014/main" id="{2B195929-087A-8F02-EB27-4D467BB721A2}"/>
              </a:ext>
            </a:extLst>
          </p:cNvPr>
          <p:cNvSpPr txBox="1"/>
          <p:nvPr/>
        </p:nvSpPr>
        <p:spPr>
          <a:xfrm>
            <a:off x="5789041" y="5440001"/>
            <a:ext cx="6915577" cy="338554"/>
          </a:xfrm>
          <a:prstGeom prst="rect">
            <a:avLst/>
          </a:prstGeom>
          <a:noFill/>
        </p:spPr>
        <p:txBody>
          <a:bodyPr wrap="square">
            <a:spAutoFit/>
          </a:bodyPr>
          <a:lstStyle/>
          <a:p>
            <a:pPr algn="just"/>
            <a:r>
              <a:rPr lang="en-GB" sz="1600" dirty="0">
                <a:effectLst/>
                <a:latin typeface="Calibri" panose="020F0502020204030204" pitchFamily="34" charset="0"/>
                <a:ea typeface="SimSun" panose="02010600030101010101" pitchFamily="2" charset="-122"/>
                <a:cs typeface="Times New Roman" panose="02020603050405020304" pitchFamily="18" charset="0"/>
              </a:rPr>
              <a:t>Figure </a:t>
            </a:r>
            <a:r>
              <a:rPr lang="en-GB" sz="1600" dirty="0">
                <a:latin typeface="Calibri" panose="020F0502020204030204" pitchFamily="34" charset="0"/>
                <a:ea typeface="SimSun" panose="02010600030101010101" pitchFamily="2" charset="-122"/>
                <a:cs typeface="Times New Roman" panose="02020603050405020304" pitchFamily="18" charset="0"/>
              </a:rPr>
              <a:t>4 : </a:t>
            </a:r>
            <a:r>
              <a:rPr lang="en-GB" sz="1600" dirty="0" err="1">
                <a:latin typeface="Calibri" panose="020F0502020204030204" pitchFamily="34" charset="0"/>
                <a:ea typeface="SimSun" panose="02010600030101010101" pitchFamily="2" charset="-122"/>
                <a:cs typeface="Times New Roman" panose="02020603050405020304" pitchFamily="18" charset="0"/>
              </a:rPr>
              <a:t>Exemple</a:t>
            </a:r>
            <a:r>
              <a:rPr lang="en-GB" sz="1600" dirty="0">
                <a:latin typeface="Calibri" panose="020F0502020204030204" pitchFamily="34" charset="0"/>
                <a:ea typeface="SimSun" panose="02010600030101010101" pitchFamily="2" charset="-122"/>
                <a:cs typeface="Times New Roman" panose="02020603050405020304" pitchFamily="18" charset="0"/>
              </a:rPr>
              <a:t> </a:t>
            </a:r>
            <a:r>
              <a:rPr lang="en-GB" sz="1600" dirty="0" err="1">
                <a:latin typeface="Calibri" panose="020F0502020204030204" pitchFamily="34" charset="0"/>
                <a:ea typeface="SimSun" panose="02010600030101010101" pitchFamily="2" charset="-122"/>
                <a:cs typeface="Times New Roman" panose="02020603050405020304" pitchFamily="18" charset="0"/>
              </a:rPr>
              <a:t>d’une</a:t>
            </a:r>
            <a:r>
              <a:rPr lang="en-GB" sz="1600" dirty="0">
                <a:latin typeface="Calibri" panose="020F0502020204030204" pitchFamily="34" charset="0"/>
                <a:ea typeface="SimSun" panose="02010600030101010101" pitchFamily="2" charset="-122"/>
                <a:cs typeface="Times New Roman" panose="02020603050405020304" pitchFamily="18" charset="0"/>
              </a:rPr>
              <a:t> </a:t>
            </a:r>
            <a:r>
              <a:rPr lang="en-GB" sz="1600" dirty="0" err="1">
                <a:latin typeface="Calibri" panose="020F0502020204030204" pitchFamily="34" charset="0"/>
                <a:ea typeface="SimSun" panose="02010600030101010101" pitchFamily="2" charset="-122"/>
                <a:cs typeface="Times New Roman" panose="02020603050405020304" pitchFamily="18" charset="0"/>
              </a:rPr>
              <a:t>anomalie</a:t>
            </a:r>
            <a:r>
              <a:rPr lang="en-GB" sz="1600" dirty="0">
                <a:latin typeface="Calibri" panose="020F0502020204030204" pitchFamily="34" charset="0"/>
                <a:ea typeface="SimSun" panose="02010600030101010101" pitchFamily="2" charset="-122"/>
                <a:cs typeface="Times New Roman" panose="02020603050405020304" pitchFamily="18" charset="0"/>
              </a:rPr>
              <a:t> collective, </a:t>
            </a:r>
            <a:r>
              <a:rPr lang="en-GB" sz="1600" dirty="0" err="1">
                <a:latin typeface="Calibri" panose="020F0502020204030204" pitchFamily="34" charset="0"/>
                <a:ea typeface="SimSun" panose="02010600030101010101" pitchFamily="2" charset="-122"/>
                <a:cs typeface="Times New Roman" panose="02020603050405020304" pitchFamily="18" charset="0"/>
              </a:rPr>
              <a:t>marquée</a:t>
            </a:r>
            <a:r>
              <a:rPr lang="en-GB" sz="1600" dirty="0">
                <a:latin typeface="Calibri" panose="020F0502020204030204" pitchFamily="34" charset="0"/>
                <a:ea typeface="SimSun" panose="02010600030101010101" pitchFamily="2" charset="-122"/>
                <a:cs typeface="Times New Roman" panose="02020603050405020304" pitchFamily="18" charset="0"/>
              </a:rPr>
              <a:t> </a:t>
            </a:r>
            <a:r>
              <a:rPr lang="en-GB" sz="1600" dirty="0" err="1">
                <a:latin typeface="Calibri" panose="020F0502020204030204" pitchFamily="34" charset="0"/>
                <a:ea typeface="SimSun" panose="02010600030101010101" pitchFamily="2" charset="-122"/>
                <a:cs typeface="Times New Roman" panose="02020603050405020304" pitchFamily="18" charset="0"/>
              </a:rPr>
              <a:t>en</a:t>
            </a:r>
            <a:r>
              <a:rPr lang="en-GB" sz="1600" dirty="0">
                <a:latin typeface="Calibri" panose="020F0502020204030204" pitchFamily="34" charset="0"/>
                <a:ea typeface="SimSun" panose="02010600030101010101" pitchFamily="2" charset="-122"/>
                <a:cs typeface="Times New Roman" panose="02020603050405020304" pitchFamily="18" charset="0"/>
              </a:rPr>
              <a:t> rouge.</a:t>
            </a:r>
            <a:endParaRPr lang="en-GB" sz="1200" dirty="0"/>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35094c70174_0_77"/>
          <p:cNvSpPr txBox="1">
            <a:spLocks noGrp="1"/>
          </p:cNvSpPr>
          <p:nvPr>
            <p:ph type="title"/>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lvl="0">
              <a:buClr>
                <a:schemeClr val="dk1"/>
              </a:buClr>
              <a:buSzPts val="1100"/>
            </a:pPr>
            <a:r>
              <a:rPr lang="fr-FR" dirty="0">
                <a:solidFill>
                  <a:srgbClr val="143F6A"/>
                </a:solidFill>
              </a:rPr>
              <a:t>Détection d’anomalie – </a:t>
            </a:r>
            <a:r>
              <a:rPr lang="fr-FR" dirty="0" err="1">
                <a:solidFill>
                  <a:srgbClr val="143F6A"/>
                </a:solidFill>
              </a:rPr>
              <a:t>regression</a:t>
            </a:r>
            <a:r>
              <a:rPr lang="fr-FR" dirty="0">
                <a:solidFill>
                  <a:srgbClr val="143F6A"/>
                </a:solidFill>
              </a:rPr>
              <a:t> + densité de données </a:t>
            </a:r>
            <a:endParaRPr dirty="0">
              <a:solidFill>
                <a:srgbClr val="143F6A"/>
              </a:solidFill>
            </a:endParaRPr>
          </a:p>
        </p:txBody>
      </p:sp>
      <p:sp>
        <p:nvSpPr>
          <p:cNvPr id="292" name="Google Shape;292;g35094c70174_0_77"/>
          <p:cNvSpPr txBox="1">
            <a:spLocks noGrp="1"/>
          </p:cNvSpPr>
          <p:nvPr>
            <p:ph type="body" idx="1"/>
          </p:nvPr>
        </p:nvSpPr>
        <p:spPr>
          <a:xfrm>
            <a:off x="296650" y="1246025"/>
            <a:ext cx="1087292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SzPts val="2400"/>
              <a:buNone/>
            </a:pPr>
            <a:r>
              <a:rPr lang="fr-FR" sz="2200" b="1" dirty="0">
                <a:solidFill>
                  <a:srgbClr val="253356"/>
                </a:solidFill>
              </a:rPr>
              <a:t>Objectif</a:t>
            </a:r>
            <a:r>
              <a:rPr lang="fr-FR" sz="2200" dirty="0">
                <a:solidFill>
                  <a:srgbClr val="253356"/>
                </a:solidFill>
              </a:rPr>
              <a:t> : éliminer les périodes d’occupation / gestion irrégulières</a:t>
            </a:r>
            <a:endParaRPr sz="2200" dirty="0">
              <a:solidFill>
                <a:srgbClr val="253356"/>
              </a:solid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rtl="0">
              <a:lnSpc>
                <a:spcPct val="100000"/>
              </a:lnSpc>
              <a:spcBef>
                <a:spcPts val="500"/>
              </a:spcBef>
              <a:spcAft>
                <a:spcPts val="0"/>
              </a:spcAft>
              <a:buSzPts val="2400"/>
              <a:buNone/>
            </a:pPr>
            <a:r>
              <a:rPr lang="fr-FR" sz="2200" b="1" dirty="0">
                <a:solidFill>
                  <a:srgbClr val="253356"/>
                </a:solidFill>
              </a:rPr>
              <a:t>Approche</a:t>
            </a:r>
            <a:r>
              <a:rPr lang="fr-FR" sz="2200" dirty="0">
                <a:solidFill>
                  <a:srgbClr val="253356"/>
                </a:solidFill>
              </a:rPr>
              <a:t> :</a:t>
            </a:r>
          </a:p>
          <a:p>
            <a:pPr marL="0" lvl="0" indent="0" algn="l">
              <a:spcBef>
                <a:spcPts val="500"/>
              </a:spcBef>
              <a:buNone/>
            </a:pPr>
            <a:r>
              <a:rPr lang="fr-FR" sz="2200" dirty="0">
                <a:solidFill>
                  <a:srgbClr val="253356"/>
                </a:solidFill>
              </a:rPr>
              <a:t>Identifier trois paires d’attributs énergétique-météorologique qui pourraient être décrites par des lois empiriques : </a:t>
            </a:r>
            <a:r>
              <a:rPr lang="fr-FR" sz="2200" b="1" dirty="0">
                <a:solidFill>
                  <a:srgbClr val="253356"/>
                </a:solidFill>
              </a:rPr>
              <a:t>∆</a:t>
            </a:r>
            <a:r>
              <a:rPr lang="fr-FR" sz="2200" b="1" dirty="0" err="1">
                <a:solidFill>
                  <a:srgbClr val="253356"/>
                </a:solidFill>
              </a:rPr>
              <a:t>T_sst</a:t>
            </a:r>
            <a:r>
              <a:rPr lang="fr-FR" sz="2200" b="1" dirty="0">
                <a:solidFill>
                  <a:srgbClr val="253356"/>
                </a:solidFill>
              </a:rPr>
              <a:t> – </a:t>
            </a:r>
            <a:r>
              <a:rPr lang="fr-FR" sz="2200" b="1" dirty="0" err="1">
                <a:solidFill>
                  <a:srgbClr val="253356"/>
                </a:solidFill>
              </a:rPr>
              <a:t>T_air</a:t>
            </a:r>
            <a:r>
              <a:rPr lang="fr-FR" sz="2200" b="1" dirty="0">
                <a:solidFill>
                  <a:srgbClr val="253356"/>
                </a:solidFill>
              </a:rPr>
              <a:t> , débit – </a:t>
            </a:r>
            <a:r>
              <a:rPr lang="fr-FR" sz="2200" b="1" dirty="0" err="1">
                <a:solidFill>
                  <a:srgbClr val="253356"/>
                </a:solidFill>
              </a:rPr>
              <a:t>T_air</a:t>
            </a:r>
            <a:r>
              <a:rPr lang="fr-FR" sz="2200" b="1" dirty="0">
                <a:solidFill>
                  <a:srgbClr val="253356"/>
                </a:solidFill>
              </a:rPr>
              <a:t>, puissance – DJU </a:t>
            </a:r>
          </a:p>
          <a:p>
            <a:pPr marL="0" lvl="0" indent="0" algn="l">
              <a:spcBef>
                <a:spcPts val="500"/>
              </a:spcBef>
              <a:buNone/>
            </a:pPr>
            <a:endParaRPr lang="fr-FR" sz="2200" dirty="0">
              <a:solidFill>
                <a:srgbClr val="253356"/>
              </a:solidFill>
            </a:endParaRPr>
          </a:p>
          <a:p>
            <a:pPr marL="0" lvl="0" indent="0" algn="l" rtl="0">
              <a:lnSpc>
                <a:spcPct val="100000"/>
              </a:lnSpc>
              <a:spcBef>
                <a:spcPts val="500"/>
              </a:spcBef>
              <a:spcAft>
                <a:spcPts val="0"/>
              </a:spcAft>
              <a:buSzPts val="2400"/>
              <a:buNone/>
            </a:pPr>
            <a:r>
              <a:rPr lang="fr-FR" sz="2200" dirty="0">
                <a:solidFill>
                  <a:srgbClr val="253356"/>
                </a:solidFill>
              </a:rPr>
              <a:t>Par paire d’attributs énergétique-météorologique, répéter : </a:t>
            </a:r>
            <a:endParaRPr sz="2200" dirty="0">
              <a:solidFill>
                <a:srgbClr val="253356"/>
              </a:solidFill>
            </a:endParaRPr>
          </a:p>
          <a:p>
            <a:pPr indent="-368300" algn="l">
              <a:spcBef>
                <a:spcPts val="500"/>
              </a:spcBef>
              <a:buClr>
                <a:srgbClr val="253356"/>
              </a:buClr>
              <a:buSzPts val="2200"/>
            </a:pPr>
            <a:r>
              <a:rPr lang="fr-FR" sz="2200" dirty="0">
                <a:solidFill>
                  <a:srgbClr val="253356"/>
                </a:solidFill>
              </a:rPr>
              <a:t>agréger les mesures horaires à l’échelle journalière (moyenne)</a:t>
            </a:r>
            <a:endParaRPr sz="2200" dirty="0">
              <a:solidFill>
                <a:srgbClr val="253356"/>
              </a:solidFill>
            </a:endParaRPr>
          </a:p>
          <a:p>
            <a:pPr indent="-368300" algn="l">
              <a:spcBef>
                <a:spcPts val="0"/>
              </a:spcBef>
              <a:buClr>
                <a:srgbClr val="253356"/>
              </a:buClr>
              <a:buSzPts val="2200"/>
            </a:pPr>
            <a:r>
              <a:rPr lang="fr-FR" sz="2200" dirty="0">
                <a:solidFill>
                  <a:srgbClr val="253356"/>
                </a:solidFill>
              </a:rPr>
              <a:t>régression linéaire robuste par segment et par saison de chauffage entre un attribut énergétique et un attribut météorologique  </a:t>
            </a:r>
            <a:endParaRPr sz="2200" dirty="0">
              <a:solidFill>
                <a:srgbClr val="253356"/>
              </a:solidFill>
            </a:endParaRPr>
          </a:p>
          <a:p>
            <a:pPr indent="-368300" algn="l">
              <a:spcBef>
                <a:spcPts val="0"/>
              </a:spcBef>
              <a:buClr>
                <a:srgbClr val="253356"/>
              </a:buClr>
              <a:buSzPts val="2200"/>
            </a:pPr>
            <a:r>
              <a:rPr lang="fr-FR" sz="2200" dirty="0">
                <a:solidFill>
                  <a:srgbClr val="253356"/>
                </a:solidFill>
              </a:rPr>
              <a:t>identifier les points en dehors d’une bande définie par la moyenne et l’écart type</a:t>
            </a:r>
          </a:p>
          <a:p>
            <a:pPr marL="457200" lvl="0" indent="-368300" algn="l" rtl="0">
              <a:lnSpc>
                <a:spcPct val="100000"/>
              </a:lnSpc>
              <a:spcBef>
                <a:spcPts val="0"/>
              </a:spcBef>
              <a:spcAft>
                <a:spcPts val="0"/>
              </a:spcAft>
              <a:buClr>
                <a:srgbClr val="253356"/>
              </a:buClr>
              <a:buSzPts val="2200"/>
              <a:buAutoNum type="arabicPeriod"/>
            </a:pPr>
            <a:endParaRPr lang="fr-FR" sz="2200" dirty="0">
              <a:solidFill>
                <a:srgbClr val="253356"/>
              </a:solidFill>
            </a:endParaRPr>
          </a:p>
          <a:p>
            <a:pPr marL="88900" lvl="0" indent="0" algn="l" rtl="0">
              <a:lnSpc>
                <a:spcPct val="100000"/>
              </a:lnSpc>
              <a:spcBef>
                <a:spcPts val="0"/>
              </a:spcBef>
              <a:spcAft>
                <a:spcPts val="0"/>
              </a:spcAft>
              <a:buClr>
                <a:srgbClr val="253356"/>
              </a:buClr>
              <a:buSzPts val="2200"/>
              <a:buNone/>
            </a:pPr>
            <a:r>
              <a:rPr lang="fr-FR" sz="2200" dirty="0">
                <a:solidFill>
                  <a:srgbClr val="253356"/>
                </a:solidFill>
              </a:rPr>
              <a:t>Identification des anomalies : </a:t>
            </a:r>
          </a:p>
          <a:p>
            <a:pPr marL="546100" indent="-457200" algn="l">
              <a:spcBef>
                <a:spcPts val="0"/>
              </a:spcBef>
              <a:buClr>
                <a:srgbClr val="253356"/>
              </a:buClr>
              <a:buSzPts val="2200"/>
            </a:pPr>
            <a:r>
              <a:rPr lang="fr-FR" sz="2200" dirty="0">
                <a:solidFill>
                  <a:srgbClr val="253356"/>
                </a:solidFill>
              </a:rPr>
              <a:t>Si stricte, éliminer les points identifiés par au moins plusieurs paires;</a:t>
            </a:r>
          </a:p>
          <a:p>
            <a:pPr marL="546100" indent="-457200" algn="l">
              <a:spcBef>
                <a:spcPts val="0"/>
              </a:spcBef>
              <a:buClr>
                <a:srgbClr val="253356"/>
              </a:buClr>
              <a:buSzPts val="2200"/>
            </a:pPr>
            <a:r>
              <a:rPr lang="fr-FR" sz="2200" dirty="0">
                <a:solidFill>
                  <a:srgbClr val="253356"/>
                </a:solidFill>
              </a:rPr>
              <a:t>Si approximative, éliminer les points identifiés par au moins une paire.</a:t>
            </a:r>
            <a:endParaRPr sz="2200"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293" name="Google Shape;293;g35094c70174_0_77"/>
          <p:cNvSpPr txBox="1">
            <a:spLocks noGrp="1"/>
          </p:cNvSpPr>
          <p:nvPr>
            <p:ph type="sldNum" idx="12"/>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12</a:t>
            </a:r>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g35094c70174_0_96"/>
          <p:cNvSpPr txBox="1">
            <a:spLocks noGrp="1"/>
          </p:cNvSpPr>
          <p:nvPr>
            <p:ph type="title"/>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Détection d’anomalie - LSTM-</a:t>
            </a:r>
            <a:r>
              <a:rPr lang="fr-FR" dirty="0" err="1">
                <a:solidFill>
                  <a:srgbClr val="143F6A"/>
                </a:solidFill>
              </a:rPr>
              <a:t>autoencoder</a:t>
            </a:r>
            <a:endParaRPr dirty="0">
              <a:solidFill>
                <a:srgbClr val="143F6A"/>
              </a:solidFill>
            </a:endParaRPr>
          </a:p>
        </p:txBody>
      </p:sp>
      <p:sp>
        <p:nvSpPr>
          <p:cNvPr id="311" name="Google Shape;311;g35094c70174_0_96"/>
          <p:cNvSpPr txBox="1">
            <a:spLocks noGrp="1"/>
          </p:cNvSpPr>
          <p:nvPr>
            <p:ph type="body" idx="1"/>
          </p:nvPr>
        </p:nvSpPr>
        <p:spPr>
          <a:xfrm>
            <a:off x="296650" y="1246025"/>
            <a:ext cx="4999800" cy="546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00"/>
              </a:spcBef>
              <a:spcAft>
                <a:spcPts val="0"/>
              </a:spcAft>
              <a:buSzPts val="2400"/>
              <a:buNone/>
            </a:pPr>
            <a:r>
              <a:rPr lang="fr-FR" sz="2200" b="1" dirty="0">
                <a:solidFill>
                  <a:srgbClr val="253356"/>
                </a:solidFill>
              </a:rPr>
              <a:t>Objectif</a:t>
            </a:r>
            <a:r>
              <a:rPr lang="fr-FR" sz="2200" dirty="0">
                <a:solidFill>
                  <a:srgbClr val="253356"/>
                </a:solidFill>
              </a:rPr>
              <a:t> : éliminer les anomalies collectives ou contextuelles au pas horaire</a:t>
            </a:r>
            <a:endParaRPr sz="2200" dirty="0">
              <a:solidFill>
                <a:srgbClr val="253356"/>
              </a:solidFill>
            </a:endParaRPr>
          </a:p>
          <a:p>
            <a:pPr marL="0" lvl="0" indent="0" algn="l" rtl="0">
              <a:lnSpc>
                <a:spcPct val="100000"/>
              </a:lnSpc>
              <a:spcBef>
                <a:spcPts val="500"/>
              </a:spcBef>
              <a:spcAft>
                <a:spcPts val="0"/>
              </a:spcAft>
              <a:buSzPts val="2400"/>
              <a:buNone/>
            </a:pPr>
            <a:endParaRPr sz="2200" dirty="0">
              <a:solidFill>
                <a:srgbClr val="253356"/>
              </a:solidFill>
            </a:endParaRPr>
          </a:p>
          <a:p>
            <a:pPr marL="0" lvl="0" indent="0" algn="l" rtl="0">
              <a:lnSpc>
                <a:spcPct val="100000"/>
              </a:lnSpc>
              <a:spcBef>
                <a:spcPts val="500"/>
              </a:spcBef>
              <a:spcAft>
                <a:spcPts val="0"/>
              </a:spcAft>
              <a:buSzPts val="2400"/>
              <a:buNone/>
            </a:pPr>
            <a:r>
              <a:rPr lang="fr-FR" sz="2200" b="1" dirty="0">
                <a:solidFill>
                  <a:srgbClr val="253356"/>
                </a:solidFill>
              </a:rPr>
              <a:t>Approche</a:t>
            </a:r>
            <a:r>
              <a:rPr lang="fr-FR" sz="2200" dirty="0">
                <a:solidFill>
                  <a:srgbClr val="253356"/>
                </a:solidFill>
              </a:rPr>
              <a:t> :</a:t>
            </a:r>
            <a:endParaRPr sz="2200" dirty="0">
              <a:solidFill>
                <a:srgbClr val="253356"/>
              </a:solidFill>
            </a:endParaRPr>
          </a:p>
          <a:p>
            <a:pPr marL="457200" lvl="0" indent="-368300" algn="l" rtl="0">
              <a:lnSpc>
                <a:spcPct val="100000"/>
              </a:lnSpc>
              <a:spcBef>
                <a:spcPts val="500"/>
              </a:spcBef>
              <a:spcAft>
                <a:spcPts val="0"/>
              </a:spcAft>
              <a:buClr>
                <a:srgbClr val="253356"/>
              </a:buClr>
              <a:buSzPts val="2200"/>
              <a:buAutoNum type="arabicPeriod"/>
            </a:pPr>
            <a:r>
              <a:rPr lang="fr-FR" sz="2200" dirty="0">
                <a:solidFill>
                  <a:srgbClr val="253356"/>
                </a:solidFill>
              </a:rPr>
              <a:t>reconstruire les </a:t>
            </a:r>
            <a:r>
              <a:rPr lang="fr-FR" sz="2200" dirty="0" err="1">
                <a:solidFill>
                  <a:srgbClr val="253356"/>
                </a:solidFill>
              </a:rPr>
              <a:t>CdC</a:t>
            </a:r>
            <a:r>
              <a:rPr lang="fr-FR" sz="2200" dirty="0">
                <a:solidFill>
                  <a:srgbClr val="253356"/>
                </a:solidFill>
              </a:rPr>
              <a:t> journalières à partir de </a:t>
            </a:r>
            <a:r>
              <a:rPr lang="fr-FR" sz="2200" dirty="0" err="1">
                <a:solidFill>
                  <a:srgbClr val="253356"/>
                </a:solidFill>
              </a:rPr>
              <a:t>CdC</a:t>
            </a:r>
            <a:r>
              <a:rPr lang="fr-FR" sz="2200" dirty="0">
                <a:solidFill>
                  <a:srgbClr val="253356"/>
                </a:solidFill>
              </a:rPr>
              <a:t> (elle-même) et les données contextuelles (</a:t>
            </a:r>
            <a:r>
              <a:rPr lang="fr-FR" sz="2200" dirty="0" err="1">
                <a:solidFill>
                  <a:srgbClr val="253356"/>
                </a:solidFill>
              </a:rPr>
              <a:t>T_air</a:t>
            </a:r>
            <a:r>
              <a:rPr lang="fr-FR" sz="2200" dirty="0">
                <a:solidFill>
                  <a:srgbClr val="253356"/>
                </a:solidFill>
              </a:rPr>
              <a:t>, GHI, etc.)</a:t>
            </a:r>
            <a:endParaRPr sz="2200" dirty="0">
              <a:solidFill>
                <a:srgbClr val="253356"/>
              </a:solidFill>
            </a:endParaRPr>
          </a:p>
          <a:p>
            <a:pPr marL="457200" lvl="0" indent="-368300" algn="l" rtl="0">
              <a:lnSpc>
                <a:spcPct val="100000"/>
              </a:lnSpc>
              <a:spcBef>
                <a:spcPts val="0"/>
              </a:spcBef>
              <a:spcAft>
                <a:spcPts val="0"/>
              </a:spcAft>
              <a:buClr>
                <a:srgbClr val="253356"/>
              </a:buClr>
              <a:buSzPts val="2200"/>
              <a:buAutoNum type="arabicPeriod"/>
            </a:pPr>
            <a:r>
              <a:rPr lang="fr-FR" sz="2200" dirty="0">
                <a:solidFill>
                  <a:srgbClr val="253356"/>
                </a:solidFill>
              </a:rPr>
              <a:t>éliminer les périodes où l'erreur de reconstruction est trop élevée.</a:t>
            </a:r>
            <a:endParaRPr sz="2200" dirty="0">
              <a:solidFill>
                <a:srgbClr val="253356"/>
              </a:solidFill>
            </a:endParaRPr>
          </a:p>
          <a:p>
            <a:pPr marL="0" lvl="0" indent="0" algn="l" rtl="0">
              <a:lnSpc>
                <a:spcPct val="100000"/>
              </a:lnSpc>
              <a:spcBef>
                <a:spcPts val="500"/>
              </a:spcBef>
              <a:spcAft>
                <a:spcPts val="0"/>
              </a:spcAft>
              <a:buClr>
                <a:schemeClr val="dk1"/>
              </a:buClr>
              <a:buSzPts val="1100"/>
              <a:buFont typeface="Arial"/>
              <a:buNone/>
            </a:pPr>
            <a:endParaRPr sz="2000" dirty="0">
              <a:solidFill>
                <a:srgbClr val="253356"/>
              </a:solidFill>
            </a:endParaRP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312" name="Google Shape;312;g35094c70174_0_96"/>
          <p:cNvSpPr txBox="1">
            <a:spLocks noGrp="1"/>
          </p:cNvSpPr>
          <p:nvPr>
            <p:ph type="sldNum" idx="12"/>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13</a:t>
            </a:r>
            <a:endParaRPr/>
          </a:p>
        </p:txBody>
      </p:sp>
      <p:pic>
        <p:nvPicPr>
          <p:cNvPr id="313" name="Google Shape;313;g35094c70174_0_96"/>
          <p:cNvPicPr preferRelativeResize="0"/>
          <p:nvPr/>
        </p:nvPicPr>
        <p:blipFill>
          <a:blip r:embed="rId4">
            <a:alphaModFix/>
          </a:blip>
          <a:stretch>
            <a:fillRect/>
          </a:stretch>
        </p:blipFill>
        <p:spPr>
          <a:xfrm>
            <a:off x="5296525" y="1198985"/>
            <a:ext cx="6448425" cy="4819650"/>
          </a:xfrm>
          <a:prstGeom prst="rect">
            <a:avLst/>
          </a:prstGeom>
          <a:noFill/>
          <a:ln>
            <a:noFill/>
          </a:ln>
        </p:spPr>
      </p:pic>
      <p:sp>
        <p:nvSpPr>
          <p:cNvPr id="2" name="Google Shape;258;g35d9814ead8_0_9">
            <a:extLst>
              <a:ext uri="{FF2B5EF4-FFF2-40B4-BE49-F238E27FC236}">
                <a16:creationId xmlns:a16="http://schemas.microsoft.com/office/drawing/2014/main" id="{0228470B-723A-E26D-D948-FD83FB77C374}"/>
              </a:ext>
            </a:extLst>
          </p:cNvPr>
          <p:cNvSpPr txBox="1"/>
          <p:nvPr/>
        </p:nvSpPr>
        <p:spPr>
          <a:xfrm>
            <a:off x="6113087" y="5659015"/>
            <a:ext cx="4815300" cy="371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fr-FR" sz="1600" b="0" i="0" u="none" strike="noStrike" cap="none" dirty="0">
                <a:solidFill>
                  <a:srgbClr val="000000"/>
                </a:solidFill>
                <a:latin typeface="Calibri" panose="020F0502020204030204" pitchFamily="34" charset="0"/>
                <a:cs typeface="Calibri" panose="020F0502020204030204" pitchFamily="34" charset="0"/>
                <a:sym typeface="Arial"/>
              </a:rPr>
              <a:t>Figure 7 : Illustration du principe d’</a:t>
            </a:r>
            <a:r>
              <a:rPr lang="fr-FR" sz="1600" b="0" i="0" u="none" strike="noStrike" cap="none" dirty="0" err="1">
                <a:solidFill>
                  <a:srgbClr val="000000"/>
                </a:solidFill>
                <a:latin typeface="Calibri" panose="020F0502020204030204" pitchFamily="34" charset="0"/>
                <a:cs typeface="Calibri" panose="020F0502020204030204" pitchFamily="34" charset="0"/>
                <a:sym typeface="Arial"/>
              </a:rPr>
              <a:t>autoencodeur</a:t>
            </a:r>
            <a:r>
              <a:rPr lang="fr-FR" sz="1600" b="0" i="0" u="none" strike="noStrike" cap="none" dirty="0">
                <a:solidFill>
                  <a:srgbClr val="000000"/>
                </a:solidFill>
                <a:latin typeface="Calibri" panose="020F0502020204030204" pitchFamily="34" charset="0"/>
                <a:cs typeface="Calibri" panose="020F0502020204030204" pitchFamily="34" charset="0"/>
                <a:sym typeface="Arial"/>
              </a:rPr>
              <a:t>.</a:t>
            </a:r>
            <a:endParaRPr sz="1600" b="0" i="0" u="none" strike="noStrike" cap="none" dirty="0">
              <a:solidFill>
                <a:srgbClr val="000000"/>
              </a:solidFill>
              <a:latin typeface="Calibri" panose="020F0502020204030204" pitchFamily="34" charset="0"/>
              <a:cs typeface="Calibri" panose="020F0502020204030204" pitchFamily="34" charset="0"/>
              <a:sym typeface="Arial"/>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DEFC92-2F12-F887-4673-FEAD0BD49B16}"/>
              </a:ext>
            </a:extLst>
          </p:cNvPr>
          <p:cNvSpPr>
            <a:spLocks noGrp="1"/>
          </p:cNvSpPr>
          <p:nvPr>
            <p:ph type="title"/>
          </p:nvPr>
        </p:nvSpPr>
        <p:spPr/>
        <p:txBody>
          <a:bodyPr/>
          <a:lstStyle/>
          <a:p>
            <a:r>
              <a:rPr lang="en-GB" dirty="0" err="1"/>
              <a:t>Détails</a:t>
            </a:r>
            <a:r>
              <a:rPr lang="en-GB" dirty="0"/>
              <a:t> techniques</a:t>
            </a:r>
          </a:p>
        </p:txBody>
      </p:sp>
      <p:sp>
        <p:nvSpPr>
          <p:cNvPr id="3" name="Espace réservé du numéro de diapositive 2">
            <a:extLst>
              <a:ext uri="{FF2B5EF4-FFF2-40B4-BE49-F238E27FC236}">
                <a16:creationId xmlns:a16="http://schemas.microsoft.com/office/drawing/2014/main" id="{94C03EE8-D7E8-198D-8343-AE6452CCCBFB}"/>
              </a:ext>
            </a:extLst>
          </p:cNvPr>
          <p:cNvSpPr>
            <a:spLocks noGrp="1"/>
          </p:cNvSpPr>
          <p:nvPr>
            <p:ph type="sldNum" idx="12"/>
          </p:nvPr>
        </p:nvSpPr>
        <p:spPr/>
        <p:txBody>
          <a:bodyPr/>
          <a:lstStyle/>
          <a:p>
            <a:pPr marL="0" lvl="0" indent="0" algn="r" rtl="0">
              <a:spcBef>
                <a:spcPts val="0"/>
              </a:spcBef>
              <a:spcAft>
                <a:spcPts val="0"/>
              </a:spcAft>
              <a:buNone/>
            </a:pPr>
            <a:r>
              <a:rPr lang="fr-FR"/>
              <a:t>14</a:t>
            </a:r>
          </a:p>
        </p:txBody>
      </p:sp>
      <p:sp>
        <p:nvSpPr>
          <p:cNvPr id="4" name="Espace réservé du texte 3">
            <a:extLst>
              <a:ext uri="{FF2B5EF4-FFF2-40B4-BE49-F238E27FC236}">
                <a16:creationId xmlns:a16="http://schemas.microsoft.com/office/drawing/2014/main" id="{935090EE-9F2F-1BC3-D308-31FCA64A82C4}"/>
              </a:ext>
            </a:extLst>
          </p:cNvPr>
          <p:cNvSpPr>
            <a:spLocks noGrp="1"/>
          </p:cNvSpPr>
          <p:nvPr>
            <p:ph type="body" idx="1"/>
          </p:nvPr>
        </p:nvSpPr>
        <p:spPr/>
        <p:txBody>
          <a:bodyPr/>
          <a:lstStyle/>
          <a:p>
            <a:r>
              <a:rPr lang="en-GB" dirty="0" err="1"/>
              <a:t>Outil</a:t>
            </a:r>
            <a:r>
              <a:rPr lang="en-GB" dirty="0"/>
              <a:t> interne Efficacity : </a:t>
            </a:r>
            <a:r>
              <a:rPr lang="en-GB" dirty="0">
                <a:hlinkClick r:id="rId3"/>
              </a:rPr>
              <a:t>Time Series Data Cleaner</a:t>
            </a:r>
            <a:r>
              <a:rPr lang="en-GB" dirty="0"/>
              <a:t> </a:t>
            </a:r>
          </a:p>
          <a:p>
            <a:r>
              <a:rPr lang="en-GB" dirty="0"/>
              <a:t>Contact : Chunxiao WANG (</a:t>
            </a:r>
            <a:r>
              <a:rPr lang="en-GB" dirty="0">
                <a:hlinkClick r:id="rId4"/>
              </a:rPr>
              <a:t>c.wang@efficacity.com</a:t>
            </a:r>
            <a:r>
              <a:rPr lang="en-GB" dirty="0"/>
              <a:t>)</a:t>
            </a:r>
          </a:p>
          <a:p>
            <a:r>
              <a:rPr lang="en-GB" dirty="0" err="1"/>
              <a:t>Références</a:t>
            </a:r>
            <a:r>
              <a:rPr lang="en-GB" dirty="0"/>
              <a:t> </a:t>
            </a:r>
            <a:r>
              <a:rPr lang="en-GB" dirty="0" err="1"/>
              <a:t>méthodologiques</a:t>
            </a:r>
            <a:r>
              <a:rPr lang="en-GB" dirty="0"/>
              <a:t> : </a:t>
            </a:r>
          </a:p>
          <a:p>
            <a:pPr marL="990600" lvl="1" indent="-457200">
              <a:buFont typeface="+mj-lt"/>
              <a:buAutoNum type="arabicPeriod"/>
            </a:pPr>
            <a:r>
              <a:rPr lang="en-US" dirty="0"/>
              <a:t>H. Gadd, S. Werner, </a:t>
            </a:r>
            <a:r>
              <a:rPr lang="en-US" dirty="0">
                <a:hlinkClick r:id="rId5"/>
              </a:rPr>
              <a:t>Achieving low return temperatures from district heating substations</a:t>
            </a:r>
            <a:r>
              <a:rPr lang="en-US" dirty="0"/>
              <a:t>, Applied Energy, Volume 136, 2014.</a:t>
            </a:r>
          </a:p>
          <a:p>
            <a:pPr marL="990600" lvl="1" indent="-457200">
              <a:buFont typeface="+mj-lt"/>
              <a:buAutoNum type="arabicPeriod"/>
            </a:pPr>
            <a:r>
              <a:rPr lang="en-GB" dirty="0"/>
              <a:t>C. Fan, F. Xiao, Y. Zhao, J. Wang, </a:t>
            </a:r>
            <a:r>
              <a:rPr lang="en-GB" dirty="0">
                <a:hlinkClick r:id="rId6"/>
              </a:rPr>
              <a:t>Analytical investigation of autoencoder-based methods for unsupervised anomaly detection in building energy data</a:t>
            </a:r>
            <a:r>
              <a:rPr lang="en-GB" dirty="0"/>
              <a:t>, Applied Energy, Volume 211, 2018.</a:t>
            </a:r>
          </a:p>
        </p:txBody>
      </p:sp>
    </p:spTree>
    <p:custDataLst>
      <p:tags r:id="rId1"/>
    </p:custDataLst>
    <p:extLst>
      <p:ext uri="{BB962C8B-B14F-4D97-AF65-F5344CB8AC3E}">
        <p14:creationId xmlns:p14="http://schemas.microsoft.com/office/powerpoint/2010/main" val="997212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15fc2b25ae_0_0"/>
          <p:cNvSpPr txBox="1">
            <a:spLocks noGrp="1"/>
          </p:cNvSpPr>
          <p:nvPr>
            <p:ph type="title"/>
          </p:nvPr>
        </p:nvSpPr>
        <p:spPr>
          <a:xfrm>
            <a:off x="1899700" y="2978600"/>
            <a:ext cx="10090500" cy="1326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Disponibilité de données</a:t>
            </a:r>
            <a:endParaRPr dirty="0">
              <a:solidFill>
                <a:srgbClr val="143F6A"/>
              </a:solidFill>
            </a:endParaRPr>
          </a:p>
        </p:txBody>
      </p:sp>
      <p:sp>
        <p:nvSpPr>
          <p:cNvPr id="186" name="Google Shape;186;g315fc2b25ae_0_0"/>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r>
              <a:rPr lang="fr-FR"/>
              <a:t>15</a:t>
            </a:r>
            <a:endParaRPr/>
          </a:p>
        </p:txBody>
      </p:sp>
    </p:spTree>
    <p:custDataLst>
      <p:tags r:id="rId1"/>
    </p:custDataLst>
    <p:extLst>
      <p:ext uri="{BB962C8B-B14F-4D97-AF65-F5344CB8AC3E}">
        <p14:creationId xmlns:p14="http://schemas.microsoft.com/office/powerpoint/2010/main" val="3184856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35022506002_0_0"/>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Problématique &amp; hypothèse</a:t>
            </a:r>
            <a:endParaRPr dirty="0">
              <a:solidFill>
                <a:srgbClr val="143F6A"/>
              </a:solidFill>
            </a:endParaRPr>
          </a:p>
        </p:txBody>
      </p:sp>
      <p:sp>
        <p:nvSpPr>
          <p:cNvPr id="170" name="Google Shape;170;g35022506002_0_0"/>
          <p:cNvSpPr txBox="1">
            <a:spLocks noGrp="1"/>
          </p:cNvSpPr>
          <p:nvPr>
            <p:ph type="body" idx="1"/>
            <p:custDataLst>
              <p:tags r:id="rId3"/>
            </p:custDataLst>
          </p:nvPr>
        </p:nvSpPr>
        <p:spPr>
          <a:xfrm>
            <a:off x="296650" y="1246025"/>
            <a:ext cx="11599500" cy="5460900"/>
          </a:xfrm>
          <a:prstGeom prst="rect">
            <a:avLst/>
          </a:prstGeom>
          <a:noFill/>
          <a:ln>
            <a:noFill/>
          </a:ln>
        </p:spPr>
        <p:txBody>
          <a:bodyPr spcFirstLastPara="1" wrap="square" lIns="91425" tIns="45700" rIns="91425" bIns="45700" anchor="t" anchorCtr="0">
            <a:noAutofit/>
          </a:bodyPr>
          <a:lstStyle/>
          <a:p>
            <a:pPr marL="76200" indent="0">
              <a:buNone/>
            </a:pPr>
            <a:r>
              <a:rPr lang="fr-FR" b="1" dirty="0">
                <a:solidFill>
                  <a:srgbClr val="314462"/>
                </a:solidFill>
              </a:rPr>
              <a:t>Problème identifié : </a:t>
            </a:r>
          </a:p>
          <a:p>
            <a:r>
              <a:rPr lang="fr-FR" sz="2000" dirty="0">
                <a:solidFill>
                  <a:srgbClr val="314462"/>
                </a:solidFill>
              </a:rPr>
              <a:t>Jeu de données horaires incomplètes pour la validation d’UBEM (6-43% de données manquantes)</a:t>
            </a:r>
          </a:p>
          <a:p>
            <a:pPr>
              <a:buSzPts val="100"/>
              <a:buFont typeface="Symbol" panose="05050102010706020507" pitchFamily="18" charset="2"/>
              <a:buChar char="Þ"/>
            </a:pPr>
            <a:r>
              <a:rPr lang="fr-FR" sz="2000" dirty="0">
                <a:noFill/>
              </a:rPr>
              <a:t>risque de biais dans la validation du modèle</a:t>
            </a:r>
          </a:p>
          <a:p>
            <a:pPr marL="76200" indent="0">
              <a:buNone/>
            </a:pPr>
            <a:endParaRPr lang="fr-FR" sz="1800" dirty="0">
              <a:solidFill>
                <a:srgbClr val="314462"/>
              </a:solidFill>
            </a:endParaRPr>
          </a:p>
          <a:p>
            <a:pPr marL="76200" indent="0">
              <a:buNone/>
            </a:pPr>
            <a:r>
              <a:rPr lang="fr-FR" b="1" dirty="0">
                <a:solidFill>
                  <a:srgbClr val="314462"/>
                </a:solidFill>
              </a:rPr>
              <a:t>Approche classique : </a:t>
            </a:r>
          </a:p>
          <a:p>
            <a:pPr marL="457200" indent="-457200">
              <a:buFont typeface="Arial" panose="020B0604020202020204" pitchFamily="34" charset="0"/>
              <a:buChar char="•"/>
            </a:pPr>
            <a:r>
              <a:rPr lang="fr-FR" sz="2000" dirty="0">
                <a:solidFill>
                  <a:srgbClr val="314462"/>
                </a:solidFill>
              </a:rPr>
              <a:t>Elimination =&gt; moins d’échantillons de bâtiment =&gt; modèle moins généralisable</a:t>
            </a:r>
          </a:p>
          <a:p>
            <a:pPr marL="457200" indent="-457200">
              <a:buFont typeface="Arial" panose="020B0604020202020204" pitchFamily="34" charset="0"/>
              <a:buChar char="•"/>
            </a:pPr>
            <a:r>
              <a:rPr lang="fr-FR" sz="2000" dirty="0">
                <a:solidFill>
                  <a:srgbClr val="314462"/>
                </a:solidFill>
              </a:rPr>
              <a:t>Interpolation linéaire =&gt; impossible pour les données manquantes continues</a:t>
            </a:r>
          </a:p>
          <a:p>
            <a:pPr marL="0" indent="0">
              <a:buNone/>
            </a:pPr>
            <a:endParaRPr sz="2000" dirty="0">
              <a:solidFill>
                <a:srgbClr val="253356"/>
              </a:solidFill>
            </a:endParaRPr>
          </a:p>
          <a:p>
            <a:pPr marL="76200" indent="0">
              <a:buNone/>
            </a:pPr>
            <a:r>
              <a:rPr lang="fr-FR" b="1" dirty="0">
                <a:solidFill>
                  <a:schemeClr val="bg2"/>
                </a:solidFill>
              </a:rPr>
              <a:t>Hypothèse</a:t>
            </a:r>
            <a:r>
              <a:rPr lang="fr-FR" dirty="0">
                <a:solidFill>
                  <a:schemeClr val="bg2"/>
                </a:solidFill>
              </a:rPr>
              <a:t> proposée: </a:t>
            </a:r>
          </a:p>
          <a:p>
            <a:r>
              <a:rPr lang="fr-FR" sz="2000" dirty="0">
                <a:solidFill>
                  <a:schemeClr val="bg2"/>
                </a:solidFill>
              </a:rPr>
              <a:t>les techniques d’ajustement issues de la statistique d’enquête peuvent compenser l’impact de données manquantes.</a:t>
            </a:r>
          </a:p>
          <a:p>
            <a:r>
              <a:rPr lang="fr-FR" sz="2000" dirty="0">
                <a:solidFill>
                  <a:schemeClr val="bg2"/>
                </a:solidFill>
              </a:rPr>
              <a:t>Analogie : </a:t>
            </a:r>
            <a:r>
              <a:rPr lang="fr-FR" sz="2000" dirty="0">
                <a:solidFill>
                  <a:srgbClr val="FF0000"/>
                </a:solidFill>
              </a:rPr>
              <a:t>données manquantes dans les séries temporelles ≈ non-réponse partielle d’une enquête</a:t>
            </a: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71" name="Google Shape;171;g35022506002_0_0"/>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16</a:t>
            </a:r>
            <a:endParaRPr/>
          </a:p>
        </p:txBody>
      </p:sp>
    </p:spTree>
    <p:custDataLst>
      <p:tags r:id="rId1"/>
    </p:custDataLst>
    <p:extLst>
      <p:ext uri="{BB962C8B-B14F-4D97-AF65-F5344CB8AC3E}">
        <p14:creationId xmlns:p14="http://schemas.microsoft.com/office/powerpoint/2010/main" val="10923014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35022506002_0_0"/>
          <p:cNvSpPr txBox="1">
            <a:spLocks noGrp="1"/>
          </p:cNvSpPr>
          <p:nvPr>
            <p:ph type="title"/>
            <p:custDataLst>
              <p:tags r:id="rId2"/>
            </p:custDataLst>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dirty="0">
                <a:solidFill>
                  <a:srgbClr val="143F6A"/>
                </a:solidFill>
              </a:rPr>
              <a:t>Problématique &amp; hypothèse</a:t>
            </a:r>
            <a:endParaRPr dirty="0">
              <a:solidFill>
                <a:srgbClr val="143F6A"/>
              </a:solidFill>
            </a:endParaRPr>
          </a:p>
        </p:txBody>
      </p:sp>
      <p:sp>
        <p:nvSpPr>
          <p:cNvPr id="170" name="Google Shape;170;g35022506002_0_0"/>
          <p:cNvSpPr txBox="1">
            <a:spLocks noGrp="1"/>
          </p:cNvSpPr>
          <p:nvPr>
            <p:ph type="body" idx="1"/>
            <p:custDataLst>
              <p:tags r:id="rId3"/>
            </p:custDataLst>
          </p:nvPr>
        </p:nvSpPr>
        <p:spPr>
          <a:xfrm>
            <a:off x="296650" y="1246025"/>
            <a:ext cx="11599500" cy="5460900"/>
          </a:xfrm>
          <a:prstGeom prst="rect">
            <a:avLst/>
          </a:prstGeom>
          <a:noFill/>
          <a:ln>
            <a:noFill/>
          </a:ln>
        </p:spPr>
        <p:txBody>
          <a:bodyPr spcFirstLastPara="1" wrap="square" lIns="91425" tIns="45700" rIns="91425" bIns="45700" anchor="t" anchorCtr="0">
            <a:noAutofit/>
          </a:bodyPr>
          <a:lstStyle/>
          <a:p>
            <a:pPr marL="76200" indent="0">
              <a:buNone/>
            </a:pPr>
            <a:r>
              <a:rPr lang="fr-FR" b="1" dirty="0">
                <a:solidFill>
                  <a:srgbClr val="314462"/>
                </a:solidFill>
              </a:rPr>
              <a:t>Problème identifié : </a:t>
            </a:r>
          </a:p>
          <a:p>
            <a:r>
              <a:rPr lang="fr-FR" sz="2000" dirty="0">
                <a:solidFill>
                  <a:srgbClr val="314462"/>
                </a:solidFill>
              </a:rPr>
              <a:t>Jeu de données horaires incomplètes pour la validation d’UBEM (6-43% de données manquantes)</a:t>
            </a:r>
          </a:p>
          <a:p>
            <a:pPr>
              <a:buFont typeface="Symbol" panose="05050102010706020507" pitchFamily="18" charset="2"/>
              <a:buChar char="Þ"/>
            </a:pPr>
            <a:r>
              <a:rPr lang="fr-FR" sz="2000" dirty="0">
                <a:solidFill>
                  <a:schemeClr val="bg2"/>
                </a:solidFill>
              </a:rPr>
              <a:t>risque de biais dans la validation du modèle</a:t>
            </a:r>
          </a:p>
          <a:p>
            <a:pPr marL="76200" indent="0">
              <a:buNone/>
            </a:pPr>
            <a:endParaRPr lang="fr-FR" sz="1800" dirty="0">
              <a:solidFill>
                <a:srgbClr val="314462"/>
              </a:solidFill>
            </a:endParaRPr>
          </a:p>
          <a:p>
            <a:pPr marL="76200" indent="0">
              <a:buNone/>
            </a:pPr>
            <a:r>
              <a:rPr lang="fr-FR" b="1" dirty="0">
                <a:solidFill>
                  <a:srgbClr val="314462"/>
                </a:solidFill>
              </a:rPr>
              <a:t>Approche classique : </a:t>
            </a:r>
          </a:p>
          <a:p>
            <a:pPr marL="457200" indent="-457200">
              <a:buFont typeface="Arial" panose="020B0604020202020204" pitchFamily="34" charset="0"/>
              <a:buChar char="•"/>
            </a:pPr>
            <a:r>
              <a:rPr lang="fr-FR" sz="2000" dirty="0">
                <a:solidFill>
                  <a:srgbClr val="314462"/>
                </a:solidFill>
              </a:rPr>
              <a:t>Elimination =&gt; moins d’échantillons de bâtiment =&gt; modèle moins généralisable</a:t>
            </a:r>
          </a:p>
          <a:p>
            <a:pPr marL="457200" indent="-457200">
              <a:buFont typeface="Arial" panose="020B0604020202020204" pitchFamily="34" charset="0"/>
              <a:buChar char="•"/>
            </a:pPr>
            <a:r>
              <a:rPr lang="fr-FR" sz="2000" dirty="0">
                <a:solidFill>
                  <a:srgbClr val="314462"/>
                </a:solidFill>
              </a:rPr>
              <a:t>Interpolation linéaire =&gt; impossible pour les données manquantes continues</a:t>
            </a:r>
          </a:p>
          <a:p>
            <a:pPr marL="0" indent="0">
              <a:buNone/>
            </a:pPr>
            <a:endParaRPr sz="2000" dirty="0">
              <a:solidFill>
                <a:srgbClr val="253356"/>
              </a:solidFill>
            </a:endParaRPr>
          </a:p>
          <a:p>
            <a:pPr marL="76200" indent="0">
              <a:buNone/>
            </a:pPr>
            <a:r>
              <a:rPr lang="fr-FR" b="1" dirty="0">
                <a:solidFill>
                  <a:schemeClr val="bg2"/>
                </a:solidFill>
              </a:rPr>
              <a:t>Hypothèse</a:t>
            </a:r>
            <a:r>
              <a:rPr lang="fr-FR" dirty="0">
                <a:solidFill>
                  <a:schemeClr val="bg2"/>
                </a:solidFill>
              </a:rPr>
              <a:t> proposée: </a:t>
            </a:r>
          </a:p>
          <a:p>
            <a:r>
              <a:rPr lang="fr-FR" sz="2000" dirty="0">
                <a:solidFill>
                  <a:schemeClr val="bg2"/>
                </a:solidFill>
              </a:rPr>
              <a:t>les techniques d’ajustement issues de la statistique d’enquête peuvent compenser l’impact de données manquantes.</a:t>
            </a:r>
          </a:p>
          <a:p>
            <a:r>
              <a:rPr lang="fr-FR" sz="2000" dirty="0">
                <a:solidFill>
                  <a:schemeClr val="bg2"/>
                </a:solidFill>
              </a:rPr>
              <a:t>Analogie : </a:t>
            </a:r>
            <a:r>
              <a:rPr lang="fr-FR" sz="2000" dirty="0">
                <a:solidFill>
                  <a:srgbClr val="FF0000"/>
                </a:solidFill>
              </a:rPr>
              <a:t>données manquantes dans les séries temporelles ≈ non-réponse partielle d’une enquête</a:t>
            </a:r>
          </a:p>
          <a:p>
            <a:pPr marL="0" lvl="0" indent="0" algn="l" rtl="0">
              <a:lnSpc>
                <a:spcPct val="100000"/>
              </a:lnSpc>
              <a:spcBef>
                <a:spcPts val="500"/>
              </a:spcBef>
              <a:spcAft>
                <a:spcPts val="0"/>
              </a:spcAft>
              <a:buSzPts val="2400"/>
              <a:buNone/>
            </a:pPr>
            <a:endParaRPr dirty="0">
              <a:solidFill>
                <a:srgbClr val="253356"/>
              </a:solidFill>
            </a:endParaRPr>
          </a:p>
          <a:p>
            <a:pPr marL="914400" lvl="0" indent="0" algn="l" rtl="0">
              <a:lnSpc>
                <a:spcPct val="100000"/>
              </a:lnSpc>
              <a:spcBef>
                <a:spcPts val="500"/>
              </a:spcBef>
              <a:spcAft>
                <a:spcPts val="0"/>
              </a:spcAft>
              <a:buSzPts val="2400"/>
              <a:buNone/>
            </a:pPr>
            <a:endParaRPr dirty="0">
              <a:solidFill>
                <a:srgbClr val="253356"/>
              </a:solidFill>
            </a:endParaRPr>
          </a:p>
        </p:txBody>
      </p:sp>
      <p:sp>
        <p:nvSpPr>
          <p:cNvPr id="171" name="Google Shape;171;g35022506002_0_0"/>
          <p:cNvSpPr txBox="1">
            <a:spLocks noGrp="1"/>
          </p:cNvSpPr>
          <p:nvPr>
            <p:ph type="sldNum" idx="12"/>
            <p:custDataLst>
              <p:tags r:id="rId4"/>
            </p:custDataLst>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r>
              <a:rPr lang="fr-FR"/>
              <a:t>16</a:t>
            </a:r>
            <a:endParaRPr/>
          </a:p>
        </p:txBody>
      </p:sp>
    </p:spTree>
    <p:custDataLst>
      <p:tags r:id="rId1"/>
    </p:custDataLst>
    <p:extLst>
      <p:ext uri="{BB962C8B-B14F-4D97-AF65-F5344CB8AC3E}">
        <p14:creationId xmlns:p14="http://schemas.microsoft.com/office/powerpoint/2010/main" val="4169402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040819-BE3C-97BD-B028-2396DBEFFC98}"/>
              </a:ext>
            </a:extLst>
          </p:cNvPr>
          <p:cNvSpPr>
            <a:spLocks noGrp="1"/>
          </p:cNvSpPr>
          <p:nvPr>
            <p:ph type="title"/>
            <p:custDataLst>
              <p:tags r:id="rId2"/>
            </p:custDataLst>
          </p:nvPr>
        </p:nvSpPr>
        <p:spPr/>
        <p:txBody>
          <a:bodyPr/>
          <a:lstStyle/>
          <a:p>
            <a:r>
              <a:rPr lang="en-GB" dirty="0" err="1"/>
              <a:t>Méthodes</a:t>
            </a:r>
            <a:r>
              <a:rPr lang="en-GB" dirty="0"/>
              <a:t> </a:t>
            </a:r>
            <a:r>
              <a:rPr lang="en-GB" dirty="0" err="1"/>
              <a:t>d’ajustement</a:t>
            </a:r>
            <a:r>
              <a:rPr lang="en-GB" dirty="0"/>
              <a:t> de </a:t>
            </a:r>
            <a:r>
              <a:rPr lang="en-GB" dirty="0" err="1"/>
              <a:t>biais</a:t>
            </a:r>
            <a:endParaRPr lang="en-GB" dirty="0"/>
          </a:p>
        </p:txBody>
      </p:sp>
      <p:sp>
        <p:nvSpPr>
          <p:cNvPr id="3" name="Espace réservé du numéro de diapositive 2">
            <a:extLst>
              <a:ext uri="{FF2B5EF4-FFF2-40B4-BE49-F238E27FC236}">
                <a16:creationId xmlns:a16="http://schemas.microsoft.com/office/drawing/2014/main" id="{518773A1-5579-8E4D-AA25-044100F13021}"/>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17</a:t>
            </a:r>
          </a:p>
        </p:txBody>
      </p:sp>
      <p:sp>
        <p:nvSpPr>
          <p:cNvPr id="4" name="Espace réservé du texte 3">
            <a:extLst>
              <a:ext uri="{FF2B5EF4-FFF2-40B4-BE49-F238E27FC236}">
                <a16:creationId xmlns:a16="http://schemas.microsoft.com/office/drawing/2014/main" id="{19FD1E22-6B89-AF18-CA80-DC4E72EB6ED2}"/>
              </a:ext>
            </a:extLst>
          </p:cNvPr>
          <p:cNvSpPr>
            <a:spLocks noGrp="1"/>
          </p:cNvSpPr>
          <p:nvPr>
            <p:ph type="body" idx="1"/>
            <p:custDataLst>
              <p:tags r:id="rId4"/>
            </p:custDataLst>
          </p:nvPr>
        </p:nvSpPr>
        <p:spPr>
          <a:xfrm>
            <a:off x="296658" y="1222375"/>
            <a:ext cx="8445560" cy="5461000"/>
          </a:xfrm>
        </p:spPr>
        <p:txBody>
          <a:bodyPr/>
          <a:lstStyle/>
          <a:p>
            <a:pPr marL="76200" indent="0">
              <a:buNone/>
            </a:pPr>
            <a:r>
              <a:rPr lang="fr-FR" b="1" dirty="0">
                <a:solidFill>
                  <a:srgbClr val="FF0000"/>
                </a:solidFill>
              </a:rPr>
              <a:t>Pondération</a:t>
            </a:r>
            <a:r>
              <a:rPr lang="en-GB" sz="2400" b="1" dirty="0">
                <a:solidFill>
                  <a:srgbClr val="FF0000"/>
                </a:solidFill>
              </a:rPr>
              <a:t> </a:t>
            </a:r>
            <a:r>
              <a:rPr lang="en-GB" sz="2400" b="1" dirty="0">
                <a:solidFill>
                  <a:srgbClr val="314462"/>
                </a:solidFill>
              </a:rPr>
              <a:t>=&gt; </a:t>
            </a:r>
            <a:r>
              <a:rPr lang="en-GB" sz="2400" b="1" dirty="0" err="1">
                <a:solidFill>
                  <a:srgbClr val="314462"/>
                </a:solidFill>
              </a:rPr>
              <a:t>erreur</a:t>
            </a:r>
            <a:r>
              <a:rPr lang="en-GB" sz="2400" b="1" dirty="0">
                <a:solidFill>
                  <a:srgbClr val="314462"/>
                </a:solidFill>
              </a:rPr>
              <a:t> de validation </a:t>
            </a:r>
            <a:r>
              <a:rPr lang="en-GB" sz="2400" b="1" dirty="0" err="1">
                <a:solidFill>
                  <a:srgbClr val="314462"/>
                </a:solidFill>
              </a:rPr>
              <a:t>ajusté</a:t>
            </a:r>
            <a:endParaRPr lang="en-GB" sz="2400" b="1" dirty="0">
              <a:solidFill>
                <a:srgbClr val="314462"/>
              </a:solidFill>
            </a:endParaRPr>
          </a:p>
          <a:p>
            <a:pPr marL="342900" indent="-342900"/>
            <a:r>
              <a:rPr lang="en-GB" sz="2400" dirty="0">
                <a:solidFill>
                  <a:srgbClr val="002060"/>
                </a:solidFill>
              </a:rPr>
              <a:t>Cell weighting</a:t>
            </a:r>
          </a:p>
          <a:p>
            <a:pPr marL="342900" indent="-342900"/>
            <a:r>
              <a:rPr lang="en-GB" sz="2400" dirty="0">
                <a:solidFill>
                  <a:srgbClr val="002060"/>
                </a:solidFill>
              </a:rPr>
              <a:t>Raking weighting</a:t>
            </a:r>
          </a:p>
          <a:p>
            <a:endParaRPr lang="en-GB" sz="2400" dirty="0">
              <a:solidFill>
                <a:srgbClr val="314462"/>
              </a:solidFill>
            </a:endParaRPr>
          </a:p>
          <a:p>
            <a:pPr marL="76200" indent="0">
              <a:buNone/>
            </a:pPr>
            <a:r>
              <a:rPr lang="en-GB" sz="2400" b="1" dirty="0">
                <a:solidFill>
                  <a:srgbClr val="0070C0"/>
                </a:solidFill>
              </a:rPr>
              <a:t>Imputation</a:t>
            </a:r>
            <a:r>
              <a:rPr lang="en-GB" sz="2400" b="1" dirty="0">
                <a:solidFill>
                  <a:srgbClr val="314462"/>
                </a:solidFill>
              </a:rPr>
              <a:t> =&gt; données </a:t>
            </a:r>
            <a:r>
              <a:rPr lang="en-GB" sz="2400" b="1" dirty="0" err="1">
                <a:solidFill>
                  <a:srgbClr val="314462"/>
                </a:solidFill>
              </a:rPr>
              <a:t>complétées</a:t>
            </a:r>
            <a:endParaRPr lang="en-GB" sz="2400" b="1" dirty="0">
              <a:solidFill>
                <a:srgbClr val="314462"/>
              </a:solidFill>
            </a:endParaRPr>
          </a:p>
          <a:p>
            <a:pPr marL="342900" indent="-342900"/>
            <a:r>
              <a:rPr lang="en-GB" sz="2400" dirty="0">
                <a:solidFill>
                  <a:srgbClr val="314462"/>
                </a:solidFill>
              </a:rPr>
              <a:t>Imputation </a:t>
            </a:r>
            <a:r>
              <a:rPr lang="en-GB" sz="2400" dirty="0" err="1">
                <a:solidFill>
                  <a:srgbClr val="314462"/>
                </a:solidFill>
              </a:rPr>
              <a:t>multivariée</a:t>
            </a:r>
            <a:endParaRPr lang="en-GB" sz="2400" dirty="0">
              <a:solidFill>
                <a:srgbClr val="314462"/>
              </a:solidFill>
            </a:endParaRPr>
          </a:p>
        </p:txBody>
      </p:sp>
      <p:sp>
        <p:nvSpPr>
          <p:cNvPr id="8" name="Slide Number Placeholder 4">
            <a:extLst>
              <a:ext uri="{FF2B5EF4-FFF2-40B4-BE49-F238E27FC236}">
                <a16:creationId xmlns:a16="http://schemas.microsoft.com/office/drawing/2014/main" id="{062C29ED-E7E3-E17B-88C7-6BB4D2096850}"/>
              </a:ext>
            </a:extLst>
          </p:cNvPr>
          <p:cNvSpPr txBox="1">
            <a:spLocks/>
          </p:cNvSpPr>
          <p:nvPr>
            <p:custDataLst>
              <p:tags r:id="rId5"/>
            </p:custDataLst>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DC0E79ED-1749-40A6-AEBC-40F147B49735}" type="slidenum">
              <a:rPr lang="en-GB" smtClean="0"/>
              <a:pPr/>
              <a:t>27</a:t>
            </a:fld>
            <a:endParaRPr lang="en-GB" dirty="0"/>
          </a:p>
        </p:txBody>
      </p:sp>
      <p:sp>
        <p:nvSpPr>
          <p:cNvPr id="9" name="Title 1">
            <a:extLst>
              <a:ext uri="{FF2B5EF4-FFF2-40B4-BE49-F238E27FC236}">
                <a16:creationId xmlns:a16="http://schemas.microsoft.com/office/drawing/2014/main" id="{9D6EC806-6D54-7CE0-045E-105CD2A895C5}"/>
              </a:ext>
            </a:extLst>
          </p:cNvPr>
          <p:cNvSpPr txBox="1">
            <a:spLocks/>
          </p:cNvSpPr>
          <p:nvPr>
            <p:custDataLst>
              <p:tags r:id="rId6"/>
            </p:custDataLst>
          </p:nvPr>
        </p:nvSpPr>
        <p:spPr>
          <a:xfrm>
            <a:off x="167640" y="1828799"/>
            <a:ext cx="8808720" cy="477132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2800" dirty="0">
              <a:solidFill>
                <a:srgbClr val="314462"/>
              </a:solidFill>
            </a:endParaRPr>
          </a:p>
        </p:txBody>
      </p:sp>
      <p:cxnSp>
        <p:nvCxnSpPr>
          <p:cNvPr id="10" name="Straight Connector 10">
            <a:extLst>
              <a:ext uri="{FF2B5EF4-FFF2-40B4-BE49-F238E27FC236}">
                <a16:creationId xmlns:a16="http://schemas.microsoft.com/office/drawing/2014/main" id="{549248E7-BA86-6AE4-8B22-53EE90E15601}"/>
              </a:ext>
            </a:extLst>
          </p:cNvPr>
          <p:cNvCxnSpPr/>
          <p:nvPr>
            <p:custDataLst>
              <p:tags r:id="rId7"/>
            </p:custDataLst>
          </p:nvPr>
        </p:nvCxnSpPr>
        <p:spPr>
          <a:xfrm>
            <a:off x="0" y="940088"/>
            <a:ext cx="9144000" cy="0"/>
          </a:xfrm>
          <a:prstGeom prst="line">
            <a:avLst/>
          </a:prstGeom>
          <a:ln w="47625">
            <a:solidFill>
              <a:srgbClr val="495C6E"/>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527978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040819-BE3C-97BD-B028-2396DBEFFC98}"/>
              </a:ext>
            </a:extLst>
          </p:cNvPr>
          <p:cNvSpPr>
            <a:spLocks noGrp="1"/>
          </p:cNvSpPr>
          <p:nvPr>
            <p:ph type="title"/>
            <p:custDataLst>
              <p:tags r:id="rId2"/>
            </p:custDataLst>
          </p:nvPr>
        </p:nvSpPr>
        <p:spPr/>
        <p:txBody>
          <a:bodyPr/>
          <a:lstStyle/>
          <a:p>
            <a:r>
              <a:rPr lang="en-GB" dirty="0" err="1"/>
              <a:t>Méthodes</a:t>
            </a:r>
            <a:r>
              <a:rPr lang="en-GB" dirty="0"/>
              <a:t> </a:t>
            </a:r>
            <a:r>
              <a:rPr lang="en-GB" dirty="0" err="1"/>
              <a:t>d’ajustement</a:t>
            </a:r>
            <a:r>
              <a:rPr lang="en-GB" dirty="0"/>
              <a:t> de </a:t>
            </a:r>
            <a:r>
              <a:rPr lang="en-GB" dirty="0" err="1"/>
              <a:t>biais</a:t>
            </a:r>
            <a:endParaRPr lang="en-GB" dirty="0"/>
          </a:p>
        </p:txBody>
      </p:sp>
      <p:sp>
        <p:nvSpPr>
          <p:cNvPr id="3" name="Espace réservé du numéro de diapositive 2">
            <a:extLst>
              <a:ext uri="{FF2B5EF4-FFF2-40B4-BE49-F238E27FC236}">
                <a16:creationId xmlns:a16="http://schemas.microsoft.com/office/drawing/2014/main" id="{518773A1-5579-8E4D-AA25-044100F13021}"/>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17</a:t>
            </a:r>
          </a:p>
        </p:txBody>
      </p:sp>
      <p:sp>
        <p:nvSpPr>
          <p:cNvPr id="4" name="Espace réservé du texte 3">
            <a:extLst>
              <a:ext uri="{FF2B5EF4-FFF2-40B4-BE49-F238E27FC236}">
                <a16:creationId xmlns:a16="http://schemas.microsoft.com/office/drawing/2014/main" id="{19FD1E22-6B89-AF18-CA80-DC4E72EB6ED2}"/>
              </a:ext>
            </a:extLst>
          </p:cNvPr>
          <p:cNvSpPr>
            <a:spLocks noGrp="1"/>
          </p:cNvSpPr>
          <p:nvPr>
            <p:ph type="body" idx="1"/>
            <p:custDataLst>
              <p:tags r:id="rId4"/>
            </p:custDataLst>
          </p:nvPr>
        </p:nvSpPr>
        <p:spPr>
          <a:xfrm>
            <a:off x="296658" y="1222375"/>
            <a:ext cx="8445560" cy="5461000"/>
          </a:xfrm>
        </p:spPr>
        <p:txBody>
          <a:bodyPr/>
          <a:lstStyle/>
          <a:p>
            <a:pPr marL="76200" indent="0">
              <a:buNone/>
            </a:pPr>
            <a:r>
              <a:rPr lang="fr-FR" b="1" dirty="0">
                <a:solidFill>
                  <a:srgbClr val="FF0000"/>
                </a:solidFill>
              </a:rPr>
              <a:t>Pondération</a:t>
            </a:r>
            <a:r>
              <a:rPr lang="en-GB" sz="2400" b="1" dirty="0">
                <a:solidFill>
                  <a:srgbClr val="FF0000"/>
                </a:solidFill>
              </a:rPr>
              <a:t> </a:t>
            </a:r>
            <a:r>
              <a:rPr lang="en-GB" sz="2400" b="1" dirty="0">
                <a:solidFill>
                  <a:srgbClr val="314462"/>
                </a:solidFill>
              </a:rPr>
              <a:t>=&gt; </a:t>
            </a:r>
            <a:r>
              <a:rPr lang="en-GB" sz="2400" b="1" dirty="0" err="1">
                <a:solidFill>
                  <a:srgbClr val="314462"/>
                </a:solidFill>
              </a:rPr>
              <a:t>erreur</a:t>
            </a:r>
            <a:r>
              <a:rPr lang="en-GB" sz="2400" b="1" dirty="0">
                <a:solidFill>
                  <a:srgbClr val="314462"/>
                </a:solidFill>
              </a:rPr>
              <a:t> de validation </a:t>
            </a:r>
            <a:r>
              <a:rPr lang="en-GB" sz="2400" b="1" dirty="0" err="1">
                <a:solidFill>
                  <a:srgbClr val="314462"/>
                </a:solidFill>
              </a:rPr>
              <a:t>ajusté</a:t>
            </a:r>
            <a:endParaRPr lang="en-GB" sz="2400" b="1" dirty="0">
              <a:solidFill>
                <a:srgbClr val="314462"/>
              </a:solidFill>
            </a:endParaRPr>
          </a:p>
          <a:p>
            <a:pPr marL="342900" indent="-342900"/>
            <a:r>
              <a:rPr lang="en-GB" sz="2400" dirty="0">
                <a:solidFill>
                  <a:srgbClr val="002060"/>
                </a:solidFill>
              </a:rPr>
              <a:t>Cell weighting</a:t>
            </a:r>
          </a:p>
          <a:p>
            <a:pPr marL="342900" indent="-342900"/>
            <a:r>
              <a:rPr lang="en-GB" sz="2400" dirty="0">
                <a:solidFill>
                  <a:srgbClr val="002060"/>
                </a:solidFill>
              </a:rPr>
              <a:t>Raking weighting</a:t>
            </a:r>
          </a:p>
          <a:p>
            <a:endParaRPr lang="en-GB" sz="2400" dirty="0">
              <a:solidFill>
                <a:srgbClr val="314462"/>
              </a:solidFill>
            </a:endParaRPr>
          </a:p>
          <a:p>
            <a:pPr marL="76200" indent="0">
              <a:buNone/>
            </a:pPr>
            <a:r>
              <a:rPr lang="en-GB" sz="2400" b="1" dirty="0">
                <a:solidFill>
                  <a:srgbClr val="0070C0"/>
                </a:solidFill>
              </a:rPr>
              <a:t>Imputation</a:t>
            </a:r>
            <a:r>
              <a:rPr lang="en-GB" sz="2400" b="1" dirty="0">
                <a:solidFill>
                  <a:srgbClr val="314462"/>
                </a:solidFill>
              </a:rPr>
              <a:t> =&gt; données </a:t>
            </a:r>
            <a:r>
              <a:rPr lang="en-GB" sz="2400" b="1" dirty="0" err="1">
                <a:solidFill>
                  <a:srgbClr val="314462"/>
                </a:solidFill>
              </a:rPr>
              <a:t>complétées</a:t>
            </a:r>
            <a:endParaRPr lang="en-GB" sz="2400" b="1" dirty="0">
              <a:solidFill>
                <a:srgbClr val="314462"/>
              </a:solidFill>
            </a:endParaRPr>
          </a:p>
          <a:p>
            <a:pPr marL="342900" indent="-342900"/>
            <a:r>
              <a:rPr lang="en-GB" sz="2400" dirty="0">
                <a:solidFill>
                  <a:srgbClr val="314462"/>
                </a:solidFill>
              </a:rPr>
              <a:t>Imputation </a:t>
            </a:r>
            <a:r>
              <a:rPr lang="en-GB" sz="2400" dirty="0" err="1">
                <a:solidFill>
                  <a:srgbClr val="314462"/>
                </a:solidFill>
              </a:rPr>
              <a:t>multivariée</a:t>
            </a:r>
            <a:endParaRPr lang="en-GB" sz="2400" dirty="0">
              <a:solidFill>
                <a:srgbClr val="314462"/>
              </a:solidFill>
            </a:endParaRPr>
          </a:p>
        </p:txBody>
      </p:sp>
      <p:graphicFrame>
        <p:nvGraphicFramePr>
          <p:cNvPr id="5" name="Tableau 4">
            <a:extLst>
              <a:ext uri="{FF2B5EF4-FFF2-40B4-BE49-F238E27FC236}">
                <a16:creationId xmlns:a16="http://schemas.microsoft.com/office/drawing/2014/main" id="{FE4DD587-CC26-E0ED-E5A8-38F7725F3622}"/>
              </a:ext>
            </a:extLst>
          </p:cNvPr>
          <p:cNvGraphicFramePr>
            <a:graphicFrameLocks noGrp="1"/>
          </p:cNvGraphicFramePr>
          <p:nvPr>
            <p:custDataLst>
              <p:tags r:id="rId5"/>
            </p:custDataLst>
            <p:extLst>
              <p:ext uri="{D42A27DB-BD31-4B8C-83A1-F6EECF244321}">
                <p14:modId xmlns:p14="http://schemas.microsoft.com/office/powerpoint/2010/main" val="3231399967"/>
              </p:ext>
            </p:extLst>
          </p:nvPr>
        </p:nvGraphicFramePr>
        <p:xfrm>
          <a:off x="6634261" y="2524450"/>
          <a:ext cx="3775676" cy="3362714"/>
        </p:xfrm>
        <a:graphic>
          <a:graphicData uri="http://schemas.openxmlformats.org/drawingml/2006/table">
            <a:tbl>
              <a:tblPr firstRow="1" bandRow="1">
                <a:tableStyleId>{073A0DAA-6AF3-43AB-8588-CEC1D06C72B9}</a:tableStyleId>
              </a:tblPr>
              <a:tblGrid>
                <a:gridCol w="943919">
                  <a:extLst>
                    <a:ext uri="{9D8B030D-6E8A-4147-A177-3AD203B41FA5}">
                      <a16:colId xmlns:a16="http://schemas.microsoft.com/office/drawing/2014/main" val="1019930272"/>
                    </a:ext>
                  </a:extLst>
                </a:gridCol>
                <a:gridCol w="943919">
                  <a:extLst>
                    <a:ext uri="{9D8B030D-6E8A-4147-A177-3AD203B41FA5}">
                      <a16:colId xmlns:a16="http://schemas.microsoft.com/office/drawing/2014/main" val="3997036391"/>
                    </a:ext>
                  </a:extLst>
                </a:gridCol>
                <a:gridCol w="943919">
                  <a:extLst>
                    <a:ext uri="{9D8B030D-6E8A-4147-A177-3AD203B41FA5}">
                      <a16:colId xmlns:a16="http://schemas.microsoft.com/office/drawing/2014/main" val="2548716720"/>
                    </a:ext>
                  </a:extLst>
                </a:gridCol>
                <a:gridCol w="943919">
                  <a:extLst>
                    <a:ext uri="{9D8B030D-6E8A-4147-A177-3AD203B41FA5}">
                      <a16:colId xmlns:a16="http://schemas.microsoft.com/office/drawing/2014/main" val="317121846"/>
                    </a:ext>
                  </a:extLst>
                </a:gridCol>
              </a:tblGrid>
              <a:tr h="530954">
                <a:tc>
                  <a:txBody>
                    <a:bodyPr/>
                    <a:lstStyle/>
                    <a:p>
                      <a:pPr algn="ctr" fontAlgn="b"/>
                      <a:r>
                        <a:rPr lang="fr-FR" sz="1600" u="none" strike="noStrike" dirty="0">
                          <a:effectLst/>
                        </a:rPr>
                        <a:t>Time</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Measured</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T_ext</a:t>
                      </a:r>
                      <a:r>
                        <a:rPr lang="fr-FR" sz="1600" u="none" strike="noStrike" dirty="0">
                          <a:effectLst/>
                        </a:rPr>
                        <a:t> (°C)</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Other</a:t>
                      </a:r>
                      <a:r>
                        <a:rPr lang="fr-FR" sz="1600" u="none" strike="noStrike" dirty="0">
                          <a:effectLst/>
                        </a:rPr>
                        <a:t> variables</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46000349"/>
                  </a:ext>
                </a:extLst>
              </a:tr>
              <a:tr h="283176">
                <a:tc>
                  <a:txBody>
                    <a:bodyPr/>
                    <a:lstStyle/>
                    <a:p>
                      <a:pPr algn="ctr" fontAlgn="b"/>
                      <a:r>
                        <a:rPr lang="fr-FR" sz="1600" u="none" strike="noStrike" dirty="0">
                          <a:effectLst/>
                        </a:rPr>
                        <a:t>00:00:00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17</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2</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87327440"/>
                  </a:ext>
                </a:extLst>
              </a:tr>
              <a:tr h="283176">
                <a:tc>
                  <a:txBody>
                    <a:bodyPr/>
                    <a:lstStyle/>
                    <a:p>
                      <a:pPr algn="ctr" fontAlgn="b"/>
                      <a:r>
                        <a:rPr lang="fr-FR" sz="1600" u="none" strike="noStrike">
                          <a:effectLst/>
                        </a:rPr>
                        <a:t>01:00:00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09143520"/>
                  </a:ext>
                </a:extLst>
              </a:tr>
              <a:tr h="283176">
                <a:tc>
                  <a:txBody>
                    <a:bodyPr/>
                    <a:lstStyle/>
                    <a:p>
                      <a:pPr algn="ctr" fontAlgn="b"/>
                      <a:r>
                        <a:rPr lang="fr-FR" sz="1600" u="none" strike="noStrike" dirty="0">
                          <a:effectLst/>
                        </a:rPr>
                        <a:t>02:00:00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13849221"/>
                  </a:ext>
                </a:extLst>
              </a:tr>
              <a:tr h="283176">
                <a:tc>
                  <a:txBody>
                    <a:bodyPr/>
                    <a:lstStyle/>
                    <a:p>
                      <a:pPr algn="ctr" fontAlgn="b"/>
                      <a:r>
                        <a:rPr lang="fr-FR" sz="1600" u="none" strike="noStrike">
                          <a:effectLst/>
                        </a:rPr>
                        <a:t>03:00:00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58274862"/>
                  </a:ext>
                </a:extLst>
              </a:tr>
              <a:tr h="283176">
                <a:tc>
                  <a:txBody>
                    <a:bodyPr/>
                    <a:lstStyle/>
                    <a:p>
                      <a:pPr algn="ctr" fontAlgn="b"/>
                      <a:r>
                        <a:rPr lang="fr-FR" sz="1600" u="none" strike="noStrike">
                          <a:effectLst/>
                        </a:rPr>
                        <a:t>04:00:00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11218620"/>
                  </a:ext>
                </a:extLst>
              </a:tr>
              <a:tr h="283176">
                <a:tc>
                  <a:txBody>
                    <a:bodyPr/>
                    <a:lstStyle/>
                    <a:p>
                      <a:pPr algn="ctr" fontAlgn="b"/>
                      <a:r>
                        <a:rPr lang="fr-FR" sz="1600" u="none" strike="noStrike">
                          <a:effectLst/>
                        </a:rPr>
                        <a:t>05:00:00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80589334"/>
                  </a:ext>
                </a:extLst>
              </a:tr>
              <a:tr h="283176">
                <a:tc>
                  <a:txBody>
                    <a:bodyPr/>
                    <a:lstStyle/>
                    <a:p>
                      <a:pPr algn="ctr" fontAlgn="b"/>
                      <a:r>
                        <a:rPr lang="fr-FR" sz="1600" u="none" strike="noStrike">
                          <a:effectLst/>
                        </a:rPr>
                        <a:t>06:00:00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28185491"/>
                  </a:ext>
                </a:extLst>
              </a:tr>
              <a:tr h="283176">
                <a:tc>
                  <a:txBody>
                    <a:bodyPr/>
                    <a:lstStyle/>
                    <a:p>
                      <a:pPr algn="ctr" fontAlgn="b"/>
                      <a:r>
                        <a:rPr lang="fr-FR" sz="1600" u="none" strike="noStrike">
                          <a:effectLst/>
                        </a:rPr>
                        <a:t>07:00:00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3</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9354025"/>
                  </a:ext>
                </a:extLst>
              </a:tr>
              <a:tr h="283176">
                <a:tc>
                  <a:txBody>
                    <a:bodyPr/>
                    <a:lstStyle/>
                    <a:p>
                      <a:pPr algn="ctr" fontAlgn="b"/>
                      <a:r>
                        <a:rPr lang="fr-FR" sz="1600" u="none" strike="noStrike">
                          <a:effectLst/>
                        </a:rPr>
                        <a:t>08:00:00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15</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4</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25826413"/>
                  </a:ext>
                </a:extLst>
              </a:tr>
              <a:tr h="283176">
                <a:tc>
                  <a:txBody>
                    <a:bodyPr/>
                    <a:lstStyle/>
                    <a:p>
                      <a:pPr algn="ctr" fontAlgn="b"/>
                      <a:r>
                        <a:rPr lang="fr-FR" sz="1600" u="none" strike="noStrike">
                          <a:effectLst/>
                        </a:rPr>
                        <a:t>09:00:00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13</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6</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0196675"/>
                  </a:ext>
                </a:extLst>
              </a:tr>
            </a:tbl>
          </a:graphicData>
        </a:graphic>
      </p:graphicFrame>
      <p:sp>
        <p:nvSpPr>
          <p:cNvPr id="8" name="Slide Number Placeholder 4">
            <a:extLst>
              <a:ext uri="{FF2B5EF4-FFF2-40B4-BE49-F238E27FC236}">
                <a16:creationId xmlns:a16="http://schemas.microsoft.com/office/drawing/2014/main" id="{062C29ED-E7E3-E17B-88C7-6BB4D2096850}"/>
              </a:ext>
            </a:extLst>
          </p:cNvPr>
          <p:cNvSpPr txBox="1">
            <a:spLocks/>
          </p:cNvSpPr>
          <p:nvPr>
            <p:custDataLst>
              <p:tags r:id="rId6"/>
            </p:custDataLst>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DC0E79ED-1749-40A6-AEBC-40F147B49735}" type="slidenum">
              <a:rPr lang="en-GB" smtClean="0"/>
              <a:pPr/>
              <a:t>28</a:t>
            </a:fld>
            <a:endParaRPr lang="en-GB" dirty="0"/>
          </a:p>
        </p:txBody>
      </p:sp>
      <p:sp>
        <p:nvSpPr>
          <p:cNvPr id="9" name="Title 1">
            <a:extLst>
              <a:ext uri="{FF2B5EF4-FFF2-40B4-BE49-F238E27FC236}">
                <a16:creationId xmlns:a16="http://schemas.microsoft.com/office/drawing/2014/main" id="{9D6EC806-6D54-7CE0-045E-105CD2A895C5}"/>
              </a:ext>
            </a:extLst>
          </p:cNvPr>
          <p:cNvSpPr txBox="1">
            <a:spLocks/>
          </p:cNvSpPr>
          <p:nvPr>
            <p:custDataLst>
              <p:tags r:id="rId7"/>
            </p:custDataLst>
          </p:nvPr>
        </p:nvSpPr>
        <p:spPr>
          <a:xfrm>
            <a:off x="167640" y="1828799"/>
            <a:ext cx="8808720" cy="477132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2800" dirty="0">
              <a:solidFill>
                <a:srgbClr val="314462"/>
              </a:solidFill>
            </a:endParaRPr>
          </a:p>
        </p:txBody>
      </p:sp>
      <p:cxnSp>
        <p:nvCxnSpPr>
          <p:cNvPr id="10" name="Straight Connector 10">
            <a:extLst>
              <a:ext uri="{FF2B5EF4-FFF2-40B4-BE49-F238E27FC236}">
                <a16:creationId xmlns:a16="http://schemas.microsoft.com/office/drawing/2014/main" id="{549248E7-BA86-6AE4-8B22-53EE90E15601}"/>
              </a:ext>
            </a:extLst>
          </p:cNvPr>
          <p:cNvCxnSpPr/>
          <p:nvPr>
            <p:custDataLst>
              <p:tags r:id="rId8"/>
            </p:custDataLst>
          </p:nvPr>
        </p:nvCxnSpPr>
        <p:spPr>
          <a:xfrm>
            <a:off x="0" y="940088"/>
            <a:ext cx="9144000" cy="0"/>
          </a:xfrm>
          <a:prstGeom prst="line">
            <a:avLst/>
          </a:prstGeom>
          <a:ln w="47625">
            <a:solidFill>
              <a:srgbClr val="495C6E"/>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540236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040819-BE3C-97BD-B028-2396DBEFFC98}"/>
              </a:ext>
            </a:extLst>
          </p:cNvPr>
          <p:cNvSpPr>
            <a:spLocks noGrp="1"/>
          </p:cNvSpPr>
          <p:nvPr>
            <p:ph type="title"/>
            <p:custDataLst>
              <p:tags r:id="rId2"/>
            </p:custDataLst>
          </p:nvPr>
        </p:nvSpPr>
        <p:spPr/>
        <p:txBody>
          <a:bodyPr/>
          <a:lstStyle/>
          <a:p>
            <a:r>
              <a:rPr lang="en-GB" dirty="0" err="1"/>
              <a:t>Méthodes</a:t>
            </a:r>
            <a:r>
              <a:rPr lang="en-GB" dirty="0"/>
              <a:t> </a:t>
            </a:r>
            <a:r>
              <a:rPr lang="en-GB" dirty="0" err="1"/>
              <a:t>d’ajustement</a:t>
            </a:r>
            <a:r>
              <a:rPr lang="en-GB" dirty="0"/>
              <a:t> de </a:t>
            </a:r>
            <a:r>
              <a:rPr lang="en-GB" dirty="0" err="1"/>
              <a:t>biais</a:t>
            </a:r>
            <a:endParaRPr lang="en-GB" dirty="0"/>
          </a:p>
        </p:txBody>
      </p:sp>
      <p:sp>
        <p:nvSpPr>
          <p:cNvPr id="3" name="Espace réservé du numéro de diapositive 2">
            <a:extLst>
              <a:ext uri="{FF2B5EF4-FFF2-40B4-BE49-F238E27FC236}">
                <a16:creationId xmlns:a16="http://schemas.microsoft.com/office/drawing/2014/main" id="{518773A1-5579-8E4D-AA25-044100F13021}"/>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17</a:t>
            </a:r>
          </a:p>
        </p:txBody>
      </p:sp>
      <p:sp>
        <p:nvSpPr>
          <p:cNvPr id="4" name="Espace réservé du texte 3">
            <a:extLst>
              <a:ext uri="{FF2B5EF4-FFF2-40B4-BE49-F238E27FC236}">
                <a16:creationId xmlns:a16="http://schemas.microsoft.com/office/drawing/2014/main" id="{19FD1E22-6B89-AF18-CA80-DC4E72EB6ED2}"/>
              </a:ext>
            </a:extLst>
          </p:cNvPr>
          <p:cNvSpPr>
            <a:spLocks noGrp="1"/>
          </p:cNvSpPr>
          <p:nvPr>
            <p:ph type="body" idx="1"/>
            <p:custDataLst>
              <p:tags r:id="rId4"/>
            </p:custDataLst>
          </p:nvPr>
        </p:nvSpPr>
        <p:spPr>
          <a:xfrm>
            <a:off x="296658" y="1222375"/>
            <a:ext cx="8445560" cy="5461000"/>
          </a:xfrm>
        </p:spPr>
        <p:txBody>
          <a:bodyPr/>
          <a:lstStyle/>
          <a:p>
            <a:pPr marL="76200" indent="0">
              <a:buNone/>
            </a:pPr>
            <a:r>
              <a:rPr lang="fr-FR" b="1" dirty="0">
                <a:solidFill>
                  <a:srgbClr val="FF0000"/>
                </a:solidFill>
              </a:rPr>
              <a:t>Pondération</a:t>
            </a:r>
            <a:r>
              <a:rPr lang="en-GB" sz="2400" b="1" dirty="0">
                <a:solidFill>
                  <a:srgbClr val="FF0000"/>
                </a:solidFill>
              </a:rPr>
              <a:t> </a:t>
            </a:r>
            <a:r>
              <a:rPr lang="en-GB" sz="2400" b="1" dirty="0">
                <a:solidFill>
                  <a:srgbClr val="314462"/>
                </a:solidFill>
              </a:rPr>
              <a:t>=&gt; </a:t>
            </a:r>
            <a:r>
              <a:rPr lang="en-GB" sz="2400" b="1" dirty="0" err="1">
                <a:solidFill>
                  <a:srgbClr val="314462"/>
                </a:solidFill>
              </a:rPr>
              <a:t>erreur</a:t>
            </a:r>
            <a:r>
              <a:rPr lang="en-GB" sz="2400" b="1" dirty="0">
                <a:solidFill>
                  <a:srgbClr val="314462"/>
                </a:solidFill>
              </a:rPr>
              <a:t> de validation </a:t>
            </a:r>
            <a:r>
              <a:rPr lang="en-GB" sz="2400" b="1" dirty="0" err="1">
                <a:solidFill>
                  <a:srgbClr val="314462"/>
                </a:solidFill>
              </a:rPr>
              <a:t>ajusté</a:t>
            </a:r>
            <a:endParaRPr lang="en-GB" sz="2400" b="1" dirty="0">
              <a:solidFill>
                <a:srgbClr val="314462"/>
              </a:solidFill>
            </a:endParaRPr>
          </a:p>
          <a:p>
            <a:pPr marL="342900" indent="-342900"/>
            <a:r>
              <a:rPr lang="en-GB" sz="2400" dirty="0">
                <a:solidFill>
                  <a:srgbClr val="002060"/>
                </a:solidFill>
              </a:rPr>
              <a:t>Cell weighting</a:t>
            </a:r>
          </a:p>
          <a:p>
            <a:pPr marL="342900" indent="-342900"/>
            <a:r>
              <a:rPr lang="en-GB" sz="2400" dirty="0">
                <a:solidFill>
                  <a:srgbClr val="002060"/>
                </a:solidFill>
              </a:rPr>
              <a:t>Raking weighting</a:t>
            </a:r>
          </a:p>
          <a:p>
            <a:endParaRPr lang="en-GB" sz="2400" dirty="0">
              <a:solidFill>
                <a:srgbClr val="314462"/>
              </a:solidFill>
            </a:endParaRPr>
          </a:p>
          <a:p>
            <a:pPr marL="76200" indent="0">
              <a:buNone/>
            </a:pPr>
            <a:r>
              <a:rPr lang="en-GB" sz="2400" b="1" dirty="0">
                <a:solidFill>
                  <a:srgbClr val="0070C0"/>
                </a:solidFill>
              </a:rPr>
              <a:t>Imputation</a:t>
            </a:r>
            <a:r>
              <a:rPr lang="en-GB" sz="2400" b="1" dirty="0">
                <a:solidFill>
                  <a:srgbClr val="314462"/>
                </a:solidFill>
              </a:rPr>
              <a:t> =&gt; données </a:t>
            </a:r>
            <a:r>
              <a:rPr lang="en-GB" sz="2400" b="1" dirty="0" err="1">
                <a:solidFill>
                  <a:srgbClr val="314462"/>
                </a:solidFill>
              </a:rPr>
              <a:t>complétées</a:t>
            </a:r>
            <a:endParaRPr lang="en-GB" sz="2400" b="1" dirty="0">
              <a:solidFill>
                <a:srgbClr val="314462"/>
              </a:solidFill>
            </a:endParaRPr>
          </a:p>
          <a:p>
            <a:pPr marL="342900" indent="-342900"/>
            <a:r>
              <a:rPr lang="en-GB" sz="2400" dirty="0">
                <a:solidFill>
                  <a:srgbClr val="314462"/>
                </a:solidFill>
              </a:rPr>
              <a:t>Imputation </a:t>
            </a:r>
            <a:r>
              <a:rPr lang="en-GB" sz="2400" dirty="0" err="1">
                <a:solidFill>
                  <a:srgbClr val="314462"/>
                </a:solidFill>
              </a:rPr>
              <a:t>multivariée</a:t>
            </a:r>
            <a:endParaRPr lang="en-GB" sz="2400" dirty="0">
              <a:solidFill>
                <a:srgbClr val="314462"/>
              </a:solidFill>
            </a:endParaRPr>
          </a:p>
        </p:txBody>
      </p:sp>
      <p:graphicFrame>
        <p:nvGraphicFramePr>
          <p:cNvPr id="5" name="Tableau 4">
            <a:extLst>
              <a:ext uri="{FF2B5EF4-FFF2-40B4-BE49-F238E27FC236}">
                <a16:creationId xmlns:a16="http://schemas.microsoft.com/office/drawing/2014/main" id="{FE4DD587-CC26-E0ED-E5A8-38F7725F3622}"/>
              </a:ext>
            </a:extLst>
          </p:cNvPr>
          <p:cNvGraphicFramePr>
            <a:graphicFrameLocks noGrp="1"/>
          </p:cNvGraphicFramePr>
          <p:nvPr>
            <p:custDataLst>
              <p:tags r:id="rId5"/>
            </p:custDataLst>
            <p:extLst>
              <p:ext uri="{D42A27DB-BD31-4B8C-83A1-F6EECF244321}">
                <p14:modId xmlns:p14="http://schemas.microsoft.com/office/powerpoint/2010/main" val="3231399967"/>
              </p:ext>
            </p:extLst>
          </p:nvPr>
        </p:nvGraphicFramePr>
        <p:xfrm>
          <a:off x="6634261" y="2524450"/>
          <a:ext cx="3775676" cy="3362714"/>
        </p:xfrm>
        <a:graphic>
          <a:graphicData uri="http://schemas.openxmlformats.org/drawingml/2006/table">
            <a:tbl>
              <a:tblPr firstRow="1" bandRow="1">
                <a:tableStyleId>{073A0DAA-6AF3-43AB-8588-CEC1D06C72B9}</a:tableStyleId>
              </a:tblPr>
              <a:tblGrid>
                <a:gridCol w="943919">
                  <a:extLst>
                    <a:ext uri="{9D8B030D-6E8A-4147-A177-3AD203B41FA5}">
                      <a16:colId xmlns:a16="http://schemas.microsoft.com/office/drawing/2014/main" val="1019930272"/>
                    </a:ext>
                  </a:extLst>
                </a:gridCol>
                <a:gridCol w="943919">
                  <a:extLst>
                    <a:ext uri="{9D8B030D-6E8A-4147-A177-3AD203B41FA5}">
                      <a16:colId xmlns:a16="http://schemas.microsoft.com/office/drawing/2014/main" val="3997036391"/>
                    </a:ext>
                  </a:extLst>
                </a:gridCol>
                <a:gridCol w="943919">
                  <a:extLst>
                    <a:ext uri="{9D8B030D-6E8A-4147-A177-3AD203B41FA5}">
                      <a16:colId xmlns:a16="http://schemas.microsoft.com/office/drawing/2014/main" val="2548716720"/>
                    </a:ext>
                  </a:extLst>
                </a:gridCol>
                <a:gridCol w="943919">
                  <a:extLst>
                    <a:ext uri="{9D8B030D-6E8A-4147-A177-3AD203B41FA5}">
                      <a16:colId xmlns:a16="http://schemas.microsoft.com/office/drawing/2014/main" val="317121846"/>
                    </a:ext>
                  </a:extLst>
                </a:gridCol>
              </a:tblGrid>
              <a:tr h="530954">
                <a:tc>
                  <a:txBody>
                    <a:bodyPr/>
                    <a:lstStyle/>
                    <a:p>
                      <a:pPr algn="ctr" fontAlgn="b"/>
                      <a:r>
                        <a:rPr lang="fr-FR" sz="1600" u="none" strike="noStrike" dirty="0">
                          <a:effectLst/>
                        </a:rPr>
                        <a:t>Time</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Measured</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T_ext</a:t>
                      </a:r>
                      <a:r>
                        <a:rPr lang="fr-FR" sz="1600" u="none" strike="noStrike" dirty="0">
                          <a:effectLst/>
                        </a:rPr>
                        <a:t> (°C)</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Other</a:t>
                      </a:r>
                      <a:r>
                        <a:rPr lang="fr-FR" sz="1600" u="none" strike="noStrike" dirty="0">
                          <a:effectLst/>
                        </a:rPr>
                        <a:t> variables</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46000349"/>
                  </a:ext>
                </a:extLst>
              </a:tr>
              <a:tr h="283176">
                <a:tc>
                  <a:txBody>
                    <a:bodyPr/>
                    <a:lstStyle/>
                    <a:p>
                      <a:pPr algn="ctr" fontAlgn="b"/>
                      <a:r>
                        <a:rPr lang="fr-FR" sz="1600" u="none" strike="noStrike" dirty="0">
                          <a:effectLst/>
                        </a:rPr>
                        <a:t>00:00:00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17</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2</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87327440"/>
                  </a:ext>
                </a:extLst>
              </a:tr>
              <a:tr h="283176">
                <a:tc>
                  <a:txBody>
                    <a:bodyPr/>
                    <a:lstStyle/>
                    <a:p>
                      <a:pPr algn="ctr" fontAlgn="b"/>
                      <a:r>
                        <a:rPr lang="fr-FR" sz="1600" u="none" strike="noStrike">
                          <a:effectLst/>
                        </a:rPr>
                        <a:t>01:00:00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09143520"/>
                  </a:ext>
                </a:extLst>
              </a:tr>
              <a:tr h="283176">
                <a:tc>
                  <a:txBody>
                    <a:bodyPr/>
                    <a:lstStyle/>
                    <a:p>
                      <a:pPr algn="ctr" fontAlgn="b"/>
                      <a:r>
                        <a:rPr lang="fr-FR" sz="1600" u="none" strike="noStrike" dirty="0">
                          <a:effectLst/>
                        </a:rPr>
                        <a:t>02:00:00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13849221"/>
                  </a:ext>
                </a:extLst>
              </a:tr>
              <a:tr h="283176">
                <a:tc>
                  <a:txBody>
                    <a:bodyPr/>
                    <a:lstStyle/>
                    <a:p>
                      <a:pPr algn="ctr" fontAlgn="b"/>
                      <a:r>
                        <a:rPr lang="fr-FR" sz="1600" u="none" strike="noStrike">
                          <a:effectLst/>
                        </a:rPr>
                        <a:t>03:00:00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58274862"/>
                  </a:ext>
                </a:extLst>
              </a:tr>
              <a:tr h="283176">
                <a:tc>
                  <a:txBody>
                    <a:bodyPr/>
                    <a:lstStyle/>
                    <a:p>
                      <a:pPr algn="ctr" fontAlgn="b"/>
                      <a:r>
                        <a:rPr lang="fr-FR" sz="1600" u="none" strike="noStrike">
                          <a:effectLst/>
                        </a:rPr>
                        <a:t>04:00:00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11218620"/>
                  </a:ext>
                </a:extLst>
              </a:tr>
              <a:tr h="283176">
                <a:tc>
                  <a:txBody>
                    <a:bodyPr/>
                    <a:lstStyle/>
                    <a:p>
                      <a:pPr algn="ctr" fontAlgn="b"/>
                      <a:r>
                        <a:rPr lang="fr-FR" sz="1600" u="none" strike="noStrike">
                          <a:effectLst/>
                        </a:rPr>
                        <a:t>05:00:00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80589334"/>
                  </a:ext>
                </a:extLst>
              </a:tr>
              <a:tr h="283176">
                <a:tc>
                  <a:txBody>
                    <a:bodyPr/>
                    <a:lstStyle/>
                    <a:p>
                      <a:pPr algn="ctr" fontAlgn="b"/>
                      <a:r>
                        <a:rPr lang="fr-FR" sz="1600" u="none" strike="noStrike">
                          <a:effectLst/>
                        </a:rPr>
                        <a:t>06:00:00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28185491"/>
                  </a:ext>
                </a:extLst>
              </a:tr>
              <a:tr h="283176">
                <a:tc>
                  <a:txBody>
                    <a:bodyPr/>
                    <a:lstStyle/>
                    <a:p>
                      <a:pPr algn="ctr" fontAlgn="b"/>
                      <a:r>
                        <a:rPr lang="fr-FR" sz="1600" u="none" strike="noStrike">
                          <a:effectLst/>
                        </a:rPr>
                        <a:t>07:00:00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3</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9354025"/>
                  </a:ext>
                </a:extLst>
              </a:tr>
              <a:tr h="283176">
                <a:tc>
                  <a:txBody>
                    <a:bodyPr/>
                    <a:lstStyle/>
                    <a:p>
                      <a:pPr algn="ctr" fontAlgn="b"/>
                      <a:r>
                        <a:rPr lang="fr-FR" sz="1600" u="none" strike="noStrike">
                          <a:effectLst/>
                        </a:rPr>
                        <a:t>08:00:00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15</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4</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25826413"/>
                  </a:ext>
                </a:extLst>
              </a:tr>
              <a:tr h="283176">
                <a:tc>
                  <a:txBody>
                    <a:bodyPr/>
                    <a:lstStyle/>
                    <a:p>
                      <a:pPr algn="ctr" fontAlgn="b"/>
                      <a:r>
                        <a:rPr lang="fr-FR" sz="1600" u="none" strike="noStrike">
                          <a:effectLst/>
                        </a:rPr>
                        <a:t>09:00:00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13</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6</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0196675"/>
                  </a:ext>
                </a:extLst>
              </a:tr>
            </a:tbl>
          </a:graphicData>
        </a:graphic>
      </p:graphicFrame>
      <p:sp>
        <p:nvSpPr>
          <p:cNvPr id="8" name="Slide Number Placeholder 4">
            <a:extLst>
              <a:ext uri="{FF2B5EF4-FFF2-40B4-BE49-F238E27FC236}">
                <a16:creationId xmlns:a16="http://schemas.microsoft.com/office/drawing/2014/main" id="{062C29ED-E7E3-E17B-88C7-6BB4D2096850}"/>
              </a:ext>
            </a:extLst>
          </p:cNvPr>
          <p:cNvSpPr txBox="1">
            <a:spLocks/>
          </p:cNvSpPr>
          <p:nvPr>
            <p:custDataLst>
              <p:tags r:id="rId6"/>
            </p:custDataLst>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DC0E79ED-1749-40A6-AEBC-40F147B49735}" type="slidenum">
              <a:rPr lang="en-GB" smtClean="0"/>
              <a:pPr/>
              <a:t>29</a:t>
            </a:fld>
            <a:endParaRPr lang="en-GB" dirty="0"/>
          </a:p>
        </p:txBody>
      </p:sp>
      <p:sp>
        <p:nvSpPr>
          <p:cNvPr id="9" name="Title 1">
            <a:extLst>
              <a:ext uri="{FF2B5EF4-FFF2-40B4-BE49-F238E27FC236}">
                <a16:creationId xmlns:a16="http://schemas.microsoft.com/office/drawing/2014/main" id="{9D6EC806-6D54-7CE0-045E-105CD2A895C5}"/>
              </a:ext>
            </a:extLst>
          </p:cNvPr>
          <p:cNvSpPr txBox="1">
            <a:spLocks/>
          </p:cNvSpPr>
          <p:nvPr>
            <p:custDataLst>
              <p:tags r:id="rId7"/>
            </p:custDataLst>
          </p:nvPr>
        </p:nvSpPr>
        <p:spPr>
          <a:xfrm>
            <a:off x="167640" y="1828799"/>
            <a:ext cx="8808720" cy="477132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2800" dirty="0">
              <a:solidFill>
                <a:srgbClr val="314462"/>
              </a:solidFill>
            </a:endParaRPr>
          </a:p>
        </p:txBody>
      </p:sp>
      <p:cxnSp>
        <p:nvCxnSpPr>
          <p:cNvPr id="10" name="Straight Connector 10">
            <a:extLst>
              <a:ext uri="{FF2B5EF4-FFF2-40B4-BE49-F238E27FC236}">
                <a16:creationId xmlns:a16="http://schemas.microsoft.com/office/drawing/2014/main" id="{549248E7-BA86-6AE4-8B22-53EE90E15601}"/>
              </a:ext>
            </a:extLst>
          </p:cNvPr>
          <p:cNvCxnSpPr/>
          <p:nvPr>
            <p:custDataLst>
              <p:tags r:id="rId8"/>
            </p:custDataLst>
          </p:nvPr>
        </p:nvCxnSpPr>
        <p:spPr>
          <a:xfrm>
            <a:off x="0" y="940088"/>
            <a:ext cx="9144000" cy="0"/>
          </a:xfrm>
          <a:prstGeom prst="line">
            <a:avLst/>
          </a:prstGeom>
          <a:ln w="47625">
            <a:solidFill>
              <a:srgbClr val="495C6E"/>
            </a:solidFill>
          </a:ln>
        </p:spPr>
        <p:style>
          <a:lnRef idx="1">
            <a:schemeClr val="accent1"/>
          </a:lnRef>
          <a:fillRef idx="0">
            <a:schemeClr val="accent1"/>
          </a:fillRef>
          <a:effectRef idx="0">
            <a:schemeClr val="accent1"/>
          </a:effectRef>
          <a:fontRef idx="minor">
            <a:schemeClr val="tx1"/>
          </a:fontRef>
        </p:style>
      </p:cxnSp>
      <p:graphicFrame>
        <p:nvGraphicFramePr>
          <p:cNvPr id="13" name="Tableau 12">
            <a:extLst>
              <a:ext uri="{FF2B5EF4-FFF2-40B4-BE49-F238E27FC236}">
                <a16:creationId xmlns:a16="http://schemas.microsoft.com/office/drawing/2014/main" id="{98C72FDB-836F-AC8D-C4F4-CB6DCCCBC45B}"/>
              </a:ext>
            </a:extLst>
          </p:cNvPr>
          <p:cNvGraphicFramePr>
            <a:graphicFrameLocks noGrp="1"/>
          </p:cNvGraphicFramePr>
          <p:nvPr>
            <p:custDataLst>
              <p:tags r:id="rId9"/>
            </p:custDataLst>
            <p:extLst>
              <p:ext uri="{D42A27DB-BD31-4B8C-83A1-F6EECF244321}">
                <p14:modId xmlns:p14="http://schemas.microsoft.com/office/powerpoint/2010/main" val="3216955336"/>
              </p:ext>
            </p:extLst>
          </p:nvPr>
        </p:nvGraphicFramePr>
        <p:xfrm>
          <a:off x="6634261" y="2524450"/>
          <a:ext cx="4719595" cy="3362714"/>
        </p:xfrm>
        <a:graphic>
          <a:graphicData uri="http://schemas.openxmlformats.org/drawingml/2006/table">
            <a:tbl>
              <a:tblPr firstRow="1" bandRow="1">
                <a:tableStyleId>{073A0DAA-6AF3-43AB-8588-CEC1D06C72B9}</a:tableStyleId>
              </a:tblPr>
              <a:tblGrid>
                <a:gridCol w="943919">
                  <a:extLst>
                    <a:ext uri="{9D8B030D-6E8A-4147-A177-3AD203B41FA5}">
                      <a16:colId xmlns:a16="http://schemas.microsoft.com/office/drawing/2014/main" val="1019930272"/>
                    </a:ext>
                  </a:extLst>
                </a:gridCol>
                <a:gridCol w="943919">
                  <a:extLst>
                    <a:ext uri="{9D8B030D-6E8A-4147-A177-3AD203B41FA5}">
                      <a16:colId xmlns:a16="http://schemas.microsoft.com/office/drawing/2014/main" val="3997036391"/>
                    </a:ext>
                  </a:extLst>
                </a:gridCol>
                <a:gridCol w="943919">
                  <a:extLst>
                    <a:ext uri="{9D8B030D-6E8A-4147-A177-3AD203B41FA5}">
                      <a16:colId xmlns:a16="http://schemas.microsoft.com/office/drawing/2014/main" val="2770761514"/>
                    </a:ext>
                  </a:extLst>
                </a:gridCol>
                <a:gridCol w="943919">
                  <a:extLst>
                    <a:ext uri="{9D8B030D-6E8A-4147-A177-3AD203B41FA5}">
                      <a16:colId xmlns:a16="http://schemas.microsoft.com/office/drawing/2014/main" val="2548716720"/>
                    </a:ext>
                  </a:extLst>
                </a:gridCol>
                <a:gridCol w="943919">
                  <a:extLst>
                    <a:ext uri="{9D8B030D-6E8A-4147-A177-3AD203B41FA5}">
                      <a16:colId xmlns:a16="http://schemas.microsoft.com/office/drawing/2014/main" val="317121846"/>
                    </a:ext>
                  </a:extLst>
                </a:gridCol>
              </a:tblGrid>
              <a:tr h="530954">
                <a:tc>
                  <a:txBody>
                    <a:bodyPr/>
                    <a:lstStyle/>
                    <a:p>
                      <a:pPr algn="ctr" fontAlgn="b"/>
                      <a:r>
                        <a:rPr lang="fr-FR" sz="1600" u="none" strike="noStrike" dirty="0">
                          <a:effectLst/>
                        </a:rPr>
                        <a:t>Time</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Measured</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Weights</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T_ext</a:t>
                      </a:r>
                      <a:r>
                        <a:rPr lang="fr-FR" sz="1600" u="none" strike="noStrike" dirty="0">
                          <a:effectLst/>
                        </a:rPr>
                        <a:t> (°C)</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Other</a:t>
                      </a:r>
                      <a:r>
                        <a:rPr lang="fr-FR" sz="1600" u="none" strike="noStrike" dirty="0">
                          <a:effectLst/>
                        </a:rPr>
                        <a:t> variables</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46000349"/>
                  </a:ext>
                </a:extLst>
              </a:tr>
              <a:tr h="283176">
                <a:tc>
                  <a:txBody>
                    <a:bodyPr/>
                    <a:lstStyle/>
                    <a:p>
                      <a:pPr algn="ctr" fontAlgn="b"/>
                      <a:r>
                        <a:rPr lang="fr-FR" sz="1600" u="none" strike="noStrike" dirty="0">
                          <a:effectLst/>
                        </a:rPr>
                        <a:t>00:00:00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17</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solidFill>
                            <a:srgbClr val="FF0000"/>
                          </a:solidFill>
                          <a:effectLst/>
                        </a:rPr>
                        <a:t>2</a:t>
                      </a:r>
                      <a:endParaRPr lang="fr-FR" sz="1600" b="0" i="0" u="none" strike="noStrike" dirty="0">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2</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87327440"/>
                  </a:ext>
                </a:extLst>
              </a:tr>
              <a:tr h="283176">
                <a:tc>
                  <a:txBody>
                    <a:bodyPr/>
                    <a:lstStyle/>
                    <a:p>
                      <a:pPr algn="ctr" fontAlgn="b"/>
                      <a:r>
                        <a:rPr lang="fr-FR" sz="1600" u="none" strike="noStrike">
                          <a:effectLst/>
                        </a:rPr>
                        <a:t>01:00:00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09143520"/>
                  </a:ext>
                </a:extLst>
              </a:tr>
              <a:tr h="283176">
                <a:tc>
                  <a:txBody>
                    <a:bodyPr/>
                    <a:lstStyle/>
                    <a:p>
                      <a:pPr algn="ctr" fontAlgn="b"/>
                      <a:r>
                        <a:rPr lang="fr-FR" sz="1600" u="none" strike="noStrike" dirty="0">
                          <a:effectLst/>
                        </a:rPr>
                        <a:t>02:00:00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13849221"/>
                  </a:ext>
                </a:extLst>
              </a:tr>
              <a:tr h="283176">
                <a:tc>
                  <a:txBody>
                    <a:bodyPr/>
                    <a:lstStyle/>
                    <a:p>
                      <a:pPr algn="ctr" fontAlgn="b"/>
                      <a:r>
                        <a:rPr lang="fr-FR" sz="1600" u="none" strike="noStrike">
                          <a:effectLst/>
                        </a:rPr>
                        <a:t>03:00:00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b="0" i="0" u="none" strike="noStrike" dirty="0">
                          <a:solidFill>
                            <a:srgbClr val="FF0000"/>
                          </a:solidFill>
                          <a:effectLst/>
                          <a:latin typeface="Calibri" panose="020F0502020204030204" pitchFamily="34" charset="0"/>
                        </a:rPr>
                        <a:t>1</a:t>
                      </a: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58274862"/>
                  </a:ext>
                </a:extLst>
              </a:tr>
              <a:tr h="283176">
                <a:tc>
                  <a:txBody>
                    <a:bodyPr/>
                    <a:lstStyle/>
                    <a:p>
                      <a:pPr algn="ctr" fontAlgn="b"/>
                      <a:r>
                        <a:rPr lang="fr-FR" sz="1600" u="none" strike="noStrike">
                          <a:effectLst/>
                        </a:rPr>
                        <a:t>04:00:00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solidFill>
                            <a:srgbClr val="FF0000"/>
                          </a:solidFill>
                          <a:effectLst/>
                        </a:rPr>
                        <a:t>1</a:t>
                      </a:r>
                      <a:endParaRPr lang="fr-FR" sz="1600" b="0" i="0" u="none" strike="noStrike" dirty="0">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11218620"/>
                  </a:ext>
                </a:extLst>
              </a:tr>
              <a:tr h="283176">
                <a:tc>
                  <a:txBody>
                    <a:bodyPr/>
                    <a:lstStyle/>
                    <a:p>
                      <a:pPr algn="ctr" fontAlgn="b"/>
                      <a:r>
                        <a:rPr lang="fr-FR" sz="1600" u="none" strike="noStrike">
                          <a:effectLst/>
                        </a:rPr>
                        <a:t>05:00:00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80589334"/>
                  </a:ext>
                </a:extLst>
              </a:tr>
              <a:tr h="283176">
                <a:tc>
                  <a:txBody>
                    <a:bodyPr/>
                    <a:lstStyle/>
                    <a:p>
                      <a:pPr algn="ctr" fontAlgn="b"/>
                      <a:r>
                        <a:rPr lang="fr-FR" sz="1600" u="none" strike="noStrike">
                          <a:effectLst/>
                        </a:rPr>
                        <a:t>06:00:00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28185491"/>
                  </a:ext>
                </a:extLst>
              </a:tr>
              <a:tr h="283176">
                <a:tc>
                  <a:txBody>
                    <a:bodyPr/>
                    <a:lstStyle/>
                    <a:p>
                      <a:pPr algn="ctr" fontAlgn="b"/>
                      <a:r>
                        <a:rPr lang="fr-FR" sz="1600" u="none" strike="noStrike">
                          <a:effectLst/>
                        </a:rPr>
                        <a:t>07:00:00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3</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9354025"/>
                  </a:ext>
                </a:extLst>
              </a:tr>
              <a:tr h="283176">
                <a:tc>
                  <a:txBody>
                    <a:bodyPr/>
                    <a:lstStyle/>
                    <a:p>
                      <a:pPr algn="ctr" fontAlgn="b"/>
                      <a:r>
                        <a:rPr lang="fr-FR" sz="1600" u="none" strike="noStrike">
                          <a:effectLst/>
                        </a:rPr>
                        <a:t>08:00:00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15</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solidFill>
                            <a:srgbClr val="FF0000"/>
                          </a:solidFill>
                          <a:effectLst/>
                        </a:rPr>
                        <a:t>3</a:t>
                      </a:r>
                      <a:endParaRPr lang="fr-FR" sz="1600" b="0" i="0" u="none" strike="noStrike" dirty="0">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4</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25826413"/>
                  </a:ext>
                </a:extLst>
              </a:tr>
              <a:tr h="283176">
                <a:tc>
                  <a:txBody>
                    <a:bodyPr/>
                    <a:lstStyle/>
                    <a:p>
                      <a:pPr algn="ctr" fontAlgn="b"/>
                      <a:r>
                        <a:rPr lang="fr-FR" sz="1600" u="none" strike="noStrike">
                          <a:effectLst/>
                        </a:rPr>
                        <a:t>09:00:00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13</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solidFill>
                            <a:srgbClr val="FF0000"/>
                          </a:solidFill>
                          <a:effectLst/>
                        </a:rPr>
                        <a:t>3</a:t>
                      </a:r>
                      <a:endParaRPr lang="fr-FR" sz="1600" b="0" i="0" u="none" strike="noStrike" dirty="0">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6</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0196675"/>
                  </a:ext>
                </a:extLst>
              </a:tr>
            </a:tbl>
          </a:graphicData>
        </a:graphic>
      </p:graphicFrame>
    </p:spTree>
    <p:custDataLst>
      <p:tags r:id="rId1"/>
    </p:custDataLst>
    <p:extLst>
      <p:ext uri="{BB962C8B-B14F-4D97-AF65-F5344CB8AC3E}">
        <p14:creationId xmlns:p14="http://schemas.microsoft.com/office/powerpoint/2010/main" val="1248663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040819-BE3C-97BD-B028-2396DBEFFC98}"/>
              </a:ext>
            </a:extLst>
          </p:cNvPr>
          <p:cNvSpPr>
            <a:spLocks noGrp="1"/>
          </p:cNvSpPr>
          <p:nvPr>
            <p:ph type="title"/>
            <p:custDataLst>
              <p:tags r:id="rId2"/>
            </p:custDataLst>
          </p:nvPr>
        </p:nvSpPr>
        <p:spPr/>
        <p:txBody>
          <a:bodyPr/>
          <a:lstStyle/>
          <a:p>
            <a:r>
              <a:rPr lang="en-GB" dirty="0" err="1"/>
              <a:t>Méthodes</a:t>
            </a:r>
            <a:r>
              <a:rPr lang="en-GB" dirty="0"/>
              <a:t> </a:t>
            </a:r>
            <a:r>
              <a:rPr lang="en-GB" dirty="0" err="1"/>
              <a:t>d’ajustement</a:t>
            </a:r>
            <a:r>
              <a:rPr lang="en-GB" dirty="0"/>
              <a:t> de </a:t>
            </a:r>
            <a:r>
              <a:rPr lang="en-GB" dirty="0" err="1"/>
              <a:t>biais</a:t>
            </a:r>
            <a:endParaRPr lang="en-GB" dirty="0"/>
          </a:p>
        </p:txBody>
      </p:sp>
      <p:sp>
        <p:nvSpPr>
          <p:cNvPr id="3" name="Espace réservé du numéro de diapositive 2">
            <a:extLst>
              <a:ext uri="{FF2B5EF4-FFF2-40B4-BE49-F238E27FC236}">
                <a16:creationId xmlns:a16="http://schemas.microsoft.com/office/drawing/2014/main" id="{518773A1-5579-8E4D-AA25-044100F13021}"/>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17</a:t>
            </a:r>
          </a:p>
        </p:txBody>
      </p:sp>
      <p:sp>
        <p:nvSpPr>
          <p:cNvPr id="4" name="Espace réservé du texte 3">
            <a:extLst>
              <a:ext uri="{FF2B5EF4-FFF2-40B4-BE49-F238E27FC236}">
                <a16:creationId xmlns:a16="http://schemas.microsoft.com/office/drawing/2014/main" id="{19FD1E22-6B89-AF18-CA80-DC4E72EB6ED2}"/>
              </a:ext>
            </a:extLst>
          </p:cNvPr>
          <p:cNvSpPr>
            <a:spLocks noGrp="1"/>
          </p:cNvSpPr>
          <p:nvPr>
            <p:ph type="body" idx="1"/>
            <p:custDataLst>
              <p:tags r:id="rId4"/>
            </p:custDataLst>
          </p:nvPr>
        </p:nvSpPr>
        <p:spPr>
          <a:xfrm>
            <a:off x="296658" y="1222375"/>
            <a:ext cx="8445560" cy="5461000"/>
          </a:xfrm>
        </p:spPr>
        <p:txBody>
          <a:bodyPr/>
          <a:lstStyle/>
          <a:p>
            <a:pPr marL="76200" indent="0">
              <a:buNone/>
            </a:pPr>
            <a:r>
              <a:rPr lang="fr-FR" b="1" dirty="0">
                <a:solidFill>
                  <a:srgbClr val="FF0000"/>
                </a:solidFill>
              </a:rPr>
              <a:t>Pondération</a:t>
            </a:r>
            <a:r>
              <a:rPr lang="en-GB" sz="2400" b="1" dirty="0">
                <a:solidFill>
                  <a:srgbClr val="FF0000"/>
                </a:solidFill>
              </a:rPr>
              <a:t> </a:t>
            </a:r>
            <a:r>
              <a:rPr lang="en-GB" sz="2400" b="1" dirty="0">
                <a:solidFill>
                  <a:srgbClr val="314462"/>
                </a:solidFill>
              </a:rPr>
              <a:t>=&gt; </a:t>
            </a:r>
            <a:r>
              <a:rPr lang="en-GB" sz="2400" b="1" dirty="0" err="1">
                <a:solidFill>
                  <a:srgbClr val="314462"/>
                </a:solidFill>
              </a:rPr>
              <a:t>erreur</a:t>
            </a:r>
            <a:r>
              <a:rPr lang="en-GB" sz="2400" b="1" dirty="0">
                <a:solidFill>
                  <a:srgbClr val="314462"/>
                </a:solidFill>
              </a:rPr>
              <a:t> de validation </a:t>
            </a:r>
            <a:r>
              <a:rPr lang="en-GB" sz="2400" b="1" dirty="0" err="1">
                <a:solidFill>
                  <a:srgbClr val="314462"/>
                </a:solidFill>
              </a:rPr>
              <a:t>ajusté</a:t>
            </a:r>
            <a:endParaRPr lang="en-GB" sz="2400" b="1" dirty="0">
              <a:solidFill>
                <a:srgbClr val="314462"/>
              </a:solidFill>
            </a:endParaRPr>
          </a:p>
          <a:p>
            <a:pPr marL="342900" indent="-342900"/>
            <a:r>
              <a:rPr lang="en-GB" sz="2400" dirty="0">
                <a:solidFill>
                  <a:srgbClr val="002060"/>
                </a:solidFill>
              </a:rPr>
              <a:t>Cell weighting</a:t>
            </a:r>
          </a:p>
          <a:p>
            <a:pPr marL="342900" indent="-342900"/>
            <a:r>
              <a:rPr lang="en-GB" sz="2400" dirty="0">
                <a:solidFill>
                  <a:srgbClr val="002060"/>
                </a:solidFill>
              </a:rPr>
              <a:t>Raking weighting</a:t>
            </a:r>
          </a:p>
          <a:p>
            <a:endParaRPr lang="en-GB" sz="2400" dirty="0">
              <a:solidFill>
                <a:srgbClr val="314462"/>
              </a:solidFill>
            </a:endParaRPr>
          </a:p>
          <a:p>
            <a:pPr marL="76200" indent="0">
              <a:buNone/>
            </a:pPr>
            <a:r>
              <a:rPr lang="en-GB" sz="2400" b="1" dirty="0">
                <a:solidFill>
                  <a:srgbClr val="0070C0"/>
                </a:solidFill>
              </a:rPr>
              <a:t>Imputation</a:t>
            </a:r>
            <a:r>
              <a:rPr lang="en-GB" sz="2400" b="1" dirty="0">
                <a:solidFill>
                  <a:srgbClr val="314462"/>
                </a:solidFill>
              </a:rPr>
              <a:t> =&gt; données </a:t>
            </a:r>
            <a:r>
              <a:rPr lang="en-GB" sz="2400" b="1" dirty="0" err="1">
                <a:solidFill>
                  <a:srgbClr val="314462"/>
                </a:solidFill>
              </a:rPr>
              <a:t>complétées</a:t>
            </a:r>
            <a:endParaRPr lang="en-GB" sz="2400" b="1" dirty="0">
              <a:solidFill>
                <a:srgbClr val="314462"/>
              </a:solidFill>
            </a:endParaRPr>
          </a:p>
          <a:p>
            <a:pPr marL="342900" indent="-342900"/>
            <a:r>
              <a:rPr lang="en-GB" sz="2400" dirty="0">
                <a:solidFill>
                  <a:srgbClr val="314462"/>
                </a:solidFill>
              </a:rPr>
              <a:t>Imputation </a:t>
            </a:r>
            <a:r>
              <a:rPr lang="en-GB" sz="2400" dirty="0" err="1">
                <a:solidFill>
                  <a:srgbClr val="314462"/>
                </a:solidFill>
              </a:rPr>
              <a:t>multivariée</a:t>
            </a:r>
            <a:endParaRPr lang="en-GB" sz="2400" dirty="0">
              <a:solidFill>
                <a:srgbClr val="314462"/>
              </a:solidFill>
            </a:endParaRPr>
          </a:p>
        </p:txBody>
      </p:sp>
      <p:graphicFrame>
        <p:nvGraphicFramePr>
          <p:cNvPr id="5" name="Tableau 4">
            <a:extLst>
              <a:ext uri="{FF2B5EF4-FFF2-40B4-BE49-F238E27FC236}">
                <a16:creationId xmlns:a16="http://schemas.microsoft.com/office/drawing/2014/main" id="{FE4DD587-CC26-E0ED-E5A8-38F7725F3622}"/>
              </a:ext>
            </a:extLst>
          </p:cNvPr>
          <p:cNvGraphicFramePr>
            <a:graphicFrameLocks noGrp="1"/>
          </p:cNvGraphicFramePr>
          <p:nvPr>
            <p:custDataLst>
              <p:tags r:id="rId5"/>
            </p:custDataLst>
            <p:extLst>
              <p:ext uri="{D42A27DB-BD31-4B8C-83A1-F6EECF244321}">
                <p14:modId xmlns:p14="http://schemas.microsoft.com/office/powerpoint/2010/main" val="3231399967"/>
              </p:ext>
            </p:extLst>
          </p:nvPr>
        </p:nvGraphicFramePr>
        <p:xfrm>
          <a:off x="6634261" y="2524450"/>
          <a:ext cx="3775676" cy="3362714"/>
        </p:xfrm>
        <a:graphic>
          <a:graphicData uri="http://schemas.openxmlformats.org/drawingml/2006/table">
            <a:tbl>
              <a:tblPr firstRow="1" bandRow="1">
                <a:tableStyleId>{073A0DAA-6AF3-43AB-8588-CEC1D06C72B9}</a:tableStyleId>
              </a:tblPr>
              <a:tblGrid>
                <a:gridCol w="943919">
                  <a:extLst>
                    <a:ext uri="{9D8B030D-6E8A-4147-A177-3AD203B41FA5}">
                      <a16:colId xmlns:a16="http://schemas.microsoft.com/office/drawing/2014/main" val="1019930272"/>
                    </a:ext>
                  </a:extLst>
                </a:gridCol>
                <a:gridCol w="943919">
                  <a:extLst>
                    <a:ext uri="{9D8B030D-6E8A-4147-A177-3AD203B41FA5}">
                      <a16:colId xmlns:a16="http://schemas.microsoft.com/office/drawing/2014/main" val="3997036391"/>
                    </a:ext>
                  </a:extLst>
                </a:gridCol>
                <a:gridCol w="943919">
                  <a:extLst>
                    <a:ext uri="{9D8B030D-6E8A-4147-A177-3AD203B41FA5}">
                      <a16:colId xmlns:a16="http://schemas.microsoft.com/office/drawing/2014/main" val="2548716720"/>
                    </a:ext>
                  </a:extLst>
                </a:gridCol>
                <a:gridCol w="943919">
                  <a:extLst>
                    <a:ext uri="{9D8B030D-6E8A-4147-A177-3AD203B41FA5}">
                      <a16:colId xmlns:a16="http://schemas.microsoft.com/office/drawing/2014/main" val="317121846"/>
                    </a:ext>
                  </a:extLst>
                </a:gridCol>
              </a:tblGrid>
              <a:tr h="530954">
                <a:tc>
                  <a:txBody>
                    <a:bodyPr/>
                    <a:lstStyle/>
                    <a:p>
                      <a:pPr algn="ctr" fontAlgn="b"/>
                      <a:r>
                        <a:rPr lang="fr-FR" sz="1600" u="none" strike="noStrike" dirty="0">
                          <a:effectLst/>
                        </a:rPr>
                        <a:t>Time</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Measured</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T_ext</a:t>
                      </a:r>
                      <a:r>
                        <a:rPr lang="fr-FR" sz="1600" u="none" strike="noStrike" dirty="0">
                          <a:effectLst/>
                        </a:rPr>
                        <a:t> (°C)</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Other</a:t>
                      </a:r>
                      <a:r>
                        <a:rPr lang="fr-FR" sz="1600" u="none" strike="noStrike" dirty="0">
                          <a:effectLst/>
                        </a:rPr>
                        <a:t> variables</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46000349"/>
                  </a:ext>
                </a:extLst>
              </a:tr>
              <a:tr h="283176">
                <a:tc>
                  <a:txBody>
                    <a:bodyPr/>
                    <a:lstStyle/>
                    <a:p>
                      <a:pPr algn="ctr" fontAlgn="b"/>
                      <a:r>
                        <a:rPr lang="fr-FR" sz="1600" u="none" strike="noStrike" dirty="0">
                          <a:effectLst/>
                        </a:rPr>
                        <a:t>00:00:00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17</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2</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87327440"/>
                  </a:ext>
                </a:extLst>
              </a:tr>
              <a:tr h="283176">
                <a:tc>
                  <a:txBody>
                    <a:bodyPr/>
                    <a:lstStyle/>
                    <a:p>
                      <a:pPr algn="ctr" fontAlgn="b"/>
                      <a:r>
                        <a:rPr lang="fr-FR" sz="1600" u="none" strike="noStrike">
                          <a:effectLst/>
                        </a:rPr>
                        <a:t>01:00:00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09143520"/>
                  </a:ext>
                </a:extLst>
              </a:tr>
              <a:tr h="283176">
                <a:tc>
                  <a:txBody>
                    <a:bodyPr/>
                    <a:lstStyle/>
                    <a:p>
                      <a:pPr algn="ctr" fontAlgn="b"/>
                      <a:r>
                        <a:rPr lang="fr-FR" sz="1600" u="none" strike="noStrike" dirty="0">
                          <a:effectLst/>
                        </a:rPr>
                        <a:t>02:00:00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13849221"/>
                  </a:ext>
                </a:extLst>
              </a:tr>
              <a:tr h="283176">
                <a:tc>
                  <a:txBody>
                    <a:bodyPr/>
                    <a:lstStyle/>
                    <a:p>
                      <a:pPr algn="ctr" fontAlgn="b"/>
                      <a:r>
                        <a:rPr lang="fr-FR" sz="1600" u="none" strike="noStrike">
                          <a:effectLst/>
                        </a:rPr>
                        <a:t>03:00:00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58274862"/>
                  </a:ext>
                </a:extLst>
              </a:tr>
              <a:tr h="283176">
                <a:tc>
                  <a:txBody>
                    <a:bodyPr/>
                    <a:lstStyle/>
                    <a:p>
                      <a:pPr algn="ctr" fontAlgn="b"/>
                      <a:r>
                        <a:rPr lang="fr-FR" sz="1600" u="none" strike="noStrike">
                          <a:effectLst/>
                        </a:rPr>
                        <a:t>04:00:00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11218620"/>
                  </a:ext>
                </a:extLst>
              </a:tr>
              <a:tr h="283176">
                <a:tc>
                  <a:txBody>
                    <a:bodyPr/>
                    <a:lstStyle/>
                    <a:p>
                      <a:pPr algn="ctr" fontAlgn="b"/>
                      <a:r>
                        <a:rPr lang="fr-FR" sz="1600" u="none" strike="noStrike">
                          <a:effectLst/>
                        </a:rPr>
                        <a:t>05:00:00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80589334"/>
                  </a:ext>
                </a:extLst>
              </a:tr>
              <a:tr h="283176">
                <a:tc>
                  <a:txBody>
                    <a:bodyPr/>
                    <a:lstStyle/>
                    <a:p>
                      <a:pPr algn="ctr" fontAlgn="b"/>
                      <a:r>
                        <a:rPr lang="fr-FR" sz="1600" u="none" strike="noStrike">
                          <a:effectLst/>
                        </a:rPr>
                        <a:t>06:00:00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28185491"/>
                  </a:ext>
                </a:extLst>
              </a:tr>
              <a:tr h="283176">
                <a:tc>
                  <a:txBody>
                    <a:bodyPr/>
                    <a:lstStyle/>
                    <a:p>
                      <a:pPr algn="ctr" fontAlgn="b"/>
                      <a:r>
                        <a:rPr lang="fr-FR" sz="1600" u="none" strike="noStrike">
                          <a:effectLst/>
                        </a:rPr>
                        <a:t>07:00:00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3</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9354025"/>
                  </a:ext>
                </a:extLst>
              </a:tr>
              <a:tr h="283176">
                <a:tc>
                  <a:txBody>
                    <a:bodyPr/>
                    <a:lstStyle/>
                    <a:p>
                      <a:pPr algn="ctr" fontAlgn="b"/>
                      <a:r>
                        <a:rPr lang="fr-FR" sz="1600" u="none" strike="noStrike">
                          <a:effectLst/>
                        </a:rPr>
                        <a:t>08:00:00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15</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4</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25826413"/>
                  </a:ext>
                </a:extLst>
              </a:tr>
              <a:tr h="283176">
                <a:tc>
                  <a:txBody>
                    <a:bodyPr/>
                    <a:lstStyle/>
                    <a:p>
                      <a:pPr algn="ctr" fontAlgn="b"/>
                      <a:r>
                        <a:rPr lang="fr-FR" sz="1600" u="none" strike="noStrike">
                          <a:effectLst/>
                        </a:rPr>
                        <a:t>09:00:00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13</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6</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0196675"/>
                  </a:ext>
                </a:extLst>
              </a:tr>
            </a:tbl>
          </a:graphicData>
        </a:graphic>
      </p:graphicFrame>
      <p:sp>
        <p:nvSpPr>
          <p:cNvPr id="8" name="Slide Number Placeholder 4">
            <a:extLst>
              <a:ext uri="{FF2B5EF4-FFF2-40B4-BE49-F238E27FC236}">
                <a16:creationId xmlns:a16="http://schemas.microsoft.com/office/drawing/2014/main" id="{062C29ED-E7E3-E17B-88C7-6BB4D2096850}"/>
              </a:ext>
            </a:extLst>
          </p:cNvPr>
          <p:cNvSpPr txBox="1">
            <a:spLocks/>
          </p:cNvSpPr>
          <p:nvPr>
            <p:custDataLst>
              <p:tags r:id="rId6"/>
            </p:custDataLst>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DC0E79ED-1749-40A6-AEBC-40F147B49735}" type="slidenum">
              <a:rPr lang="en-GB" smtClean="0"/>
              <a:pPr/>
              <a:t>30</a:t>
            </a:fld>
            <a:endParaRPr lang="en-GB" dirty="0"/>
          </a:p>
        </p:txBody>
      </p:sp>
      <p:sp>
        <p:nvSpPr>
          <p:cNvPr id="9" name="Title 1">
            <a:extLst>
              <a:ext uri="{FF2B5EF4-FFF2-40B4-BE49-F238E27FC236}">
                <a16:creationId xmlns:a16="http://schemas.microsoft.com/office/drawing/2014/main" id="{9D6EC806-6D54-7CE0-045E-105CD2A895C5}"/>
              </a:ext>
            </a:extLst>
          </p:cNvPr>
          <p:cNvSpPr txBox="1">
            <a:spLocks/>
          </p:cNvSpPr>
          <p:nvPr>
            <p:custDataLst>
              <p:tags r:id="rId7"/>
            </p:custDataLst>
          </p:nvPr>
        </p:nvSpPr>
        <p:spPr>
          <a:xfrm>
            <a:off x="167640" y="1828799"/>
            <a:ext cx="8808720" cy="477132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2800" dirty="0">
              <a:solidFill>
                <a:srgbClr val="314462"/>
              </a:solidFill>
            </a:endParaRPr>
          </a:p>
        </p:txBody>
      </p:sp>
      <p:cxnSp>
        <p:nvCxnSpPr>
          <p:cNvPr id="10" name="Straight Connector 10">
            <a:extLst>
              <a:ext uri="{FF2B5EF4-FFF2-40B4-BE49-F238E27FC236}">
                <a16:creationId xmlns:a16="http://schemas.microsoft.com/office/drawing/2014/main" id="{549248E7-BA86-6AE4-8B22-53EE90E15601}"/>
              </a:ext>
            </a:extLst>
          </p:cNvPr>
          <p:cNvCxnSpPr/>
          <p:nvPr>
            <p:custDataLst>
              <p:tags r:id="rId8"/>
            </p:custDataLst>
          </p:nvPr>
        </p:nvCxnSpPr>
        <p:spPr>
          <a:xfrm>
            <a:off x="0" y="940088"/>
            <a:ext cx="9144000" cy="0"/>
          </a:xfrm>
          <a:prstGeom prst="line">
            <a:avLst/>
          </a:prstGeom>
          <a:ln w="47625">
            <a:solidFill>
              <a:srgbClr val="495C6E"/>
            </a:solidFill>
          </a:ln>
        </p:spPr>
        <p:style>
          <a:lnRef idx="1">
            <a:schemeClr val="accent1"/>
          </a:lnRef>
          <a:fillRef idx="0">
            <a:schemeClr val="accent1"/>
          </a:fillRef>
          <a:effectRef idx="0">
            <a:schemeClr val="accent1"/>
          </a:effectRef>
          <a:fontRef idx="minor">
            <a:schemeClr val="tx1"/>
          </a:fontRef>
        </p:style>
      </p:cxnSp>
      <p:graphicFrame>
        <p:nvGraphicFramePr>
          <p:cNvPr id="13" name="Tableau 12">
            <a:extLst>
              <a:ext uri="{FF2B5EF4-FFF2-40B4-BE49-F238E27FC236}">
                <a16:creationId xmlns:a16="http://schemas.microsoft.com/office/drawing/2014/main" id="{98C72FDB-836F-AC8D-C4F4-CB6DCCCBC45B}"/>
              </a:ext>
            </a:extLst>
          </p:cNvPr>
          <p:cNvGraphicFramePr>
            <a:graphicFrameLocks noGrp="1"/>
          </p:cNvGraphicFramePr>
          <p:nvPr>
            <p:custDataLst>
              <p:tags r:id="rId9"/>
            </p:custDataLst>
            <p:extLst>
              <p:ext uri="{D42A27DB-BD31-4B8C-83A1-F6EECF244321}">
                <p14:modId xmlns:p14="http://schemas.microsoft.com/office/powerpoint/2010/main" val="3216955336"/>
              </p:ext>
            </p:extLst>
          </p:nvPr>
        </p:nvGraphicFramePr>
        <p:xfrm>
          <a:off x="6634261" y="2524450"/>
          <a:ext cx="4719595" cy="3362714"/>
        </p:xfrm>
        <a:graphic>
          <a:graphicData uri="http://schemas.openxmlformats.org/drawingml/2006/table">
            <a:tbl>
              <a:tblPr firstRow="1" bandRow="1">
                <a:tableStyleId>{073A0DAA-6AF3-43AB-8588-CEC1D06C72B9}</a:tableStyleId>
              </a:tblPr>
              <a:tblGrid>
                <a:gridCol w="943919">
                  <a:extLst>
                    <a:ext uri="{9D8B030D-6E8A-4147-A177-3AD203B41FA5}">
                      <a16:colId xmlns:a16="http://schemas.microsoft.com/office/drawing/2014/main" val="1019930272"/>
                    </a:ext>
                  </a:extLst>
                </a:gridCol>
                <a:gridCol w="943919">
                  <a:extLst>
                    <a:ext uri="{9D8B030D-6E8A-4147-A177-3AD203B41FA5}">
                      <a16:colId xmlns:a16="http://schemas.microsoft.com/office/drawing/2014/main" val="3997036391"/>
                    </a:ext>
                  </a:extLst>
                </a:gridCol>
                <a:gridCol w="943919">
                  <a:extLst>
                    <a:ext uri="{9D8B030D-6E8A-4147-A177-3AD203B41FA5}">
                      <a16:colId xmlns:a16="http://schemas.microsoft.com/office/drawing/2014/main" val="2770761514"/>
                    </a:ext>
                  </a:extLst>
                </a:gridCol>
                <a:gridCol w="943919">
                  <a:extLst>
                    <a:ext uri="{9D8B030D-6E8A-4147-A177-3AD203B41FA5}">
                      <a16:colId xmlns:a16="http://schemas.microsoft.com/office/drawing/2014/main" val="2548716720"/>
                    </a:ext>
                  </a:extLst>
                </a:gridCol>
                <a:gridCol w="943919">
                  <a:extLst>
                    <a:ext uri="{9D8B030D-6E8A-4147-A177-3AD203B41FA5}">
                      <a16:colId xmlns:a16="http://schemas.microsoft.com/office/drawing/2014/main" val="317121846"/>
                    </a:ext>
                  </a:extLst>
                </a:gridCol>
              </a:tblGrid>
              <a:tr h="530954">
                <a:tc>
                  <a:txBody>
                    <a:bodyPr/>
                    <a:lstStyle/>
                    <a:p>
                      <a:pPr algn="ctr" fontAlgn="b"/>
                      <a:r>
                        <a:rPr lang="fr-FR" sz="1600" u="none" strike="noStrike" dirty="0">
                          <a:effectLst/>
                        </a:rPr>
                        <a:t>Time</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Measured</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Weights</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T_ext</a:t>
                      </a:r>
                      <a:r>
                        <a:rPr lang="fr-FR" sz="1600" u="none" strike="noStrike" dirty="0">
                          <a:effectLst/>
                        </a:rPr>
                        <a:t> (°C)</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Other</a:t>
                      </a:r>
                      <a:r>
                        <a:rPr lang="fr-FR" sz="1600" u="none" strike="noStrike" dirty="0">
                          <a:effectLst/>
                        </a:rPr>
                        <a:t> variables</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46000349"/>
                  </a:ext>
                </a:extLst>
              </a:tr>
              <a:tr h="283176">
                <a:tc>
                  <a:txBody>
                    <a:bodyPr/>
                    <a:lstStyle/>
                    <a:p>
                      <a:pPr algn="ctr" fontAlgn="b"/>
                      <a:r>
                        <a:rPr lang="fr-FR" sz="1600" u="none" strike="noStrike" dirty="0">
                          <a:effectLst/>
                        </a:rPr>
                        <a:t>00:00:00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17</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solidFill>
                            <a:srgbClr val="FF0000"/>
                          </a:solidFill>
                          <a:effectLst/>
                        </a:rPr>
                        <a:t>2</a:t>
                      </a:r>
                      <a:endParaRPr lang="fr-FR" sz="1600" b="0" i="0" u="none" strike="noStrike" dirty="0">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2</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87327440"/>
                  </a:ext>
                </a:extLst>
              </a:tr>
              <a:tr h="283176">
                <a:tc>
                  <a:txBody>
                    <a:bodyPr/>
                    <a:lstStyle/>
                    <a:p>
                      <a:pPr algn="ctr" fontAlgn="b"/>
                      <a:r>
                        <a:rPr lang="fr-FR" sz="1600" u="none" strike="noStrike">
                          <a:effectLst/>
                        </a:rPr>
                        <a:t>01:00:00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09143520"/>
                  </a:ext>
                </a:extLst>
              </a:tr>
              <a:tr h="283176">
                <a:tc>
                  <a:txBody>
                    <a:bodyPr/>
                    <a:lstStyle/>
                    <a:p>
                      <a:pPr algn="ctr" fontAlgn="b"/>
                      <a:r>
                        <a:rPr lang="fr-FR" sz="1600" u="none" strike="noStrike" dirty="0">
                          <a:effectLst/>
                        </a:rPr>
                        <a:t>02:00:00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13849221"/>
                  </a:ext>
                </a:extLst>
              </a:tr>
              <a:tr h="283176">
                <a:tc>
                  <a:txBody>
                    <a:bodyPr/>
                    <a:lstStyle/>
                    <a:p>
                      <a:pPr algn="ctr" fontAlgn="b"/>
                      <a:r>
                        <a:rPr lang="fr-FR" sz="1600" u="none" strike="noStrike">
                          <a:effectLst/>
                        </a:rPr>
                        <a:t>03:00:00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b="0" i="0" u="none" strike="noStrike" dirty="0">
                          <a:solidFill>
                            <a:srgbClr val="FF0000"/>
                          </a:solidFill>
                          <a:effectLst/>
                          <a:latin typeface="Calibri" panose="020F0502020204030204" pitchFamily="34" charset="0"/>
                        </a:rPr>
                        <a:t>1</a:t>
                      </a: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58274862"/>
                  </a:ext>
                </a:extLst>
              </a:tr>
              <a:tr h="283176">
                <a:tc>
                  <a:txBody>
                    <a:bodyPr/>
                    <a:lstStyle/>
                    <a:p>
                      <a:pPr algn="ctr" fontAlgn="b"/>
                      <a:r>
                        <a:rPr lang="fr-FR" sz="1600" u="none" strike="noStrike">
                          <a:effectLst/>
                        </a:rPr>
                        <a:t>04:00:00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solidFill>
                            <a:srgbClr val="FF0000"/>
                          </a:solidFill>
                          <a:effectLst/>
                        </a:rPr>
                        <a:t>1</a:t>
                      </a:r>
                      <a:endParaRPr lang="fr-FR" sz="1600" b="0" i="0" u="none" strike="noStrike" dirty="0">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11218620"/>
                  </a:ext>
                </a:extLst>
              </a:tr>
              <a:tr h="283176">
                <a:tc>
                  <a:txBody>
                    <a:bodyPr/>
                    <a:lstStyle/>
                    <a:p>
                      <a:pPr algn="ctr" fontAlgn="b"/>
                      <a:r>
                        <a:rPr lang="fr-FR" sz="1600" u="none" strike="noStrike">
                          <a:effectLst/>
                        </a:rPr>
                        <a:t>05:00:00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80589334"/>
                  </a:ext>
                </a:extLst>
              </a:tr>
              <a:tr h="283176">
                <a:tc>
                  <a:txBody>
                    <a:bodyPr/>
                    <a:lstStyle/>
                    <a:p>
                      <a:pPr algn="ctr" fontAlgn="b"/>
                      <a:r>
                        <a:rPr lang="fr-FR" sz="1600" u="none" strike="noStrike">
                          <a:effectLst/>
                        </a:rPr>
                        <a:t>06:00:00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28185491"/>
                  </a:ext>
                </a:extLst>
              </a:tr>
              <a:tr h="283176">
                <a:tc>
                  <a:txBody>
                    <a:bodyPr/>
                    <a:lstStyle/>
                    <a:p>
                      <a:pPr algn="ctr" fontAlgn="b"/>
                      <a:r>
                        <a:rPr lang="fr-FR" sz="1600" u="none" strike="noStrike">
                          <a:effectLst/>
                        </a:rPr>
                        <a:t>07:00:00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3</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9354025"/>
                  </a:ext>
                </a:extLst>
              </a:tr>
              <a:tr h="283176">
                <a:tc>
                  <a:txBody>
                    <a:bodyPr/>
                    <a:lstStyle/>
                    <a:p>
                      <a:pPr algn="ctr" fontAlgn="b"/>
                      <a:r>
                        <a:rPr lang="fr-FR" sz="1600" u="none" strike="noStrike">
                          <a:effectLst/>
                        </a:rPr>
                        <a:t>08:00:00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15</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solidFill>
                            <a:srgbClr val="FF0000"/>
                          </a:solidFill>
                          <a:effectLst/>
                        </a:rPr>
                        <a:t>3</a:t>
                      </a:r>
                      <a:endParaRPr lang="fr-FR" sz="1600" b="0" i="0" u="none" strike="noStrike" dirty="0">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4</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25826413"/>
                  </a:ext>
                </a:extLst>
              </a:tr>
              <a:tr h="283176">
                <a:tc>
                  <a:txBody>
                    <a:bodyPr/>
                    <a:lstStyle/>
                    <a:p>
                      <a:pPr algn="ctr" fontAlgn="b"/>
                      <a:r>
                        <a:rPr lang="fr-FR" sz="1600" u="none" strike="noStrike">
                          <a:effectLst/>
                        </a:rPr>
                        <a:t>09:00:00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13</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solidFill>
                            <a:srgbClr val="FF0000"/>
                          </a:solidFill>
                          <a:effectLst/>
                        </a:rPr>
                        <a:t>3</a:t>
                      </a:r>
                      <a:endParaRPr lang="fr-FR" sz="1600" b="0" i="0" u="none" strike="noStrike" dirty="0">
                        <a:solidFill>
                          <a:srgbClr val="FF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6</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0196675"/>
                  </a:ext>
                </a:extLst>
              </a:tr>
            </a:tbl>
          </a:graphicData>
        </a:graphic>
      </p:graphicFrame>
      <p:sp>
        <p:nvSpPr>
          <p:cNvPr id="15" name="Rectangle 14">
            <a:extLst>
              <a:ext uri="{FF2B5EF4-FFF2-40B4-BE49-F238E27FC236}">
                <a16:creationId xmlns:a16="http://schemas.microsoft.com/office/drawing/2014/main" id="{40490C3D-30D5-C672-C28E-CFF409867E0D}"/>
              </a:ext>
            </a:extLst>
          </p:cNvPr>
          <p:cNvSpPr/>
          <p:nvPr>
            <p:custDataLst>
              <p:tags r:id="rId10"/>
            </p:custDataLst>
          </p:nvPr>
        </p:nvSpPr>
        <p:spPr>
          <a:xfrm>
            <a:off x="8522099" y="2524450"/>
            <a:ext cx="916322" cy="335083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Connecteur droit avec flèche 15">
            <a:extLst>
              <a:ext uri="{FF2B5EF4-FFF2-40B4-BE49-F238E27FC236}">
                <a16:creationId xmlns:a16="http://schemas.microsoft.com/office/drawing/2014/main" id="{3FA8A107-9357-F639-E4FC-A330AB6F8A42}"/>
              </a:ext>
            </a:extLst>
          </p:cNvPr>
          <p:cNvCxnSpPr>
            <a:cxnSpLocks/>
          </p:cNvCxnSpPr>
          <p:nvPr>
            <p:custDataLst>
              <p:tags r:id="rId11"/>
            </p:custDataLst>
          </p:nvPr>
        </p:nvCxnSpPr>
        <p:spPr>
          <a:xfrm>
            <a:off x="2119745" y="1716801"/>
            <a:ext cx="6402354" cy="8076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0844246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040819-BE3C-97BD-B028-2396DBEFFC98}"/>
              </a:ext>
            </a:extLst>
          </p:cNvPr>
          <p:cNvSpPr>
            <a:spLocks noGrp="1"/>
          </p:cNvSpPr>
          <p:nvPr>
            <p:ph type="title"/>
            <p:custDataLst>
              <p:tags r:id="rId2"/>
            </p:custDataLst>
          </p:nvPr>
        </p:nvSpPr>
        <p:spPr/>
        <p:txBody>
          <a:bodyPr/>
          <a:lstStyle/>
          <a:p>
            <a:r>
              <a:rPr lang="en-GB" dirty="0" err="1"/>
              <a:t>Méthodes</a:t>
            </a:r>
            <a:r>
              <a:rPr lang="en-GB" dirty="0"/>
              <a:t> </a:t>
            </a:r>
            <a:r>
              <a:rPr lang="en-GB" dirty="0" err="1"/>
              <a:t>d’ajustement</a:t>
            </a:r>
            <a:r>
              <a:rPr lang="en-GB" dirty="0"/>
              <a:t> de </a:t>
            </a:r>
            <a:r>
              <a:rPr lang="en-GB" dirty="0" err="1"/>
              <a:t>biais</a:t>
            </a:r>
            <a:endParaRPr lang="en-GB" dirty="0"/>
          </a:p>
        </p:txBody>
      </p:sp>
      <p:sp>
        <p:nvSpPr>
          <p:cNvPr id="3" name="Espace réservé du numéro de diapositive 2">
            <a:extLst>
              <a:ext uri="{FF2B5EF4-FFF2-40B4-BE49-F238E27FC236}">
                <a16:creationId xmlns:a16="http://schemas.microsoft.com/office/drawing/2014/main" id="{518773A1-5579-8E4D-AA25-044100F13021}"/>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17</a:t>
            </a:r>
          </a:p>
        </p:txBody>
      </p:sp>
      <p:sp>
        <p:nvSpPr>
          <p:cNvPr id="4" name="Espace réservé du texte 3">
            <a:extLst>
              <a:ext uri="{FF2B5EF4-FFF2-40B4-BE49-F238E27FC236}">
                <a16:creationId xmlns:a16="http://schemas.microsoft.com/office/drawing/2014/main" id="{19FD1E22-6B89-AF18-CA80-DC4E72EB6ED2}"/>
              </a:ext>
            </a:extLst>
          </p:cNvPr>
          <p:cNvSpPr>
            <a:spLocks noGrp="1"/>
          </p:cNvSpPr>
          <p:nvPr>
            <p:ph type="body" idx="1"/>
            <p:custDataLst>
              <p:tags r:id="rId4"/>
            </p:custDataLst>
          </p:nvPr>
        </p:nvSpPr>
        <p:spPr>
          <a:xfrm>
            <a:off x="296658" y="1222375"/>
            <a:ext cx="8445560" cy="5461000"/>
          </a:xfrm>
        </p:spPr>
        <p:txBody>
          <a:bodyPr/>
          <a:lstStyle/>
          <a:p>
            <a:pPr marL="76200" indent="0">
              <a:buNone/>
            </a:pPr>
            <a:r>
              <a:rPr lang="fr-FR" b="1" dirty="0">
                <a:solidFill>
                  <a:srgbClr val="FF0000"/>
                </a:solidFill>
              </a:rPr>
              <a:t>Pondération</a:t>
            </a:r>
            <a:r>
              <a:rPr lang="en-GB" sz="2400" b="1" dirty="0">
                <a:solidFill>
                  <a:srgbClr val="FF0000"/>
                </a:solidFill>
              </a:rPr>
              <a:t> </a:t>
            </a:r>
            <a:r>
              <a:rPr lang="en-GB" sz="2400" b="1" dirty="0">
                <a:solidFill>
                  <a:srgbClr val="314462"/>
                </a:solidFill>
              </a:rPr>
              <a:t>=&gt; </a:t>
            </a:r>
            <a:r>
              <a:rPr lang="en-GB" sz="2400" b="1" dirty="0" err="1">
                <a:solidFill>
                  <a:srgbClr val="314462"/>
                </a:solidFill>
              </a:rPr>
              <a:t>erreur</a:t>
            </a:r>
            <a:r>
              <a:rPr lang="en-GB" sz="2400" b="1" dirty="0">
                <a:solidFill>
                  <a:srgbClr val="314462"/>
                </a:solidFill>
              </a:rPr>
              <a:t> de validation </a:t>
            </a:r>
            <a:r>
              <a:rPr lang="en-GB" sz="2400" b="1" dirty="0" err="1">
                <a:solidFill>
                  <a:srgbClr val="314462"/>
                </a:solidFill>
              </a:rPr>
              <a:t>ajusté</a:t>
            </a:r>
            <a:endParaRPr lang="en-GB" sz="2400" b="1" dirty="0">
              <a:solidFill>
                <a:srgbClr val="314462"/>
              </a:solidFill>
            </a:endParaRPr>
          </a:p>
          <a:p>
            <a:pPr marL="342900" indent="-342900"/>
            <a:r>
              <a:rPr lang="en-GB" sz="2400" dirty="0">
                <a:solidFill>
                  <a:srgbClr val="002060"/>
                </a:solidFill>
              </a:rPr>
              <a:t>Cell weighting</a:t>
            </a:r>
          </a:p>
          <a:p>
            <a:pPr marL="342900" indent="-342900"/>
            <a:r>
              <a:rPr lang="en-GB" sz="2400" dirty="0">
                <a:solidFill>
                  <a:srgbClr val="002060"/>
                </a:solidFill>
              </a:rPr>
              <a:t>Raking weighting</a:t>
            </a:r>
          </a:p>
          <a:p>
            <a:endParaRPr lang="en-GB" sz="2400" dirty="0">
              <a:solidFill>
                <a:srgbClr val="314462"/>
              </a:solidFill>
            </a:endParaRPr>
          </a:p>
          <a:p>
            <a:pPr marL="76200" indent="0">
              <a:buNone/>
            </a:pPr>
            <a:r>
              <a:rPr lang="en-GB" sz="2400" b="1" dirty="0">
                <a:solidFill>
                  <a:srgbClr val="0070C0"/>
                </a:solidFill>
              </a:rPr>
              <a:t>Imputation</a:t>
            </a:r>
            <a:r>
              <a:rPr lang="en-GB" sz="2400" b="1" dirty="0">
                <a:solidFill>
                  <a:srgbClr val="314462"/>
                </a:solidFill>
              </a:rPr>
              <a:t> =&gt; données </a:t>
            </a:r>
            <a:r>
              <a:rPr lang="en-GB" sz="2400" b="1" dirty="0" err="1">
                <a:solidFill>
                  <a:srgbClr val="314462"/>
                </a:solidFill>
              </a:rPr>
              <a:t>complétées</a:t>
            </a:r>
            <a:endParaRPr lang="en-GB" sz="2400" b="1" dirty="0">
              <a:solidFill>
                <a:srgbClr val="314462"/>
              </a:solidFill>
            </a:endParaRPr>
          </a:p>
          <a:p>
            <a:pPr marL="342900" indent="-342900"/>
            <a:r>
              <a:rPr lang="en-GB" sz="2400" dirty="0">
                <a:solidFill>
                  <a:srgbClr val="314462"/>
                </a:solidFill>
              </a:rPr>
              <a:t>Imputation </a:t>
            </a:r>
            <a:r>
              <a:rPr lang="en-GB" sz="2400" dirty="0" err="1">
                <a:solidFill>
                  <a:srgbClr val="314462"/>
                </a:solidFill>
              </a:rPr>
              <a:t>multivariée</a:t>
            </a:r>
            <a:endParaRPr lang="en-GB" sz="2400" dirty="0">
              <a:solidFill>
                <a:srgbClr val="314462"/>
              </a:solidFill>
            </a:endParaRPr>
          </a:p>
        </p:txBody>
      </p:sp>
      <p:graphicFrame>
        <p:nvGraphicFramePr>
          <p:cNvPr id="5" name="Tableau 4">
            <a:extLst>
              <a:ext uri="{FF2B5EF4-FFF2-40B4-BE49-F238E27FC236}">
                <a16:creationId xmlns:a16="http://schemas.microsoft.com/office/drawing/2014/main" id="{FE4DD587-CC26-E0ED-E5A8-38F7725F3622}"/>
              </a:ext>
            </a:extLst>
          </p:cNvPr>
          <p:cNvGraphicFramePr>
            <a:graphicFrameLocks noGrp="1"/>
          </p:cNvGraphicFramePr>
          <p:nvPr>
            <p:custDataLst>
              <p:tags r:id="rId5"/>
            </p:custDataLst>
            <p:extLst>
              <p:ext uri="{D42A27DB-BD31-4B8C-83A1-F6EECF244321}">
                <p14:modId xmlns:p14="http://schemas.microsoft.com/office/powerpoint/2010/main" val="3231399967"/>
              </p:ext>
            </p:extLst>
          </p:nvPr>
        </p:nvGraphicFramePr>
        <p:xfrm>
          <a:off x="6634261" y="2524450"/>
          <a:ext cx="3775676" cy="3362714"/>
        </p:xfrm>
        <a:graphic>
          <a:graphicData uri="http://schemas.openxmlformats.org/drawingml/2006/table">
            <a:tbl>
              <a:tblPr firstRow="1" bandRow="1">
                <a:tableStyleId>{073A0DAA-6AF3-43AB-8588-CEC1D06C72B9}</a:tableStyleId>
              </a:tblPr>
              <a:tblGrid>
                <a:gridCol w="943919">
                  <a:extLst>
                    <a:ext uri="{9D8B030D-6E8A-4147-A177-3AD203B41FA5}">
                      <a16:colId xmlns:a16="http://schemas.microsoft.com/office/drawing/2014/main" val="1019930272"/>
                    </a:ext>
                  </a:extLst>
                </a:gridCol>
                <a:gridCol w="943919">
                  <a:extLst>
                    <a:ext uri="{9D8B030D-6E8A-4147-A177-3AD203B41FA5}">
                      <a16:colId xmlns:a16="http://schemas.microsoft.com/office/drawing/2014/main" val="3997036391"/>
                    </a:ext>
                  </a:extLst>
                </a:gridCol>
                <a:gridCol w="943919">
                  <a:extLst>
                    <a:ext uri="{9D8B030D-6E8A-4147-A177-3AD203B41FA5}">
                      <a16:colId xmlns:a16="http://schemas.microsoft.com/office/drawing/2014/main" val="2548716720"/>
                    </a:ext>
                  </a:extLst>
                </a:gridCol>
                <a:gridCol w="943919">
                  <a:extLst>
                    <a:ext uri="{9D8B030D-6E8A-4147-A177-3AD203B41FA5}">
                      <a16:colId xmlns:a16="http://schemas.microsoft.com/office/drawing/2014/main" val="317121846"/>
                    </a:ext>
                  </a:extLst>
                </a:gridCol>
              </a:tblGrid>
              <a:tr h="530954">
                <a:tc>
                  <a:txBody>
                    <a:bodyPr/>
                    <a:lstStyle/>
                    <a:p>
                      <a:pPr algn="ctr" fontAlgn="b"/>
                      <a:r>
                        <a:rPr lang="fr-FR" sz="1600" u="none" strike="noStrike" dirty="0">
                          <a:effectLst/>
                        </a:rPr>
                        <a:t>Time</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Measured</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T_ext</a:t>
                      </a:r>
                      <a:r>
                        <a:rPr lang="fr-FR" sz="1600" u="none" strike="noStrike" dirty="0">
                          <a:effectLst/>
                        </a:rPr>
                        <a:t> (°C)</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Other</a:t>
                      </a:r>
                      <a:r>
                        <a:rPr lang="fr-FR" sz="1600" u="none" strike="noStrike" dirty="0">
                          <a:effectLst/>
                        </a:rPr>
                        <a:t> variables</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46000349"/>
                  </a:ext>
                </a:extLst>
              </a:tr>
              <a:tr h="283176">
                <a:tc>
                  <a:txBody>
                    <a:bodyPr/>
                    <a:lstStyle/>
                    <a:p>
                      <a:pPr algn="ctr" fontAlgn="b"/>
                      <a:r>
                        <a:rPr lang="fr-FR" sz="1600" u="none" strike="noStrike" dirty="0">
                          <a:effectLst/>
                        </a:rPr>
                        <a:t>00:00:00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17</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2</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87327440"/>
                  </a:ext>
                </a:extLst>
              </a:tr>
              <a:tr h="283176">
                <a:tc>
                  <a:txBody>
                    <a:bodyPr/>
                    <a:lstStyle/>
                    <a:p>
                      <a:pPr algn="ctr" fontAlgn="b"/>
                      <a:r>
                        <a:rPr lang="fr-FR" sz="1600" u="none" strike="noStrike">
                          <a:effectLst/>
                        </a:rPr>
                        <a:t>01:00:00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09143520"/>
                  </a:ext>
                </a:extLst>
              </a:tr>
              <a:tr h="283176">
                <a:tc>
                  <a:txBody>
                    <a:bodyPr/>
                    <a:lstStyle/>
                    <a:p>
                      <a:pPr algn="ctr" fontAlgn="b"/>
                      <a:r>
                        <a:rPr lang="fr-FR" sz="1600" u="none" strike="noStrike" dirty="0">
                          <a:effectLst/>
                        </a:rPr>
                        <a:t>02:00:00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13849221"/>
                  </a:ext>
                </a:extLst>
              </a:tr>
              <a:tr h="283176">
                <a:tc>
                  <a:txBody>
                    <a:bodyPr/>
                    <a:lstStyle/>
                    <a:p>
                      <a:pPr algn="ctr" fontAlgn="b"/>
                      <a:r>
                        <a:rPr lang="fr-FR" sz="1600" u="none" strike="noStrike">
                          <a:effectLst/>
                        </a:rPr>
                        <a:t>03:00:00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58274862"/>
                  </a:ext>
                </a:extLst>
              </a:tr>
              <a:tr h="283176">
                <a:tc>
                  <a:txBody>
                    <a:bodyPr/>
                    <a:lstStyle/>
                    <a:p>
                      <a:pPr algn="ctr" fontAlgn="b"/>
                      <a:r>
                        <a:rPr lang="fr-FR" sz="1600" u="none" strike="noStrike">
                          <a:effectLst/>
                        </a:rPr>
                        <a:t>04:00:00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11218620"/>
                  </a:ext>
                </a:extLst>
              </a:tr>
              <a:tr h="283176">
                <a:tc>
                  <a:txBody>
                    <a:bodyPr/>
                    <a:lstStyle/>
                    <a:p>
                      <a:pPr algn="ctr" fontAlgn="b"/>
                      <a:r>
                        <a:rPr lang="fr-FR" sz="1600" u="none" strike="noStrike">
                          <a:effectLst/>
                        </a:rPr>
                        <a:t>05:00:00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80589334"/>
                  </a:ext>
                </a:extLst>
              </a:tr>
              <a:tr h="283176">
                <a:tc>
                  <a:txBody>
                    <a:bodyPr/>
                    <a:lstStyle/>
                    <a:p>
                      <a:pPr algn="ctr" fontAlgn="b"/>
                      <a:r>
                        <a:rPr lang="fr-FR" sz="1600" u="none" strike="noStrike">
                          <a:effectLst/>
                        </a:rPr>
                        <a:t>06:00:00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28185491"/>
                  </a:ext>
                </a:extLst>
              </a:tr>
              <a:tr h="283176">
                <a:tc>
                  <a:txBody>
                    <a:bodyPr/>
                    <a:lstStyle/>
                    <a:p>
                      <a:pPr algn="ctr" fontAlgn="b"/>
                      <a:r>
                        <a:rPr lang="fr-FR" sz="1600" u="none" strike="noStrike">
                          <a:effectLst/>
                        </a:rPr>
                        <a:t>07:00:00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3</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9354025"/>
                  </a:ext>
                </a:extLst>
              </a:tr>
              <a:tr h="283176">
                <a:tc>
                  <a:txBody>
                    <a:bodyPr/>
                    <a:lstStyle/>
                    <a:p>
                      <a:pPr algn="ctr" fontAlgn="b"/>
                      <a:r>
                        <a:rPr lang="fr-FR" sz="1600" u="none" strike="noStrike">
                          <a:effectLst/>
                        </a:rPr>
                        <a:t>08:00:00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15</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4</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25826413"/>
                  </a:ext>
                </a:extLst>
              </a:tr>
              <a:tr h="283176">
                <a:tc>
                  <a:txBody>
                    <a:bodyPr/>
                    <a:lstStyle/>
                    <a:p>
                      <a:pPr algn="ctr" fontAlgn="b"/>
                      <a:r>
                        <a:rPr lang="fr-FR" sz="1600" u="none" strike="noStrike">
                          <a:effectLst/>
                        </a:rPr>
                        <a:t>09:00:00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13</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6</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0196675"/>
                  </a:ext>
                </a:extLst>
              </a:tr>
            </a:tbl>
          </a:graphicData>
        </a:graphic>
      </p:graphicFrame>
      <p:sp>
        <p:nvSpPr>
          <p:cNvPr id="8" name="Slide Number Placeholder 4">
            <a:extLst>
              <a:ext uri="{FF2B5EF4-FFF2-40B4-BE49-F238E27FC236}">
                <a16:creationId xmlns:a16="http://schemas.microsoft.com/office/drawing/2014/main" id="{062C29ED-E7E3-E17B-88C7-6BB4D2096850}"/>
              </a:ext>
            </a:extLst>
          </p:cNvPr>
          <p:cNvSpPr txBox="1">
            <a:spLocks/>
          </p:cNvSpPr>
          <p:nvPr>
            <p:custDataLst>
              <p:tags r:id="rId6"/>
            </p:custDataLst>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DC0E79ED-1749-40A6-AEBC-40F147B49735}" type="slidenum">
              <a:rPr lang="en-GB" smtClean="0"/>
              <a:pPr/>
              <a:t>31</a:t>
            </a:fld>
            <a:endParaRPr lang="en-GB" dirty="0"/>
          </a:p>
        </p:txBody>
      </p:sp>
      <p:sp>
        <p:nvSpPr>
          <p:cNvPr id="9" name="Title 1">
            <a:extLst>
              <a:ext uri="{FF2B5EF4-FFF2-40B4-BE49-F238E27FC236}">
                <a16:creationId xmlns:a16="http://schemas.microsoft.com/office/drawing/2014/main" id="{9D6EC806-6D54-7CE0-045E-105CD2A895C5}"/>
              </a:ext>
            </a:extLst>
          </p:cNvPr>
          <p:cNvSpPr txBox="1">
            <a:spLocks/>
          </p:cNvSpPr>
          <p:nvPr>
            <p:custDataLst>
              <p:tags r:id="rId7"/>
            </p:custDataLst>
          </p:nvPr>
        </p:nvSpPr>
        <p:spPr>
          <a:xfrm>
            <a:off x="167640" y="1828799"/>
            <a:ext cx="8808720" cy="477132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2800" dirty="0">
              <a:solidFill>
                <a:srgbClr val="314462"/>
              </a:solidFill>
            </a:endParaRPr>
          </a:p>
        </p:txBody>
      </p:sp>
      <p:cxnSp>
        <p:nvCxnSpPr>
          <p:cNvPr id="10" name="Straight Connector 10">
            <a:extLst>
              <a:ext uri="{FF2B5EF4-FFF2-40B4-BE49-F238E27FC236}">
                <a16:creationId xmlns:a16="http://schemas.microsoft.com/office/drawing/2014/main" id="{549248E7-BA86-6AE4-8B22-53EE90E15601}"/>
              </a:ext>
            </a:extLst>
          </p:cNvPr>
          <p:cNvCxnSpPr/>
          <p:nvPr>
            <p:custDataLst>
              <p:tags r:id="rId8"/>
            </p:custDataLst>
          </p:nvPr>
        </p:nvCxnSpPr>
        <p:spPr>
          <a:xfrm>
            <a:off x="0" y="940088"/>
            <a:ext cx="9144000" cy="0"/>
          </a:xfrm>
          <a:prstGeom prst="line">
            <a:avLst/>
          </a:prstGeom>
          <a:ln w="47625">
            <a:solidFill>
              <a:srgbClr val="495C6E"/>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74429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040819-BE3C-97BD-B028-2396DBEFFC98}"/>
              </a:ext>
            </a:extLst>
          </p:cNvPr>
          <p:cNvSpPr>
            <a:spLocks noGrp="1"/>
          </p:cNvSpPr>
          <p:nvPr>
            <p:ph type="title"/>
            <p:custDataLst>
              <p:tags r:id="rId2"/>
            </p:custDataLst>
          </p:nvPr>
        </p:nvSpPr>
        <p:spPr/>
        <p:txBody>
          <a:bodyPr/>
          <a:lstStyle/>
          <a:p>
            <a:r>
              <a:rPr lang="en-GB" dirty="0" err="1"/>
              <a:t>Méthodes</a:t>
            </a:r>
            <a:r>
              <a:rPr lang="en-GB" dirty="0"/>
              <a:t> </a:t>
            </a:r>
            <a:r>
              <a:rPr lang="en-GB" dirty="0" err="1"/>
              <a:t>d’ajustement</a:t>
            </a:r>
            <a:r>
              <a:rPr lang="en-GB" dirty="0"/>
              <a:t> de </a:t>
            </a:r>
            <a:r>
              <a:rPr lang="en-GB" dirty="0" err="1"/>
              <a:t>biais</a:t>
            </a:r>
            <a:endParaRPr lang="en-GB" dirty="0"/>
          </a:p>
        </p:txBody>
      </p:sp>
      <p:sp>
        <p:nvSpPr>
          <p:cNvPr id="3" name="Espace réservé du numéro de diapositive 2">
            <a:extLst>
              <a:ext uri="{FF2B5EF4-FFF2-40B4-BE49-F238E27FC236}">
                <a16:creationId xmlns:a16="http://schemas.microsoft.com/office/drawing/2014/main" id="{518773A1-5579-8E4D-AA25-044100F13021}"/>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17</a:t>
            </a:r>
          </a:p>
        </p:txBody>
      </p:sp>
      <p:sp>
        <p:nvSpPr>
          <p:cNvPr id="4" name="Espace réservé du texte 3">
            <a:extLst>
              <a:ext uri="{FF2B5EF4-FFF2-40B4-BE49-F238E27FC236}">
                <a16:creationId xmlns:a16="http://schemas.microsoft.com/office/drawing/2014/main" id="{19FD1E22-6B89-AF18-CA80-DC4E72EB6ED2}"/>
              </a:ext>
            </a:extLst>
          </p:cNvPr>
          <p:cNvSpPr>
            <a:spLocks noGrp="1"/>
          </p:cNvSpPr>
          <p:nvPr>
            <p:ph type="body" idx="1"/>
            <p:custDataLst>
              <p:tags r:id="rId4"/>
            </p:custDataLst>
          </p:nvPr>
        </p:nvSpPr>
        <p:spPr>
          <a:xfrm>
            <a:off x="296658" y="1222375"/>
            <a:ext cx="8445560" cy="5461000"/>
          </a:xfrm>
        </p:spPr>
        <p:txBody>
          <a:bodyPr/>
          <a:lstStyle/>
          <a:p>
            <a:pPr marL="76200" indent="0">
              <a:buNone/>
            </a:pPr>
            <a:r>
              <a:rPr lang="fr-FR" b="1" dirty="0">
                <a:solidFill>
                  <a:srgbClr val="FF0000"/>
                </a:solidFill>
              </a:rPr>
              <a:t>Pondération</a:t>
            </a:r>
            <a:r>
              <a:rPr lang="en-GB" sz="2400" b="1" dirty="0">
                <a:solidFill>
                  <a:srgbClr val="FF0000"/>
                </a:solidFill>
              </a:rPr>
              <a:t> </a:t>
            </a:r>
            <a:r>
              <a:rPr lang="en-GB" sz="2400" b="1" dirty="0">
                <a:solidFill>
                  <a:srgbClr val="314462"/>
                </a:solidFill>
              </a:rPr>
              <a:t>=&gt; </a:t>
            </a:r>
            <a:r>
              <a:rPr lang="en-GB" sz="2400" b="1" dirty="0" err="1">
                <a:solidFill>
                  <a:srgbClr val="314462"/>
                </a:solidFill>
              </a:rPr>
              <a:t>erreur</a:t>
            </a:r>
            <a:r>
              <a:rPr lang="en-GB" sz="2400" b="1" dirty="0">
                <a:solidFill>
                  <a:srgbClr val="314462"/>
                </a:solidFill>
              </a:rPr>
              <a:t> de validation </a:t>
            </a:r>
            <a:r>
              <a:rPr lang="en-GB" sz="2400" b="1" dirty="0" err="1">
                <a:solidFill>
                  <a:srgbClr val="314462"/>
                </a:solidFill>
              </a:rPr>
              <a:t>ajusté</a:t>
            </a:r>
            <a:endParaRPr lang="en-GB" sz="2400" b="1" dirty="0">
              <a:solidFill>
                <a:srgbClr val="314462"/>
              </a:solidFill>
            </a:endParaRPr>
          </a:p>
          <a:p>
            <a:pPr marL="342900" indent="-342900"/>
            <a:r>
              <a:rPr lang="en-GB" sz="2400" dirty="0">
                <a:solidFill>
                  <a:srgbClr val="002060"/>
                </a:solidFill>
              </a:rPr>
              <a:t>Cell weighting</a:t>
            </a:r>
          </a:p>
          <a:p>
            <a:pPr marL="342900" indent="-342900"/>
            <a:r>
              <a:rPr lang="en-GB" sz="2400" dirty="0">
                <a:solidFill>
                  <a:srgbClr val="002060"/>
                </a:solidFill>
              </a:rPr>
              <a:t>Raking weighting</a:t>
            </a:r>
          </a:p>
          <a:p>
            <a:endParaRPr lang="en-GB" sz="2400" dirty="0">
              <a:solidFill>
                <a:srgbClr val="314462"/>
              </a:solidFill>
            </a:endParaRPr>
          </a:p>
          <a:p>
            <a:pPr marL="76200" indent="0">
              <a:buNone/>
            </a:pPr>
            <a:r>
              <a:rPr lang="en-GB" sz="2400" b="1" dirty="0">
                <a:solidFill>
                  <a:srgbClr val="0070C0"/>
                </a:solidFill>
              </a:rPr>
              <a:t>Imputation</a:t>
            </a:r>
            <a:r>
              <a:rPr lang="en-GB" sz="2400" b="1" dirty="0">
                <a:solidFill>
                  <a:srgbClr val="314462"/>
                </a:solidFill>
              </a:rPr>
              <a:t> =&gt; données </a:t>
            </a:r>
            <a:r>
              <a:rPr lang="en-GB" sz="2400" b="1" dirty="0" err="1">
                <a:solidFill>
                  <a:srgbClr val="314462"/>
                </a:solidFill>
              </a:rPr>
              <a:t>complétées</a:t>
            </a:r>
            <a:endParaRPr lang="en-GB" sz="2400" b="1" dirty="0">
              <a:solidFill>
                <a:srgbClr val="314462"/>
              </a:solidFill>
            </a:endParaRPr>
          </a:p>
          <a:p>
            <a:pPr marL="342900" indent="-342900"/>
            <a:r>
              <a:rPr lang="en-GB" sz="2400" dirty="0">
                <a:solidFill>
                  <a:srgbClr val="314462"/>
                </a:solidFill>
              </a:rPr>
              <a:t>Imputation </a:t>
            </a:r>
            <a:r>
              <a:rPr lang="en-GB" sz="2400" dirty="0" err="1">
                <a:solidFill>
                  <a:srgbClr val="314462"/>
                </a:solidFill>
              </a:rPr>
              <a:t>multivariée</a:t>
            </a:r>
            <a:endParaRPr lang="en-GB" sz="2400" dirty="0">
              <a:solidFill>
                <a:srgbClr val="314462"/>
              </a:solidFill>
            </a:endParaRPr>
          </a:p>
        </p:txBody>
      </p:sp>
      <p:graphicFrame>
        <p:nvGraphicFramePr>
          <p:cNvPr id="5" name="Tableau 4">
            <a:extLst>
              <a:ext uri="{FF2B5EF4-FFF2-40B4-BE49-F238E27FC236}">
                <a16:creationId xmlns:a16="http://schemas.microsoft.com/office/drawing/2014/main" id="{FE4DD587-CC26-E0ED-E5A8-38F7725F3622}"/>
              </a:ext>
            </a:extLst>
          </p:cNvPr>
          <p:cNvGraphicFramePr>
            <a:graphicFrameLocks noGrp="1"/>
          </p:cNvGraphicFramePr>
          <p:nvPr>
            <p:custDataLst>
              <p:tags r:id="rId5"/>
            </p:custDataLst>
            <p:extLst>
              <p:ext uri="{D42A27DB-BD31-4B8C-83A1-F6EECF244321}">
                <p14:modId xmlns:p14="http://schemas.microsoft.com/office/powerpoint/2010/main" val="3231399967"/>
              </p:ext>
            </p:extLst>
          </p:nvPr>
        </p:nvGraphicFramePr>
        <p:xfrm>
          <a:off x="6634261" y="2524450"/>
          <a:ext cx="3775676" cy="3362714"/>
        </p:xfrm>
        <a:graphic>
          <a:graphicData uri="http://schemas.openxmlformats.org/drawingml/2006/table">
            <a:tbl>
              <a:tblPr firstRow="1" bandRow="1">
                <a:tableStyleId>{073A0DAA-6AF3-43AB-8588-CEC1D06C72B9}</a:tableStyleId>
              </a:tblPr>
              <a:tblGrid>
                <a:gridCol w="943919">
                  <a:extLst>
                    <a:ext uri="{9D8B030D-6E8A-4147-A177-3AD203B41FA5}">
                      <a16:colId xmlns:a16="http://schemas.microsoft.com/office/drawing/2014/main" val="1019930272"/>
                    </a:ext>
                  </a:extLst>
                </a:gridCol>
                <a:gridCol w="943919">
                  <a:extLst>
                    <a:ext uri="{9D8B030D-6E8A-4147-A177-3AD203B41FA5}">
                      <a16:colId xmlns:a16="http://schemas.microsoft.com/office/drawing/2014/main" val="3997036391"/>
                    </a:ext>
                  </a:extLst>
                </a:gridCol>
                <a:gridCol w="943919">
                  <a:extLst>
                    <a:ext uri="{9D8B030D-6E8A-4147-A177-3AD203B41FA5}">
                      <a16:colId xmlns:a16="http://schemas.microsoft.com/office/drawing/2014/main" val="2548716720"/>
                    </a:ext>
                  </a:extLst>
                </a:gridCol>
                <a:gridCol w="943919">
                  <a:extLst>
                    <a:ext uri="{9D8B030D-6E8A-4147-A177-3AD203B41FA5}">
                      <a16:colId xmlns:a16="http://schemas.microsoft.com/office/drawing/2014/main" val="317121846"/>
                    </a:ext>
                  </a:extLst>
                </a:gridCol>
              </a:tblGrid>
              <a:tr h="530954">
                <a:tc>
                  <a:txBody>
                    <a:bodyPr/>
                    <a:lstStyle/>
                    <a:p>
                      <a:pPr algn="ctr" fontAlgn="b"/>
                      <a:r>
                        <a:rPr lang="fr-FR" sz="1600" u="none" strike="noStrike" dirty="0">
                          <a:effectLst/>
                        </a:rPr>
                        <a:t>Time</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Measured</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T_ext</a:t>
                      </a:r>
                      <a:r>
                        <a:rPr lang="fr-FR" sz="1600" u="none" strike="noStrike" dirty="0">
                          <a:effectLst/>
                        </a:rPr>
                        <a:t> (°C)</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Other</a:t>
                      </a:r>
                      <a:r>
                        <a:rPr lang="fr-FR" sz="1600" u="none" strike="noStrike" dirty="0">
                          <a:effectLst/>
                        </a:rPr>
                        <a:t> variables</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46000349"/>
                  </a:ext>
                </a:extLst>
              </a:tr>
              <a:tr h="283176">
                <a:tc>
                  <a:txBody>
                    <a:bodyPr/>
                    <a:lstStyle/>
                    <a:p>
                      <a:pPr algn="ctr" fontAlgn="b"/>
                      <a:r>
                        <a:rPr lang="fr-FR" sz="1600" u="none" strike="noStrike" dirty="0">
                          <a:effectLst/>
                        </a:rPr>
                        <a:t>00:00:00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17</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2</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87327440"/>
                  </a:ext>
                </a:extLst>
              </a:tr>
              <a:tr h="283176">
                <a:tc>
                  <a:txBody>
                    <a:bodyPr/>
                    <a:lstStyle/>
                    <a:p>
                      <a:pPr algn="ctr" fontAlgn="b"/>
                      <a:r>
                        <a:rPr lang="fr-FR" sz="1600" u="none" strike="noStrike">
                          <a:effectLst/>
                        </a:rPr>
                        <a:t>01:00:00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09143520"/>
                  </a:ext>
                </a:extLst>
              </a:tr>
              <a:tr h="283176">
                <a:tc>
                  <a:txBody>
                    <a:bodyPr/>
                    <a:lstStyle/>
                    <a:p>
                      <a:pPr algn="ctr" fontAlgn="b"/>
                      <a:r>
                        <a:rPr lang="fr-FR" sz="1600" u="none" strike="noStrike" dirty="0">
                          <a:effectLst/>
                        </a:rPr>
                        <a:t>02:00:00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13849221"/>
                  </a:ext>
                </a:extLst>
              </a:tr>
              <a:tr h="283176">
                <a:tc>
                  <a:txBody>
                    <a:bodyPr/>
                    <a:lstStyle/>
                    <a:p>
                      <a:pPr algn="ctr" fontAlgn="b"/>
                      <a:r>
                        <a:rPr lang="fr-FR" sz="1600" u="none" strike="noStrike">
                          <a:effectLst/>
                        </a:rPr>
                        <a:t>03:00:00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58274862"/>
                  </a:ext>
                </a:extLst>
              </a:tr>
              <a:tr h="283176">
                <a:tc>
                  <a:txBody>
                    <a:bodyPr/>
                    <a:lstStyle/>
                    <a:p>
                      <a:pPr algn="ctr" fontAlgn="b"/>
                      <a:r>
                        <a:rPr lang="fr-FR" sz="1600" u="none" strike="noStrike">
                          <a:effectLst/>
                        </a:rPr>
                        <a:t>04:00:00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11218620"/>
                  </a:ext>
                </a:extLst>
              </a:tr>
              <a:tr h="283176">
                <a:tc>
                  <a:txBody>
                    <a:bodyPr/>
                    <a:lstStyle/>
                    <a:p>
                      <a:pPr algn="ctr" fontAlgn="b"/>
                      <a:r>
                        <a:rPr lang="fr-FR" sz="1600" u="none" strike="noStrike">
                          <a:effectLst/>
                        </a:rPr>
                        <a:t>05:00:00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80589334"/>
                  </a:ext>
                </a:extLst>
              </a:tr>
              <a:tr h="283176">
                <a:tc>
                  <a:txBody>
                    <a:bodyPr/>
                    <a:lstStyle/>
                    <a:p>
                      <a:pPr algn="ctr" fontAlgn="b"/>
                      <a:r>
                        <a:rPr lang="fr-FR" sz="1600" u="none" strike="noStrike">
                          <a:effectLst/>
                        </a:rPr>
                        <a:t>06:00:00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28185491"/>
                  </a:ext>
                </a:extLst>
              </a:tr>
              <a:tr h="283176">
                <a:tc>
                  <a:txBody>
                    <a:bodyPr/>
                    <a:lstStyle/>
                    <a:p>
                      <a:pPr algn="ctr" fontAlgn="b"/>
                      <a:r>
                        <a:rPr lang="fr-FR" sz="1600" u="none" strike="noStrike">
                          <a:effectLst/>
                        </a:rPr>
                        <a:t>07:00:00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3</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9354025"/>
                  </a:ext>
                </a:extLst>
              </a:tr>
              <a:tr h="283176">
                <a:tc>
                  <a:txBody>
                    <a:bodyPr/>
                    <a:lstStyle/>
                    <a:p>
                      <a:pPr algn="ctr" fontAlgn="b"/>
                      <a:r>
                        <a:rPr lang="fr-FR" sz="1600" u="none" strike="noStrike">
                          <a:effectLst/>
                        </a:rPr>
                        <a:t>08:00:00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15</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4</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25826413"/>
                  </a:ext>
                </a:extLst>
              </a:tr>
              <a:tr h="283176">
                <a:tc>
                  <a:txBody>
                    <a:bodyPr/>
                    <a:lstStyle/>
                    <a:p>
                      <a:pPr algn="ctr" fontAlgn="b"/>
                      <a:r>
                        <a:rPr lang="fr-FR" sz="1600" u="none" strike="noStrike">
                          <a:effectLst/>
                        </a:rPr>
                        <a:t>09:00:00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13</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6</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0196675"/>
                  </a:ext>
                </a:extLst>
              </a:tr>
            </a:tbl>
          </a:graphicData>
        </a:graphic>
      </p:graphicFrame>
      <p:sp>
        <p:nvSpPr>
          <p:cNvPr id="8" name="Slide Number Placeholder 4">
            <a:extLst>
              <a:ext uri="{FF2B5EF4-FFF2-40B4-BE49-F238E27FC236}">
                <a16:creationId xmlns:a16="http://schemas.microsoft.com/office/drawing/2014/main" id="{062C29ED-E7E3-E17B-88C7-6BB4D2096850}"/>
              </a:ext>
            </a:extLst>
          </p:cNvPr>
          <p:cNvSpPr txBox="1">
            <a:spLocks/>
          </p:cNvSpPr>
          <p:nvPr>
            <p:custDataLst>
              <p:tags r:id="rId6"/>
            </p:custDataLst>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DC0E79ED-1749-40A6-AEBC-40F147B49735}" type="slidenum">
              <a:rPr lang="en-GB" smtClean="0"/>
              <a:pPr/>
              <a:t>32</a:t>
            </a:fld>
            <a:endParaRPr lang="en-GB" dirty="0"/>
          </a:p>
        </p:txBody>
      </p:sp>
      <p:sp>
        <p:nvSpPr>
          <p:cNvPr id="9" name="Title 1">
            <a:extLst>
              <a:ext uri="{FF2B5EF4-FFF2-40B4-BE49-F238E27FC236}">
                <a16:creationId xmlns:a16="http://schemas.microsoft.com/office/drawing/2014/main" id="{9D6EC806-6D54-7CE0-045E-105CD2A895C5}"/>
              </a:ext>
            </a:extLst>
          </p:cNvPr>
          <p:cNvSpPr txBox="1">
            <a:spLocks/>
          </p:cNvSpPr>
          <p:nvPr>
            <p:custDataLst>
              <p:tags r:id="rId7"/>
            </p:custDataLst>
          </p:nvPr>
        </p:nvSpPr>
        <p:spPr>
          <a:xfrm>
            <a:off x="167640" y="1828799"/>
            <a:ext cx="8808720" cy="477132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2800" dirty="0">
              <a:solidFill>
                <a:srgbClr val="314462"/>
              </a:solidFill>
            </a:endParaRPr>
          </a:p>
        </p:txBody>
      </p:sp>
      <p:cxnSp>
        <p:nvCxnSpPr>
          <p:cNvPr id="10" name="Straight Connector 10">
            <a:extLst>
              <a:ext uri="{FF2B5EF4-FFF2-40B4-BE49-F238E27FC236}">
                <a16:creationId xmlns:a16="http://schemas.microsoft.com/office/drawing/2014/main" id="{549248E7-BA86-6AE4-8B22-53EE90E15601}"/>
              </a:ext>
            </a:extLst>
          </p:cNvPr>
          <p:cNvCxnSpPr/>
          <p:nvPr>
            <p:custDataLst>
              <p:tags r:id="rId8"/>
            </p:custDataLst>
          </p:nvPr>
        </p:nvCxnSpPr>
        <p:spPr>
          <a:xfrm>
            <a:off x="0" y="940088"/>
            <a:ext cx="9144000" cy="0"/>
          </a:xfrm>
          <a:prstGeom prst="line">
            <a:avLst/>
          </a:prstGeom>
          <a:ln w="47625">
            <a:solidFill>
              <a:srgbClr val="495C6E"/>
            </a:solidFill>
          </a:ln>
        </p:spPr>
        <p:style>
          <a:lnRef idx="1">
            <a:schemeClr val="accent1"/>
          </a:lnRef>
          <a:fillRef idx="0">
            <a:schemeClr val="accent1"/>
          </a:fillRef>
          <a:effectRef idx="0">
            <a:schemeClr val="accent1"/>
          </a:effectRef>
          <a:fontRef idx="minor">
            <a:schemeClr val="tx1"/>
          </a:fontRef>
        </p:style>
      </p:cxnSp>
      <p:graphicFrame>
        <p:nvGraphicFramePr>
          <p:cNvPr id="14" name="Tableau 13">
            <a:extLst>
              <a:ext uri="{FF2B5EF4-FFF2-40B4-BE49-F238E27FC236}">
                <a16:creationId xmlns:a16="http://schemas.microsoft.com/office/drawing/2014/main" id="{311DCBB5-9643-EB8C-435E-B61C3860638C}"/>
              </a:ext>
            </a:extLst>
          </p:cNvPr>
          <p:cNvGraphicFramePr>
            <a:graphicFrameLocks noGrp="1"/>
          </p:cNvGraphicFramePr>
          <p:nvPr>
            <p:custDataLst>
              <p:tags r:id="rId9"/>
            </p:custDataLst>
            <p:extLst>
              <p:ext uri="{D42A27DB-BD31-4B8C-83A1-F6EECF244321}">
                <p14:modId xmlns:p14="http://schemas.microsoft.com/office/powerpoint/2010/main" val="2838309892"/>
              </p:ext>
            </p:extLst>
          </p:nvPr>
        </p:nvGraphicFramePr>
        <p:xfrm>
          <a:off x="6634261" y="2524450"/>
          <a:ext cx="3775676" cy="3362714"/>
        </p:xfrm>
        <a:graphic>
          <a:graphicData uri="http://schemas.openxmlformats.org/drawingml/2006/table">
            <a:tbl>
              <a:tblPr firstRow="1" bandRow="1">
                <a:tableStyleId>{073A0DAA-6AF3-43AB-8588-CEC1D06C72B9}</a:tableStyleId>
              </a:tblPr>
              <a:tblGrid>
                <a:gridCol w="943919">
                  <a:extLst>
                    <a:ext uri="{9D8B030D-6E8A-4147-A177-3AD203B41FA5}">
                      <a16:colId xmlns:a16="http://schemas.microsoft.com/office/drawing/2014/main" val="1019930272"/>
                    </a:ext>
                  </a:extLst>
                </a:gridCol>
                <a:gridCol w="943919">
                  <a:extLst>
                    <a:ext uri="{9D8B030D-6E8A-4147-A177-3AD203B41FA5}">
                      <a16:colId xmlns:a16="http://schemas.microsoft.com/office/drawing/2014/main" val="3997036391"/>
                    </a:ext>
                  </a:extLst>
                </a:gridCol>
                <a:gridCol w="943919">
                  <a:extLst>
                    <a:ext uri="{9D8B030D-6E8A-4147-A177-3AD203B41FA5}">
                      <a16:colId xmlns:a16="http://schemas.microsoft.com/office/drawing/2014/main" val="2548716720"/>
                    </a:ext>
                  </a:extLst>
                </a:gridCol>
                <a:gridCol w="943919">
                  <a:extLst>
                    <a:ext uri="{9D8B030D-6E8A-4147-A177-3AD203B41FA5}">
                      <a16:colId xmlns:a16="http://schemas.microsoft.com/office/drawing/2014/main" val="317121846"/>
                    </a:ext>
                  </a:extLst>
                </a:gridCol>
              </a:tblGrid>
              <a:tr h="530954">
                <a:tc>
                  <a:txBody>
                    <a:bodyPr/>
                    <a:lstStyle/>
                    <a:p>
                      <a:pPr algn="ctr" fontAlgn="b"/>
                      <a:r>
                        <a:rPr lang="fr-FR" sz="1600" u="none" strike="noStrike" dirty="0">
                          <a:effectLst/>
                        </a:rPr>
                        <a:t>Time</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Measured</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T_ext</a:t>
                      </a:r>
                      <a:r>
                        <a:rPr lang="fr-FR" sz="1600" u="none" strike="noStrike" dirty="0">
                          <a:effectLst/>
                        </a:rPr>
                        <a:t> (°C)</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Other</a:t>
                      </a:r>
                      <a:r>
                        <a:rPr lang="fr-FR" sz="1600" u="none" strike="noStrike" dirty="0">
                          <a:effectLst/>
                        </a:rPr>
                        <a:t> variables</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46000349"/>
                  </a:ext>
                </a:extLst>
              </a:tr>
              <a:tr h="283176">
                <a:tc>
                  <a:txBody>
                    <a:bodyPr/>
                    <a:lstStyle/>
                    <a:p>
                      <a:pPr algn="ctr" fontAlgn="b"/>
                      <a:r>
                        <a:rPr lang="fr-FR" sz="1600" u="none" strike="noStrike" dirty="0">
                          <a:effectLst/>
                        </a:rPr>
                        <a:t>00:00:00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17</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2</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87327440"/>
                  </a:ext>
                </a:extLst>
              </a:tr>
              <a:tr h="283176">
                <a:tc>
                  <a:txBody>
                    <a:bodyPr/>
                    <a:lstStyle/>
                    <a:p>
                      <a:pPr algn="ctr" fontAlgn="b"/>
                      <a:r>
                        <a:rPr lang="fr-FR" sz="1600" u="none" strike="noStrike">
                          <a:effectLst/>
                        </a:rPr>
                        <a:t>01:00:00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b="0" i="0" u="none" strike="noStrike" dirty="0">
                          <a:solidFill>
                            <a:srgbClr val="0070C0"/>
                          </a:solidFill>
                          <a:effectLst/>
                          <a:latin typeface="Calibri" panose="020F0502020204030204" pitchFamily="34" charset="0"/>
                        </a:rPr>
                        <a:t>17</a:t>
                      </a: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09143520"/>
                  </a:ext>
                </a:extLst>
              </a:tr>
              <a:tr h="283176">
                <a:tc>
                  <a:txBody>
                    <a:bodyPr/>
                    <a:lstStyle/>
                    <a:p>
                      <a:pPr algn="ctr" fontAlgn="b"/>
                      <a:r>
                        <a:rPr lang="fr-FR" sz="1600" u="none" strike="noStrike" dirty="0">
                          <a:effectLst/>
                        </a:rPr>
                        <a:t>02:00:00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b="0" i="0" u="none" strike="noStrike" dirty="0">
                          <a:solidFill>
                            <a:srgbClr val="0070C0"/>
                          </a:solidFill>
                          <a:effectLst/>
                          <a:latin typeface="Calibri" panose="020F0502020204030204" pitchFamily="34" charset="0"/>
                        </a:rPr>
                        <a:t>17</a:t>
                      </a: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13849221"/>
                  </a:ext>
                </a:extLst>
              </a:tr>
              <a:tr h="283176">
                <a:tc>
                  <a:txBody>
                    <a:bodyPr/>
                    <a:lstStyle/>
                    <a:p>
                      <a:pPr algn="ctr" fontAlgn="b"/>
                      <a:r>
                        <a:rPr lang="fr-FR" sz="1600" u="none" strike="noStrike">
                          <a:effectLst/>
                        </a:rPr>
                        <a:t>03:00:00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58274862"/>
                  </a:ext>
                </a:extLst>
              </a:tr>
              <a:tr h="283176">
                <a:tc>
                  <a:txBody>
                    <a:bodyPr/>
                    <a:lstStyle/>
                    <a:p>
                      <a:pPr algn="ctr" fontAlgn="b"/>
                      <a:r>
                        <a:rPr lang="fr-FR" sz="1600" u="none" strike="noStrike">
                          <a:effectLst/>
                        </a:rPr>
                        <a:t>04:00:00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11218620"/>
                  </a:ext>
                </a:extLst>
              </a:tr>
              <a:tr h="283176">
                <a:tc>
                  <a:txBody>
                    <a:bodyPr/>
                    <a:lstStyle/>
                    <a:p>
                      <a:pPr algn="ctr" fontAlgn="b"/>
                      <a:r>
                        <a:rPr lang="fr-FR" sz="1600" u="none" strike="noStrike">
                          <a:effectLst/>
                        </a:rPr>
                        <a:t>05:00:00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b="0" i="0" u="none" strike="noStrike" dirty="0">
                          <a:solidFill>
                            <a:srgbClr val="0070C0"/>
                          </a:solidFill>
                          <a:effectLst/>
                          <a:latin typeface="Calibri" panose="020F0502020204030204" pitchFamily="34" charset="0"/>
                        </a:rPr>
                        <a:t>18</a:t>
                      </a: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80589334"/>
                  </a:ext>
                </a:extLst>
              </a:tr>
              <a:tr h="283176">
                <a:tc>
                  <a:txBody>
                    <a:bodyPr/>
                    <a:lstStyle/>
                    <a:p>
                      <a:pPr algn="ctr" fontAlgn="b"/>
                      <a:r>
                        <a:rPr lang="fr-FR" sz="1600" u="none" strike="noStrike">
                          <a:effectLst/>
                        </a:rPr>
                        <a:t>06:00:00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b="0" i="0" u="none" strike="noStrike" dirty="0">
                          <a:solidFill>
                            <a:srgbClr val="0070C0"/>
                          </a:solidFill>
                          <a:effectLst/>
                          <a:latin typeface="Calibri" panose="020F0502020204030204" pitchFamily="34" charset="0"/>
                        </a:rPr>
                        <a:t>19</a:t>
                      </a:r>
                    </a:p>
                  </a:txBody>
                  <a:tcPr marL="7620" marR="7620" marT="7620" marB="0" anchor="ctr"/>
                </a:tc>
                <a:tc>
                  <a:txBody>
                    <a:bodyPr/>
                    <a:lstStyle/>
                    <a:p>
                      <a:pPr algn="ctr" fontAlgn="b"/>
                      <a:r>
                        <a:rPr lang="fr-FR" sz="1600" u="none" strike="noStrike" dirty="0">
                          <a:effectLst/>
                        </a:rPr>
                        <a:t>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28185491"/>
                  </a:ext>
                </a:extLst>
              </a:tr>
              <a:tr h="283176">
                <a:tc>
                  <a:txBody>
                    <a:bodyPr/>
                    <a:lstStyle/>
                    <a:p>
                      <a:pPr algn="ctr" fontAlgn="b"/>
                      <a:r>
                        <a:rPr lang="fr-FR" sz="1600" u="none" strike="noStrike">
                          <a:effectLst/>
                        </a:rPr>
                        <a:t>07:00:00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b="0" i="0" u="none" strike="noStrike" dirty="0">
                          <a:solidFill>
                            <a:srgbClr val="0070C0"/>
                          </a:solidFill>
                          <a:effectLst/>
                          <a:latin typeface="Calibri" panose="020F0502020204030204" pitchFamily="34" charset="0"/>
                        </a:rPr>
                        <a:t>16</a:t>
                      </a:r>
                    </a:p>
                  </a:txBody>
                  <a:tcPr marL="7620" marR="7620" marT="7620" marB="0" anchor="ctr"/>
                </a:tc>
                <a:tc>
                  <a:txBody>
                    <a:bodyPr/>
                    <a:lstStyle/>
                    <a:p>
                      <a:pPr algn="ctr" fontAlgn="b"/>
                      <a:r>
                        <a:rPr lang="fr-FR" sz="1600" u="none" strike="noStrike" dirty="0">
                          <a:effectLst/>
                        </a:rPr>
                        <a:t>3</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9354025"/>
                  </a:ext>
                </a:extLst>
              </a:tr>
              <a:tr h="283176">
                <a:tc>
                  <a:txBody>
                    <a:bodyPr/>
                    <a:lstStyle/>
                    <a:p>
                      <a:pPr algn="ctr" fontAlgn="b"/>
                      <a:r>
                        <a:rPr lang="fr-FR" sz="1600" u="none" strike="noStrike">
                          <a:effectLst/>
                        </a:rPr>
                        <a:t>08:00:00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15</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4</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25826413"/>
                  </a:ext>
                </a:extLst>
              </a:tr>
              <a:tr h="283176">
                <a:tc>
                  <a:txBody>
                    <a:bodyPr/>
                    <a:lstStyle/>
                    <a:p>
                      <a:pPr algn="ctr" fontAlgn="b"/>
                      <a:r>
                        <a:rPr lang="fr-FR" sz="1600" u="none" strike="noStrike">
                          <a:effectLst/>
                        </a:rPr>
                        <a:t>09:00:00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13</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6</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0196675"/>
                  </a:ext>
                </a:extLst>
              </a:tr>
            </a:tbl>
          </a:graphicData>
        </a:graphic>
      </p:graphicFrame>
    </p:spTree>
    <p:custDataLst>
      <p:tags r:id="rId1"/>
    </p:custDataLst>
    <p:extLst>
      <p:ext uri="{BB962C8B-B14F-4D97-AF65-F5344CB8AC3E}">
        <p14:creationId xmlns:p14="http://schemas.microsoft.com/office/powerpoint/2010/main" val="20075943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040819-BE3C-97BD-B028-2396DBEFFC98}"/>
              </a:ext>
            </a:extLst>
          </p:cNvPr>
          <p:cNvSpPr>
            <a:spLocks noGrp="1"/>
          </p:cNvSpPr>
          <p:nvPr>
            <p:ph type="title"/>
            <p:custDataLst>
              <p:tags r:id="rId2"/>
            </p:custDataLst>
          </p:nvPr>
        </p:nvSpPr>
        <p:spPr/>
        <p:txBody>
          <a:bodyPr/>
          <a:lstStyle/>
          <a:p>
            <a:r>
              <a:rPr lang="en-GB" dirty="0" err="1"/>
              <a:t>Méthodes</a:t>
            </a:r>
            <a:r>
              <a:rPr lang="en-GB" dirty="0"/>
              <a:t> </a:t>
            </a:r>
            <a:r>
              <a:rPr lang="en-GB" dirty="0" err="1"/>
              <a:t>d’ajustement</a:t>
            </a:r>
            <a:r>
              <a:rPr lang="en-GB" dirty="0"/>
              <a:t> de </a:t>
            </a:r>
            <a:r>
              <a:rPr lang="en-GB" dirty="0" err="1"/>
              <a:t>biais</a:t>
            </a:r>
            <a:endParaRPr lang="en-GB" dirty="0"/>
          </a:p>
        </p:txBody>
      </p:sp>
      <p:sp>
        <p:nvSpPr>
          <p:cNvPr id="3" name="Espace réservé du numéro de diapositive 2">
            <a:extLst>
              <a:ext uri="{FF2B5EF4-FFF2-40B4-BE49-F238E27FC236}">
                <a16:creationId xmlns:a16="http://schemas.microsoft.com/office/drawing/2014/main" id="{518773A1-5579-8E4D-AA25-044100F13021}"/>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17</a:t>
            </a:r>
          </a:p>
        </p:txBody>
      </p:sp>
      <p:sp>
        <p:nvSpPr>
          <p:cNvPr id="4" name="Espace réservé du texte 3">
            <a:extLst>
              <a:ext uri="{FF2B5EF4-FFF2-40B4-BE49-F238E27FC236}">
                <a16:creationId xmlns:a16="http://schemas.microsoft.com/office/drawing/2014/main" id="{19FD1E22-6B89-AF18-CA80-DC4E72EB6ED2}"/>
              </a:ext>
            </a:extLst>
          </p:cNvPr>
          <p:cNvSpPr>
            <a:spLocks noGrp="1"/>
          </p:cNvSpPr>
          <p:nvPr>
            <p:ph type="body" idx="1"/>
            <p:custDataLst>
              <p:tags r:id="rId4"/>
            </p:custDataLst>
          </p:nvPr>
        </p:nvSpPr>
        <p:spPr>
          <a:xfrm>
            <a:off x="296658" y="1222375"/>
            <a:ext cx="8445560" cy="5461000"/>
          </a:xfrm>
        </p:spPr>
        <p:txBody>
          <a:bodyPr/>
          <a:lstStyle/>
          <a:p>
            <a:pPr marL="76200" indent="0">
              <a:buNone/>
            </a:pPr>
            <a:r>
              <a:rPr lang="fr-FR" b="1" dirty="0">
                <a:solidFill>
                  <a:srgbClr val="FF0000"/>
                </a:solidFill>
              </a:rPr>
              <a:t>Pondération</a:t>
            </a:r>
            <a:r>
              <a:rPr lang="en-GB" sz="2400" b="1" dirty="0">
                <a:solidFill>
                  <a:srgbClr val="FF0000"/>
                </a:solidFill>
              </a:rPr>
              <a:t> </a:t>
            </a:r>
            <a:r>
              <a:rPr lang="en-GB" sz="2400" b="1" dirty="0">
                <a:solidFill>
                  <a:srgbClr val="314462"/>
                </a:solidFill>
              </a:rPr>
              <a:t>=&gt; </a:t>
            </a:r>
            <a:r>
              <a:rPr lang="en-GB" sz="2400" b="1" dirty="0" err="1">
                <a:solidFill>
                  <a:srgbClr val="314462"/>
                </a:solidFill>
              </a:rPr>
              <a:t>erreur</a:t>
            </a:r>
            <a:r>
              <a:rPr lang="en-GB" sz="2400" b="1" dirty="0">
                <a:solidFill>
                  <a:srgbClr val="314462"/>
                </a:solidFill>
              </a:rPr>
              <a:t> de validation </a:t>
            </a:r>
            <a:r>
              <a:rPr lang="en-GB" sz="2400" b="1" dirty="0" err="1">
                <a:solidFill>
                  <a:srgbClr val="314462"/>
                </a:solidFill>
              </a:rPr>
              <a:t>ajusté</a:t>
            </a:r>
            <a:endParaRPr lang="en-GB" sz="2400" b="1" dirty="0">
              <a:solidFill>
                <a:srgbClr val="314462"/>
              </a:solidFill>
            </a:endParaRPr>
          </a:p>
          <a:p>
            <a:pPr marL="342900" indent="-342900"/>
            <a:r>
              <a:rPr lang="en-GB" sz="2400" dirty="0">
                <a:solidFill>
                  <a:srgbClr val="002060"/>
                </a:solidFill>
              </a:rPr>
              <a:t>Cell weighting</a:t>
            </a:r>
          </a:p>
          <a:p>
            <a:pPr marL="342900" indent="-342900"/>
            <a:r>
              <a:rPr lang="en-GB" sz="2400" dirty="0">
                <a:solidFill>
                  <a:srgbClr val="002060"/>
                </a:solidFill>
              </a:rPr>
              <a:t>Raking weighting</a:t>
            </a:r>
          </a:p>
          <a:p>
            <a:endParaRPr lang="en-GB" sz="2400" dirty="0">
              <a:solidFill>
                <a:srgbClr val="314462"/>
              </a:solidFill>
            </a:endParaRPr>
          </a:p>
          <a:p>
            <a:pPr marL="76200" indent="0">
              <a:buNone/>
            </a:pPr>
            <a:r>
              <a:rPr lang="en-GB" sz="2400" b="1" dirty="0">
                <a:solidFill>
                  <a:srgbClr val="0070C0"/>
                </a:solidFill>
              </a:rPr>
              <a:t>Imputation</a:t>
            </a:r>
            <a:r>
              <a:rPr lang="en-GB" sz="2400" b="1" dirty="0">
                <a:solidFill>
                  <a:srgbClr val="314462"/>
                </a:solidFill>
              </a:rPr>
              <a:t> =&gt; données </a:t>
            </a:r>
            <a:r>
              <a:rPr lang="en-GB" sz="2400" b="1" dirty="0" err="1">
                <a:solidFill>
                  <a:srgbClr val="314462"/>
                </a:solidFill>
              </a:rPr>
              <a:t>complétées</a:t>
            </a:r>
            <a:endParaRPr lang="en-GB" sz="2400" b="1" dirty="0">
              <a:solidFill>
                <a:srgbClr val="314462"/>
              </a:solidFill>
            </a:endParaRPr>
          </a:p>
          <a:p>
            <a:pPr marL="342900" indent="-342900"/>
            <a:r>
              <a:rPr lang="en-GB" sz="2400" dirty="0">
                <a:solidFill>
                  <a:srgbClr val="314462"/>
                </a:solidFill>
              </a:rPr>
              <a:t>Imputation </a:t>
            </a:r>
            <a:r>
              <a:rPr lang="en-GB" sz="2400" dirty="0" err="1">
                <a:solidFill>
                  <a:srgbClr val="314462"/>
                </a:solidFill>
              </a:rPr>
              <a:t>multivariée</a:t>
            </a:r>
            <a:endParaRPr lang="en-GB" sz="2400" dirty="0">
              <a:solidFill>
                <a:srgbClr val="314462"/>
              </a:solidFill>
            </a:endParaRPr>
          </a:p>
        </p:txBody>
      </p:sp>
      <p:graphicFrame>
        <p:nvGraphicFramePr>
          <p:cNvPr id="5" name="Tableau 4">
            <a:extLst>
              <a:ext uri="{FF2B5EF4-FFF2-40B4-BE49-F238E27FC236}">
                <a16:creationId xmlns:a16="http://schemas.microsoft.com/office/drawing/2014/main" id="{FE4DD587-CC26-E0ED-E5A8-38F7725F3622}"/>
              </a:ext>
            </a:extLst>
          </p:cNvPr>
          <p:cNvGraphicFramePr>
            <a:graphicFrameLocks noGrp="1"/>
          </p:cNvGraphicFramePr>
          <p:nvPr>
            <p:custDataLst>
              <p:tags r:id="rId5"/>
            </p:custDataLst>
            <p:extLst>
              <p:ext uri="{D42A27DB-BD31-4B8C-83A1-F6EECF244321}">
                <p14:modId xmlns:p14="http://schemas.microsoft.com/office/powerpoint/2010/main" val="3231399967"/>
              </p:ext>
            </p:extLst>
          </p:nvPr>
        </p:nvGraphicFramePr>
        <p:xfrm>
          <a:off x="6634261" y="2524450"/>
          <a:ext cx="3775676" cy="3362714"/>
        </p:xfrm>
        <a:graphic>
          <a:graphicData uri="http://schemas.openxmlformats.org/drawingml/2006/table">
            <a:tbl>
              <a:tblPr firstRow="1" bandRow="1">
                <a:tableStyleId>{073A0DAA-6AF3-43AB-8588-CEC1D06C72B9}</a:tableStyleId>
              </a:tblPr>
              <a:tblGrid>
                <a:gridCol w="943919">
                  <a:extLst>
                    <a:ext uri="{9D8B030D-6E8A-4147-A177-3AD203B41FA5}">
                      <a16:colId xmlns:a16="http://schemas.microsoft.com/office/drawing/2014/main" val="1019930272"/>
                    </a:ext>
                  </a:extLst>
                </a:gridCol>
                <a:gridCol w="943919">
                  <a:extLst>
                    <a:ext uri="{9D8B030D-6E8A-4147-A177-3AD203B41FA5}">
                      <a16:colId xmlns:a16="http://schemas.microsoft.com/office/drawing/2014/main" val="3997036391"/>
                    </a:ext>
                  </a:extLst>
                </a:gridCol>
                <a:gridCol w="943919">
                  <a:extLst>
                    <a:ext uri="{9D8B030D-6E8A-4147-A177-3AD203B41FA5}">
                      <a16:colId xmlns:a16="http://schemas.microsoft.com/office/drawing/2014/main" val="2548716720"/>
                    </a:ext>
                  </a:extLst>
                </a:gridCol>
                <a:gridCol w="943919">
                  <a:extLst>
                    <a:ext uri="{9D8B030D-6E8A-4147-A177-3AD203B41FA5}">
                      <a16:colId xmlns:a16="http://schemas.microsoft.com/office/drawing/2014/main" val="317121846"/>
                    </a:ext>
                  </a:extLst>
                </a:gridCol>
              </a:tblGrid>
              <a:tr h="530954">
                <a:tc>
                  <a:txBody>
                    <a:bodyPr/>
                    <a:lstStyle/>
                    <a:p>
                      <a:pPr algn="ctr" fontAlgn="b"/>
                      <a:r>
                        <a:rPr lang="fr-FR" sz="1600" u="none" strike="noStrike" dirty="0">
                          <a:effectLst/>
                        </a:rPr>
                        <a:t>Time</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Measured</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T_ext</a:t>
                      </a:r>
                      <a:r>
                        <a:rPr lang="fr-FR" sz="1600" u="none" strike="noStrike" dirty="0">
                          <a:effectLst/>
                        </a:rPr>
                        <a:t> (°C)</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Other</a:t>
                      </a:r>
                      <a:r>
                        <a:rPr lang="fr-FR" sz="1600" u="none" strike="noStrike" dirty="0">
                          <a:effectLst/>
                        </a:rPr>
                        <a:t> variables</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46000349"/>
                  </a:ext>
                </a:extLst>
              </a:tr>
              <a:tr h="283176">
                <a:tc>
                  <a:txBody>
                    <a:bodyPr/>
                    <a:lstStyle/>
                    <a:p>
                      <a:pPr algn="ctr" fontAlgn="b"/>
                      <a:r>
                        <a:rPr lang="fr-FR" sz="1600" u="none" strike="noStrike" dirty="0">
                          <a:effectLst/>
                        </a:rPr>
                        <a:t>00:00:00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17</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2</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87327440"/>
                  </a:ext>
                </a:extLst>
              </a:tr>
              <a:tr h="283176">
                <a:tc>
                  <a:txBody>
                    <a:bodyPr/>
                    <a:lstStyle/>
                    <a:p>
                      <a:pPr algn="ctr" fontAlgn="b"/>
                      <a:r>
                        <a:rPr lang="fr-FR" sz="1600" u="none" strike="noStrike">
                          <a:effectLst/>
                        </a:rPr>
                        <a:t>01:00:00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09143520"/>
                  </a:ext>
                </a:extLst>
              </a:tr>
              <a:tr h="283176">
                <a:tc>
                  <a:txBody>
                    <a:bodyPr/>
                    <a:lstStyle/>
                    <a:p>
                      <a:pPr algn="ctr" fontAlgn="b"/>
                      <a:r>
                        <a:rPr lang="fr-FR" sz="1600" u="none" strike="noStrike" dirty="0">
                          <a:effectLst/>
                        </a:rPr>
                        <a:t>02:00:00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13849221"/>
                  </a:ext>
                </a:extLst>
              </a:tr>
              <a:tr h="283176">
                <a:tc>
                  <a:txBody>
                    <a:bodyPr/>
                    <a:lstStyle/>
                    <a:p>
                      <a:pPr algn="ctr" fontAlgn="b"/>
                      <a:r>
                        <a:rPr lang="fr-FR" sz="1600" u="none" strike="noStrike">
                          <a:effectLst/>
                        </a:rPr>
                        <a:t>03:00:00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58274862"/>
                  </a:ext>
                </a:extLst>
              </a:tr>
              <a:tr h="283176">
                <a:tc>
                  <a:txBody>
                    <a:bodyPr/>
                    <a:lstStyle/>
                    <a:p>
                      <a:pPr algn="ctr" fontAlgn="b"/>
                      <a:r>
                        <a:rPr lang="fr-FR" sz="1600" u="none" strike="noStrike">
                          <a:effectLst/>
                        </a:rPr>
                        <a:t>04:00:00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11218620"/>
                  </a:ext>
                </a:extLst>
              </a:tr>
              <a:tr h="283176">
                <a:tc>
                  <a:txBody>
                    <a:bodyPr/>
                    <a:lstStyle/>
                    <a:p>
                      <a:pPr algn="ctr" fontAlgn="b"/>
                      <a:r>
                        <a:rPr lang="fr-FR" sz="1600" u="none" strike="noStrike">
                          <a:effectLst/>
                        </a:rPr>
                        <a:t>05:00:00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80589334"/>
                  </a:ext>
                </a:extLst>
              </a:tr>
              <a:tr h="283176">
                <a:tc>
                  <a:txBody>
                    <a:bodyPr/>
                    <a:lstStyle/>
                    <a:p>
                      <a:pPr algn="ctr" fontAlgn="b"/>
                      <a:r>
                        <a:rPr lang="fr-FR" sz="1600" u="none" strike="noStrike">
                          <a:effectLst/>
                        </a:rPr>
                        <a:t>06:00:00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28185491"/>
                  </a:ext>
                </a:extLst>
              </a:tr>
              <a:tr h="283176">
                <a:tc>
                  <a:txBody>
                    <a:bodyPr/>
                    <a:lstStyle/>
                    <a:p>
                      <a:pPr algn="ctr" fontAlgn="b"/>
                      <a:r>
                        <a:rPr lang="fr-FR" sz="1600" u="none" strike="noStrike">
                          <a:effectLst/>
                        </a:rPr>
                        <a:t>07:00:00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endParaRPr lang="fr-FR" sz="1600" b="0" i="0" u="none" strike="noStrike" dirty="0">
                        <a:solidFill>
                          <a:srgbClr val="0070C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3</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9354025"/>
                  </a:ext>
                </a:extLst>
              </a:tr>
              <a:tr h="283176">
                <a:tc>
                  <a:txBody>
                    <a:bodyPr/>
                    <a:lstStyle/>
                    <a:p>
                      <a:pPr algn="ctr" fontAlgn="b"/>
                      <a:r>
                        <a:rPr lang="fr-FR" sz="1600" u="none" strike="noStrike">
                          <a:effectLst/>
                        </a:rPr>
                        <a:t>08:00:00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15</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4</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25826413"/>
                  </a:ext>
                </a:extLst>
              </a:tr>
              <a:tr h="283176">
                <a:tc>
                  <a:txBody>
                    <a:bodyPr/>
                    <a:lstStyle/>
                    <a:p>
                      <a:pPr algn="ctr" fontAlgn="b"/>
                      <a:r>
                        <a:rPr lang="fr-FR" sz="1600" u="none" strike="noStrike">
                          <a:effectLst/>
                        </a:rPr>
                        <a:t>09:00:00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13</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6</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0196675"/>
                  </a:ext>
                </a:extLst>
              </a:tr>
            </a:tbl>
          </a:graphicData>
        </a:graphic>
      </p:graphicFrame>
      <p:sp>
        <p:nvSpPr>
          <p:cNvPr id="8" name="Slide Number Placeholder 4">
            <a:extLst>
              <a:ext uri="{FF2B5EF4-FFF2-40B4-BE49-F238E27FC236}">
                <a16:creationId xmlns:a16="http://schemas.microsoft.com/office/drawing/2014/main" id="{062C29ED-E7E3-E17B-88C7-6BB4D2096850}"/>
              </a:ext>
            </a:extLst>
          </p:cNvPr>
          <p:cNvSpPr txBox="1">
            <a:spLocks/>
          </p:cNvSpPr>
          <p:nvPr>
            <p:custDataLst>
              <p:tags r:id="rId6"/>
            </p:custDataLst>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DC0E79ED-1749-40A6-AEBC-40F147B49735}" type="slidenum">
              <a:rPr lang="en-GB" smtClean="0"/>
              <a:pPr/>
              <a:t>33</a:t>
            </a:fld>
            <a:endParaRPr lang="en-GB" dirty="0"/>
          </a:p>
        </p:txBody>
      </p:sp>
      <p:sp>
        <p:nvSpPr>
          <p:cNvPr id="9" name="Title 1">
            <a:extLst>
              <a:ext uri="{FF2B5EF4-FFF2-40B4-BE49-F238E27FC236}">
                <a16:creationId xmlns:a16="http://schemas.microsoft.com/office/drawing/2014/main" id="{9D6EC806-6D54-7CE0-045E-105CD2A895C5}"/>
              </a:ext>
            </a:extLst>
          </p:cNvPr>
          <p:cNvSpPr txBox="1">
            <a:spLocks/>
          </p:cNvSpPr>
          <p:nvPr>
            <p:custDataLst>
              <p:tags r:id="rId7"/>
            </p:custDataLst>
          </p:nvPr>
        </p:nvSpPr>
        <p:spPr>
          <a:xfrm>
            <a:off x="167640" y="1828799"/>
            <a:ext cx="8808720" cy="477132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2800" dirty="0">
              <a:solidFill>
                <a:srgbClr val="314462"/>
              </a:solidFill>
            </a:endParaRPr>
          </a:p>
        </p:txBody>
      </p:sp>
      <p:cxnSp>
        <p:nvCxnSpPr>
          <p:cNvPr id="10" name="Straight Connector 10">
            <a:extLst>
              <a:ext uri="{FF2B5EF4-FFF2-40B4-BE49-F238E27FC236}">
                <a16:creationId xmlns:a16="http://schemas.microsoft.com/office/drawing/2014/main" id="{549248E7-BA86-6AE4-8B22-53EE90E15601}"/>
              </a:ext>
            </a:extLst>
          </p:cNvPr>
          <p:cNvCxnSpPr/>
          <p:nvPr>
            <p:custDataLst>
              <p:tags r:id="rId8"/>
            </p:custDataLst>
          </p:nvPr>
        </p:nvCxnSpPr>
        <p:spPr>
          <a:xfrm>
            <a:off x="0" y="940088"/>
            <a:ext cx="9144000" cy="0"/>
          </a:xfrm>
          <a:prstGeom prst="line">
            <a:avLst/>
          </a:prstGeom>
          <a:ln w="47625">
            <a:solidFill>
              <a:srgbClr val="495C6E"/>
            </a:solidFill>
          </a:ln>
        </p:spPr>
        <p:style>
          <a:lnRef idx="1">
            <a:schemeClr val="accent1"/>
          </a:lnRef>
          <a:fillRef idx="0">
            <a:schemeClr val="accent1"/>
          </a:fillRef>
          <a:effectRef idx="0">
            <a:schemeClr val="accent1"/>
          </a:effectRef>
          <a:fontRef idx="minor">
            <a:schemeClr val="tx1"/>
          </a:fontRef>
        </p:style>
      </p:cxnSp>
      <p:graphicFrame>
        <p:nvGraphicFramePr>
          <p:cNvPr id="14" name="Tableau 13">
            <a:extLst>
              <a:ext uri="{FF2B5EF4-FFF2-40B4-BE49-F238E27FC236}">
                <a16:creationId xmlns:a16="http://schemas.microsoft.com/office/drawing/2014/main" id="{311DCBB5-9643-EB8C-435E-B61C3860638C}"/>
              </a:ext>
            </a:extLst>
          </p:cNvPr>
          <p:cNvGraphicFramePr>
            <a:graphicFrameLocks noGrp="1"/>
          </p:cNvGraphicFramePr>
          <p:nvPr>
            <p:custDataLst>
              <p:tags r:id="rId9"/>
            </p:custDataLst>
            <p:extLst>
              <p:ext uri="{D42A27DB-BD31-4B8C-83A1-F6EECF244321}">
                <p14:modId xmlns:p14="http://schemas.microsoft.com/office/powerpoint/2010/main" val="2838309892"/>
              </p:ext>
            </p:extLst>
          </p:nvPr>
        </p:nvGraphicFramePr>
        <p:xfrm>
          <a:off x="6634261" y="2524450"/>
          <a:ext cx="3775676" cy="3362714"/>
        </p:xfrm>
        <a:graphic>
          <a:graphicData uri="http://schemas.openxmlformats.org/drawingml/2006/table">
            <a:tbl>
              <a:tblPr firstRow="1" bandRow="1">
                <a:tableStyleId>{073A0DAA-6AF3-43AB-8588-CEC1D06C72B9}</a:tableStyleId>
              </a:tblPr>
              <a:tblGrid>
                <a:gridCol w="943919">
                  <a:extLst>
                    <a:ext uri="{9D8B030D-6E8A-4147-A177-3AD203B41FA5}">
                      <a16:colId xmlns:a16="http://schemas.microsoft.com/office/drawing/2014/main" val="1019930272"/>
                    </a:ext>
                  </a:extLst>
                </a:gridCol>
                <a:gridCol w="943919">
                  <a:extLst>
                    <a:ext uri="{9D8B030D-6E8A-4147-A177-3AD203B41FA5}">
                      <a16:colId xmlns:a16="http://schemas.microsoft.com/office/drawing/2014/main" val="3997036391"/>
                    </a:ext>
                  </a:extLst>
                </a:gridCol>
                <a:gridCol w="943919">
                  <a:extLst>
                    <a:ext uri="{9D8B030D-6E8A-4147-A177-3AD203B41FA5}">
                      <a16:colId xmlns:a16="http://schemas.microsoft.com/office/drawing/2014/main" val="2548716720"/>
                    </a:ext>
                  </a:extLst>
                </a:gridCol>
                <a:gridCol w="943919">
                  <a:extLst>
                    <a:ext uri="{9D8B030D-6E8A-4147-A177-3AD203B41FA5}">
                      <a16:colId xmlns:a16="http://schemas.microsoft.com/office/drawing/2014/main" val="317121846"/>
                    </a:ext>
                  </a:extLst>
                </a:gridCol>
              </a:tblGrid>
              <a:tr h="530954">
                <a:tc>
                  <a:txBody>
                    <a:bodyPr/>
                    <a:lstStyle/>
                    <a:p>
                      <a:pPr algn="ctr" fontAlgn="b"/>
                      <a:r>
                        <a:rPr lang="fr-FR" sz="1600" u="none" strike="noStrike" dirty="0">
                          <a:effectLst/>
                        </a:rPr>
                        <a:t>Time</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Measured</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T_ext</a:t>
                      </a:r>
                      <a:r>
                        <a:rPr lang="fr-FR" sz="1600" u="none" strike="noStrike" dirty="0">
                          <a:effectLst/>
                        </a:rPr>
                        <a:t> (°C)</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err="1">
                          <a:effectLst/>
                        </a:rPr>
                        <a:t>Other</a:t>
                      </a:r>
                      <a:r>
                        <a:rPr lang="fr-FR" sz="1600" u="none" strike="noStrike" dirty="0">
                          <a:effectLst/>
                        </a:rPr>
                        <a:t> variables</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46000349"/>
                  </a:ext>
                </a:extLst>
              </a:tr>
              <a:tr h="283176">
                <a:tc>
                  <a:txBody>
                    <a:bodyPr/>
                    <a:lstStyle/>
                    <a:p>
                      <a:pPr algn="ctr" fontAlgn="b"/>
                      <a:r>
                        <a:rPr lang="fr-FR" sz="1600" u="none" strike="noStrike" dirty="0">
                          <a:effectLst/>
                        </a:rPr>
                        <a:t>00:00:00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17</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2</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87327440"/>
                  </a:ext>
                </a:extLst>
              </a:tr>
              <a:tr h="283176">
                <a:tc>
                  <a:txBody>
                    <a:bodyPr/>
                    <a:lstStyle/>
                    <a:p>
                      <a:pPr algn="ctr" fontAlgn="b"/>
                      <a:r>
                        <a:rPr lang="fr-FR" sz="1600" u="none" strike="noStrike">
                          <a:effectLst/>
                        </a:rPr>
                        <a:t>01:00:00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b="0" i="0" u="none" strike="noStrike" dirty="0">
                          <a:solidFill>
                            <a:srgbClr val="0070C0"/>
                          </a:solidFill>
                          <a:effectLst/>
                          <a:latin typeface="Calibri" panose="020F0502020204030204" pitchFamily="34" charset="0"/>
                        </a:rPr>
                        <a:t>17</a:t>
                      </a: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09143520"/>
                  </a:ext>
                </a:extLst>
              </a:tr>
              <a:tr h="283176">
                <a:tc>
                  <a:txBody>
                    <a:bodyPr/>
                    <a:lstStyle/>
                    <a:p>
                      <a:pPr algn="ctr" fontAlgn="b"/>
                      <a:r>
                        <a:rPr lang="fr-FR" sz="1600" u="none" strike="noStrike" dirty="0">
                          <a:effectLst/>
                        </a:rPr>
                        <a:t>02:00:00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b="0" i="0" u="none" strike="noStrike" dirty="0">
                          <a:solidFill>
                            <a:srgbClr val="0070C0"/>
                          </a:solidFill>
                          <a:effectLst/>
                          <a:latin typeface="Calibri" panose="020F0502020204030204" pitchFamily="34" charset="0"/>
                        </a:rPr>
                        <a:t>17</a:t>
                      </a:r>
                    </a:p>
                  </a:txBody>
                  <a:tcPr marL="7620" marR="7620" marT="7620" marB="0" anchor="ctr"/>
                </a:tc>
                <a:tc>
                  <a:txBody>
                    <a:bodyPr/>
                    <a:lstStyle/>
                    <a:p>
                      <a:pPr algn="ctr" fontAlgn="b"/>
                      <a:r>
                        <a:rPr lang="fr-FR" sz="1600" u="none" strike="noStrike" dirty="0">
                          <a:effectLst/>
                        </a:rPr>
                        <a:t>2</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13849221"/>
                  </a:ext>
                </a:extLst>
              </a:tr>
              <a:tr h="283176">
                <a:tc>
                  <a:txBody>
                    <a:bodyPr/>
                    <a:lstStyle/>
                    <a:p>
                      <a:pPr algn="ctr" fontAlgn="b"/>
                      <a:r>
                        <a:rPr lang="fr-FR" sz="1600" u="none" strike="noStrike">
                          <a:effectLst/>
                        </a:rPr>
                        <a:t>03:00:00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58274862"/>
                  </a:ext>
                </a:extLst>
              </a:tr>
              <a:tr h="283176">
                <a:tc>
                  <a:txBody>
                    <a:bodyPr/>
                    <a:lstStyle/>
                    <a:p>
                      <a:pPr algn="ctr" fontAlgn="b"/>
                      <a:r>
                        <a:rPr lang="fr-FR" sz="1600" u="none" strike="noStrike">
                          <a:effectLst/>
                        </a:rPr>
                        <a:t>04:00:00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18</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11218620"/>
                  </a:ext>
                </a:extLst>
              </a:tr>
              <a:tr h="283176">
                <a:tc>
                  <a:txBody>
                    <a:bodyPr/>
                    <a:lstStyle/>
                    <a:p>
                      <a:pPr algn="ctr" fontAlgn="b"/>
                      <a:r>
                        <a:rPr lang="fr-FR" sz="1600" u="none" strike="noStrike">
                          <a:effectLst/>
                        </a:rPr>
                        <a:t>05:00:00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b="0" i="0" u="none" strike="noStrike" dirty="0">
                          <a:solidFill>
                            <a:srgbClr val="0070C0"/>
                          </a:solidFill>
                          <a:effectLst/>
                          <a:latin typeface="Calibri" panose="020F0502020204030204" pitchFamily="34" charset="0"/>
                        </a:rPr>
                        <a:t>18</a:t>
                      </a:r>
                    </a:p>
                  </a:txBody>
                  <a:tcPr marL="7620" marR="7620" marT="7620" marB="0" anchor="ctr"/>
                </a:tc>
                <a:tc>
                  <a:txBody>
                    <a:bodyPr/>
                    <a:lstStyle/>
                    <a:p>
                      <a:pPr algn="ctr" fontAlgn="b"/>
                      <a:r>
                        <a:rPr lang="fr-FR" sz="1600" u="none" strike="noStrike" dirty="0">
                          <a:effectLst/>
                        </a:rPr>
                        <a:t>1</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80589334"/>
                  </a:ext>
                </a:extLst>
              </a:tr>
              <a:tr h="283176">
                <a:tc>
                  <a:txBody>
                    <a:bodyPr/>
                    <a:lstStyle/>
                    <a:p>
                      <a:pPr algn="ctr" fontAlgn="b"/>
                      <a:r>
                        <a:rPr lang="fr-FR" sz="1600" u="none" strike="noStrike">
                          <a:effectLst/>
                        </a:rPr>
                        <a:t>06:00:00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b="0" i="0" u="none" strike="noStrike" dirty="0">
                          <a:solidFill>
                            <a:srgbClr val="0070C0"/>
                          </a:solidFill>
                          <a:effectLst/>
                          <a:latin typeface="Calibri" panose="020F0502020204030204" pitchFamily="34" charset="0"/>
                        </a:rPr>
                        <a:t>19</a:t>
                      </a:r>
                    </a:p>
                  </a:txBody>
                  <a:tcPr marL="7620" marR="7620" marT="7620" marB="0" anchor="ctr"/>
                </a:tc>
                <a:tc>
                  <a:txBody>
                    <a:bodyPr/>
                    <a:lstStyle/>
                    <a:p>
                      <a:pPr algn="ctr" fontAlgn="b"/>
                      <a:r>
                        <a:rPr lang="fr-FR" sz="1600" u="none" strike="noStrike" dirty="0">
                          <a:effectLst/>
                        </a:rPr>
                        <a:t>0</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a:t>
                      </a:r>
                      <a:endParaRPr lang="fr-FR" sz="16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28185491"/>
                  </a:ext>
                </a:extLst>
              </a:tr>
              <a:tr h="283176">
                <a:tc>
                  <a:txBody>
                    <a:bodyPr/>
                    <a:lstStyle/>
                    <a:p>
                      <a:pPr algn="ctr" fontAlgn="b"/>
                      <a:r>
                        <a:rPr lang="fr-FR" sz="1600" u="none" strike="noStrike">
                          <a:effectLst/>
                        </a:rPr>
                        <a:t>07:00:00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b="0" i="0" u="none" strike="noStrike" dirty="0">
                          <a:solidFill>
                            <a:srgbClr val="0070C0"/>
                          </a:solidFill>
                          <a:effectLst/>
                          <a:latin typeface="Calibri" panose="020F0502020204030204" pitchFamily="34" charset="0"/>
                        </a:rPr>
                        <a:t>16</a:t>
                      </a:r>
                    </a:p>
                  </a:txBody>
                  <a:tcPr marL="7620" marR="7620" marT="7620" marB="0" anchor="ctr"/>
                </a:tc>
                <a:tc>
                  <a:txBody>
                    <a:bodyPr/>
                    <a:lstStyle/>
                    <a:p>
                      <a:pPr algn="ctr" fontAlgn="b"/>
                      <a:r>
                        <a:rPr lang="fr-FR" sz="1600" u="none" strike="noStrike" dirty="0">
                          <a:effectLst/>
                        </a:rPr>
                        <a:t>3</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9354025"/>
                  </a:ext>
                </a:extLst>
              </a:tr>
              <a:tr h="283176">
                <a:tc>
                  <a:txBody>
                    <a:bodyPr/>
                    <a:lstStyle/>
                    <a:p>
                      <a:pPr algn="ctr" fontAlgn="b"/>
                      <a:r>
                        <a:rPr lang="fr-FR" sz="1600" u="none" strike="noStrike">
                          <a:effectLst/>
                        </a:rPr>
                        <a:t>08:00:00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a:effectLst/>
                        </a:rPr>
                        <a:t>15</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4</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25826413"/>
                  </a:ext>
                </a:extLst>
              </a:tr>
              <a:tr h="283176">
                <a:tc>
                  <a:txBody>
                    <a:bodyPr/>
                    <a:lstStyle/>
                    <a:p>
                      <a:pPr algn="ctr" fontAlgn="b"/>
                      <a:r>
                        <a:rPr lang="fr-FR" sz="1600" u="none" strike="noStrike">
                          <a:effectLst/>
                        </a:rPr>
                        <a:t>09:00:00</a:t>
                      </a:r>
                      <a:endParaRPr lang="fr-FR"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13</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6</a:t>
                      </a:r>
                      <a:endParaRPr lang="fr-FR"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fr-FR" sz="1600" u="none" strike="noStrike" dirty="0">
                          <a:effectLst/>
                        </a:rPr>
                        <a:t>…</a:t>
                      </a:r>
                      <a:endParaRPr lang="fr-FR" sz="16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0196675"/>
                  </a:ext>
                </a:extLst>
              </a:tr>
            </a:tbl>
          </a:graphicData>
        </a:graphic>
      </p:graphicFrame>
      <p:sp>
        <p:nvSpPr>
          <p:cNvPr id="17" name="Rectangle 16">
            <a:extLst>
              <a:ext uri="{FF2B5EF4-FFF2-40B4-BE49-F238E27FC236}">
                <a16:creationId xmlns:a16="http://schemas.microsoft.com/office/drawing/2014/main" id="{8A6EFD3B-B2FD-09E7-B992-165C7FFC0D51}"/>
              </a:ext>
            </a:extLst>
          </p:cNvPr>
          <p:cNvSpPr/>
          <p:nvPr>
            <p:custDataLst>
              <p:tags r:id="rId10"/>
            </p:custDataLst>
          </p:nvPr>
        </p:nvSpPr>
        <p:spPr>
          <a:xfrm>
            <a:off x="7605777" y="3341537"/>
            <a:ext cx="916322" cy="54320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sp>
        <p:nvSpPr>
          <p:cNvPr id="18" name="Rectangle 17">
            <a:extLst>
              <a:ext uri="{FF2B5EF4-FFF2-40B4-BE49-F238E27FC236}">
                <a16:creationId xmlns:a16="http://schemas.microsoft.com/office/drawing/2014/main" id="{FCBC288B-76B7-5228-3EBD-2EC9AE9CAE5B}"/>
              </a:ext>
            </a:extLst>
          </p:cNvPr>
          <p:cNvSpPr/>
          <p:nvPr>
            <p:custDataLst>
              <p:tags r:id="rId11"/>
            </p:custDataLst>
          </p:nvPr>
        </p:nvSpPr>
        <p:spPr>
          <a:xfrm>
            <a:off x="7605777" y="4488902"/>
            <a:ext cx="916322" cy="836436"/>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cxnSp>
        <p:nvCxnSpPr>
          <p:cNvPr id="19" name="Connecteur droit avec flèche 18">
            <a:extLst>
              <a:ext uri="{FF2B5EF4-FFF2-40B4-BE49-F238E27FC236}">
                <a16:creationId xmlns:a16="http://schemas.microsoft.com/office/drawing/2014/main" id="{AC65D5F8-4261-6157-961F-54D44BE401CF}"/>
              </a:ext>
            </a:extLst>
          </p:cNvPr>
          <p:cNvCxnSpPr>
            <a:cxnSpLocks/>
            <a:endCxn id="17" idx="1"/>
          </p:cNvCxnSpPr>
          <p:nvPr>
            <p:custDataLst>
              <p:tags r:id="rId12"/>
            </p:custDataLst>
          </p:nvPr>
        </p:nvCxnSpPr>
        <p:spPr>
          <a:xfrm>
            <a:off x="2216727" y="3429000"/>
            <a:ext cx="5389050" cy="184139"/>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a:extLst>
              <a:ext uri="{FF2B5EF4-FFF2-40B4-BE49-F238E27FC236}">
                <a16:creationId xmlns:a16="http://schemas.microsoft.com/office/drawing/2014/main" id="{5C98D5AB-FC5A-E895-2B2D-5FCBBDB6A124}"/>
              </a:ext>
            </a:extLst>
          </p:cNvPr>
          <p:cNvCxnSpPr>
            <a:cxnSpLocks/>
            <a:endCxn id="18" idx="1"/>
          </p:cNvCxnSpPr>
          <p:nvPr>
            <p:custDataLst>
              <p:tags r:id="rId13"/>
            </p:custDataLst>
          </p:nvPr>
        </p:nvCxnSpPr>
        <p:spPr>
          <a:xfrm>
            <a:off x="2216727" y="3459571"/>
            <a:ext cx="5389050" cy="1447549"/>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5852213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C80702-1DDC-EB99-F45B-A62C4F665225}"/>
              </a:ext>
            </a:extLst>
          </p:cNvPr>
          <p:cNvSpPr>
            <a:spLocks noGrp="1"/>
          </p:cNvSpPr>
          <p:nvPr>
            <p:ph type="title"/>
            <p:custDataLst>
              <p:tags r:id="rId2"/>
            </p:custDataLst>
          </p:nvPr>
        </p:nvSpPr>
        <p:spPr/>
        <p:txBody>
          <a:bodyPr/>
          <a:lstStyle/>
          <a:p>
            <a:r>
              <a:rPr lang="en-GB" dirty="0"/>
              <a:t>Evaluation des </a:t>
            </a:r>
            <a:r>
              <a:rPr lang="en-GB" dirty="0" err="1"/>
              <a:t>méthodes</a:t>
            </a:r>
            <a:endParaRPr lang="en-GB" dirty="0"/>
          </a:p>
        </p:txBody>
      </p:sp>
      <p:sp>
        <p:nvSpPr>
          <p:cNvPr id="3" name="Espace réservé du numéro de diapositive 2">
            <a:extLst>
              <a:ext uri="{FF2B5EF4-FFF2-40B4-BE49-F238E27FC236}">
                <a16:creationId xmlns:a16="http://schemas.microsoft.com/office/drawing/2014/main" id="{97D2EA28-F46C-FA74-493D-38727DCFBBBD}"/>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18</a:t>
            </a:r>
          </a:p>
        </p:txBody>
      </p:sp>
      <p:sp>
        <p:nvSpPr>
          <p:cNvPr id="4" name="Espace réservé du texte 3">
            <a:extLst>
              <a:ext uri="{FF2B5EF4-FFF2-40B4-BE49-F238E27FC236}">
                <a16:creationId xmlns:a16="http://schemas.microsoft.com/office/drawing/2014/main" id="{FC6C48CC-3567-D3F5-DF26-D78781BB9D1C}"/>
              </a:ext>
            </a:extLst>
          </p:cNvPr>
          <p:cNvSpPr>
            <a:spLocks noGrp="1"/>
          </p:cNvSpPr>
          <p:nvPr>
            <p:ph type="body" idx="1"/>
            <p:custDataLst>
              <p:tags r:id="rId4"/>
            </p:custDataLst>
          </p:nvPr>
        </p:nvSpPr>
        <p:spPr/>
        <p:txBody>
          <a:bodyPr/>
          <a:lstStyle/>
          <a:p>
            <a:pPr marL="76200" indent="0">
              <a:buNone/>
            </a:pPr>
            <a:r>
              <a:rPr lang="en-GB" dirty="0"/>
              <a:t>RMSE : </a:t>
            </a:r>
            <a:r>
              <a:rPr lang="en-GB" dirty="0" err="1"/>
              <a:t>métrique</a:t>
            </a:r>
            <a:r>
              <a:rPr lang="en-GB" dirty="0"/>
              <a:t> </a:t>
            </a:r>
            <a:r>
              <a:rPr lang="en-GB" dirty="0" err="1"/>
              <a:t>d’erreur</a:t>
            </a:r>
            <a:r>
              <a:rPr lang="en-GB" dirty="0"/>
              <a:t> qui </a:t>
            </a:r>
            <a:r>
              <a:rPr lang="en-GB" dirty="0" err="1"/>
              <a:t>mesure</a:t>
            </a:r>
            <a:r>
              <a:rPr lang="en-GB" dirty="0"/>
              <a:t> les estimations </a:t>
            </a:r>
            <a:r>
              <a:rPr lang="en-GB" dirty="0" err="1"/>
              <a:t>d’erreur</a:t>
            </a:r>
            <a:r>
              <a:rPr lang="en-GB" dirty="0"/>
              <a:t> de validation</a:t>
            </a:r>
          </a:p>
        </p:txBody>
      </p:sp>
      <p:pic>
        <p:nvPicPr>
          <p:cNvPr id="5" name="Image 4">
            <a:extLst>
              <a:ext uri="{FF2B5EF4-FFF2-40B4-BE49-F238E27FC236}">
                <a16:creationId xmlns:a16="http://schemas.microsoft.com/office/drawing/2014/main" id="{5DC868ED-ABC7-DB31-688D-CE83F49BD743}"/>
              </a:ext>
            </a:extLst>
          </p:cNvPr>
          <p:cNvPicPr>
            <a:picLocks noChangeAspect="1"/>
          </p:cNvPicPr>
          <p:nvPr>
            <p:custDataLst>
              <p:tags r:id="rId5"/>
            </p:custDataLst>
          </p:nvPr>
        </p:nvPicPr>
        <p:blipFill>
          <a:blip r:embed="rId9"/>
          <a:stretch>
            <a:fillRect/>
          </a:stretch>
        </p:blipFill>
        <p:spPr>
          <a:xfrm>
            <a:off x="2513596" y="2318805"/>
            <a:ext cx="5687219" cy="1829055"/>
          </a:xfrm>
          <a:prstGeom prst="rect">
            <a:avLst/>
          </a:prstGeom>
        </p:spPr>
      </p:pic>
      <p:cxnSp>
        <p:nvCxnSpPr>
          <p:cNvPr id="6" name="Straight Connector 10">
            <a:extLst>
              <a:ext uri="{FF2B5EF4-FFF2-40B4-BE49-F238E27FC236}">
                <a16:creationId xmlns:a16="http://schemas.microsoft.com/office/drawing/2014/main" id="{5DC34D7F-5D50-97A4-45B6-D8BB002FDA6A}"/>
              </a:ext>
            </a:extLst>
          </p:cNvPr>
          <p:cNvCxnSpPr/>
          <p:nvPr>
            <p:custDataLst>
              <p:tags r:id="rId6"/>
            </p:custDataLst>
          </p:nvPr>
        </p:nvCxnSpPr>
        <p:spPr>
          <a:xfrm>
            <a:off x="1330037" y="1023216"/>
            <a:ext cx="9144000" cy="0"/>
          </a:xfrm>
          <a:prstGeom prst="line">
            <a:avLst/>
          </a:prstGeom>
          <a:ln w="47625">
            <a:solidFill>
              <a:srgbClr val="495C6E"/>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5152579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C80702-1DDC-EB99-F45B-A62C4F665225}"/>
              </a:ext>
            </a:extLst>
          </p:cNvPr>
          <p:cNvSpPr>
            <a:spLocks noGrp="1"/>
          </p:cNvSpPr>
          <p:nvPr>
            <p:ph type="title"/>
            <p:custDataLst>
              <p:tags r:id="rId2"/>
            </p:custDataLst>
          </p:nvPr>
        </p:nvSpPr>
        <p:spPr/>
        <p:txBody>
          <a:bodyPr/>
          <a:lstStyle/>
          <a:p>
            <a:r>
              <a:rPr lang="en-GB" dirty="0"/>
              <a:t>Evaluation des </a:t>
            </a:r>
            <a:r>
              <a:rPr lang="en-GB" dirty="0" err="1"/>
              <a:t>méthodes</a:t>
            </a:r>
            <a:endParaRPr lang="en-GB" dirty="0"/>
          </a:p>
        </p:txBody>
      </p:sp>
      <p:sp>
        <p:nvSpPr>
          <p:cNvPr id="3" name="Espace réservé du numéro de diapositive 2">
            <a:extLst>
              <a:ext uri="{FF2B5EF4-FFF2-40B4-BE49-F238E27FC236}">
                <a16:creationId xmlns:a16="http://schemas.microsoft.com/office/drawing/2014/main" id="{97D2EA28-F46C-FA74-493D-38727DCFBBBD}"/>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18</a:t>
            </a:r>
          </a:p>
        </p:txBody>
      </p:sp>
      <p:sp>
        <p:nvSpPr>
          <p:cNvPr id="4" name="Espace réservé du texte 3">
            <a:extLst>
              <a:ext uri="{FF2B5EF4-FFF2-40B4-BE49-F238E27FC236}">
                <a16:creationId xmlns:a16="http://schemas.microsoft.com/office/drawing/2014/main" id="{FC6C48CC-3567-D3F5-DF26-D78781BB9D1C}"/>
              </a:ext>
            </a:extLst>
          </p:cNvPr>
          <p:cNvSpPr>
            <a:spLocks noGrp="1"/>
          </p:cNvSpPr>
          <p:nvPr>
            <p:ph type="body" idx="1"/>
            <p:custDataLst>
              <p:tags r:id="rId4"/>
            </p:custDataLst>
          </p:nvPr>
        </p:nvSpPr>
        <p:spPr/>
        <p:txBody>
          <a:bodyPr/>
          <a:lstStyle/>
          <a:p>
            <a:pPr marL="76200" indent="0">
              <a:buNone/>
            </a:pPr>
            <a:r>
              <a:rPr lang="en-GB" dirty="0"/>
              <a:t>RMSE : </a:t>
            </a:r>
            <a:r>
              <a:rPr lang="en-GB" dirty="0" err="1"/>
              <a:t>métrique</a:t>
            </a:r>
            <a:r>
              <a:rPr lang="en-GB" dirty="0"/>
              <a:t> </a:t>
            </a:r>
            <a:r>
              <a:rPr lang="en-GB" dirty="0" err="1"/>
              <a:t>d’erreur</a:t>
            </a:r>
            <a:r>
              <a:rPr lang="en-GB" dirty="0"/>
              <a:t> qui </a:t>
            </a:r>
            <a:r>
              <a:rPr lang="en-GB" dirty="0" err="1"/>
              <a:t>mesure</a:t>
            </a:r>
            <a:r>
              <a:rPr lang="en-GB" dirty="0"/>
              <a:t> les estimations </a:t>
            </a:r>
            <a:r>
              <a:rPr lang="en-GB" dirty="0" err="1"/>
              <a:t>d’erreur</a:t>
            </a:r>
            <a:r>
              <a:rPr lang="en-GB" dirty="0"/>
              <a:t> de validation</a:t>
            </a:r>
          </a:p>
        </p:txBody>
      </p:sp>
      <p:pic>
        <p:nvPicPr>
          <p:cNvPr id="5" name="Image 4">
            <a:extLst>
              <a:ext uri="{FF2B5EF4-FFF2-40B4-BE49-F238E27FC236}">
                <a16:creationId xmlns:a16="http://schemas.microsoft.com/office/drawing/2014/main" id="{5DC868ED-ABC7-DB31-688D-CE83F49BD743}"/>
              </a:ext>
            </a:extLst>
          </p:cNvPr>
          <p:cNvPicPr>
            <a:picLocks noChangeAspect="1"/>
          </p:cNvPicPr>
          <p:nvPr>
            <p:custDataLst>
              <p:tags r:id="rId5"/>
            </p:custDataLst>
          </p:nvPr>
        </p:nvPicPr>
        <p:blipFill>
          <a:blip r:embed="rId13"/>
          <a:stretch>
            <a:fillRect/>
          </a:stretch>
        </p:blipFill>
        <p:spPr>
          <a:xfrm>
            <a:off x="2513596" y="2318805"/>
            <a:ext cx="5687219" cy="1829055"/>
          </a:xfrm>
          <a:prstGeom prst="rect">
            <a:avLst/>
          </a:prstGeom>
        </p:spPr>
      </p:pic>
      <p:cxnSp>
        <p:nvCxnSpPr>
          <p:cNvPr id="6" name="Straight Connector 10">
            <a:extLst>
              <a:ext uri="{FF2B5EF4-FFF2-40B4-BE49-F238E27FC236}">
                <a16:creationId xmlns:a16="http://schemas.microsoft.com/office/drawing/2014/main" id="{5DC34D7F-5D50-97A4-45B6-D8BB002FDA6A}"/>
              </a:ext>
            </a:extLst>
          </p:cNvPr>
          <p:cNvCxnSpPr/>
          <p:nvPr>
            <p:custDataLst>
              <p:tags r:id="rId6"/>
            </p:custDataLst>
          </p:nvPr>
        </p:nvCxnSpPr>
        <p:spPr>
          <a:xfrm>
            <a:off x="1330037" y="1023216"/>
            <a:ext cx="9144000" cy="0"/>
          </a:xfrm>
          <a:prstGeom prst="line">
            <a:avLst/>
          </a:prstGeom>
          <a:ln w="47625">
            <a:solidFill>
              <a:srgbClr val="495C6E"/>
            </a:solidFill>
          </a:ln>
        </p:spPr>
        <p:style>
          <a:lnRef idx="1">
            <a:schemeClr val="accent1"/>
          </a:lnRef>
          <a:fillRef idx="0">
            <a:schemeClr val="accent1"/>
          </a:fillRef>
          <a:effectRef idx="0">
            <a:schemeClr val="accent1"/>
          </a:effectRef>
          <a:fontRef idx="minor">
            <a:schemeClr val="tx1"/>
          </a:fontRef>
        </p:style>
      </p:cxnSp>
      <p:sp>
        <p:nvSpPr>
          <p:cNvPr id="7" name="Flèche : bas 6">
            <a:extLst>
              <a:ext uri="{FF2B5EF4-FFF2-40B4-BE49-F238E27FC236}">
                <a16:creationId xmlns:a16="http://schemas.microsoft.com/office/drawing/2014/main" id="{1E9BE1F4-6A17-4F35-2321-95AA7EFC2E59}"/>
              </a:ext>
            </a:extLst>
          </p:cNvPr>
          <p:cNvSpPr/>
          <p:nvPr>
            <p:custDataLst>
              <p:tags r:id="rId7"/>
            </p:custDataLst>
          </p:nvPr>
        </p:nvSpPr>
        <p:spPr>
          <a:xfrm rot="2083928">
            <a:off x="5504147" y="3151709"/>
            <a:ext cx="349828" cy="15997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ZoneTexte 7">
            <a:extLst>
              <a:ext uri="{FF2B5EF4-FFF2-40B4-BE49-F238E27FC236}">
                <a16:creationId xmlns:a16="http://schemas.microsoft.com/office/drawing/2014/main" id="{472F51EE-F1F0-41C4-A34E-80190F4E741D}"/>
              </a:ext>
            </a:extLst>
          </p:cNvPr>
          <p:cNvSpPr txBox="1"/>
          <p:nvPr>
            <p:custDataLst>
              <p:tags r:id="rId8"/>
            </p:custDataLst>
          </p:nvPr>
        </p:nvSpPr>
        <p:spPr>
          <a:xfrm>
            <a:off x="2183087" y="4586696"/>
            <a:ext cx="3441857" cy="930191"/>
          </a:xfrm>
          <a:prstGeom prst="rect">
            <a:avLst/>
          </a:prstGeom>
          <a:noFill/>
        </p:spPr>
        <p:txBody>
          <a:bodyPr wrap="square">
            <a:spAutoFit/>
          </a:bodyPr>
          <a:lstStyle/>
          <a:p>
            <a:pPr algn="just">
              <a:lnSpc>
                <a:spcPct val="102000"/>
              </a:lnSpc>
              <a:spcAft>
                <a:spcPts val="500"/>
              </a:spcAft>
            </a:pPr>
            <a:r>
              <a:rPr lang="en-US" sz="1800" dirty="0" err="1">
                <a:effectLst/>
                <a:latin typeface="Calibri" panose="020F0502020204030204" pitchFamily="34" charset="0"/>
                <a:ea typeface="SimSun" panose="02010600030101010101" pitchFamily="2" charset="-122"/>
                <a:cs typeface="Times New Roman" panose="02020603050405020304" pitchFamily="18" charset="0"/>
              </a:rPr>
              <a:t>Erreur</a:t>
            </a:r>
            <a:r>
              <a:rPr lang="en-US" sz="1800" dirty="0">
                <a:effectLst/>
                <a:latin typeface="Calibri" panose="020F0502020204030204" pitchFamily="34" charset="0"/>
                <a:ea typeface="SimSun" panose="02010600030101010101" pitchFamily="2" charset="-122"/>
                <a:cs typeface="Times New Roman" panose="02020603050405020304" pitchFamily="18" charset="0"/>
              </a:rPr>
              <a:t> de validation </a:t>
            </a:r>
            <a:r>
              <a:rPr lang="en-US" sz="1800" dirty="0" err="1">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referencielle</a:t>
            </a: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 </a:t>
            </a:r>
            <a:r>
              <a:rPr lang="en-US" sz="1800" dirty="0">
                <a:effectLst/>
                <a:latin typeface="Calibri" panose="020F0502020204030204" pitchFamily="34" charset="0"/>
                <a:ea typeface="SimSun" panose="02010600030101010101" pitchFamily="2" charset="-122"/>
                <a:cs typeface="Times New Roman" panose="02020603050405020304" pitchFamily="18" charset="0"/>
              </a:rPr>
              <a:t>: </a:t>
            </a:r>
            <a:r>
              <a:rPr lang="en-US" sz="1800" dirty="0" err="1">
                <a:effectLst/>
                <a:latin typeface="Calibri" panose="020F0502020204030204" pitchFamily="34" charset="0"/>
                <a:ea typeface="SimSun" panose="02010600030101010101" pitchFamily="2" charset="-122"/>
                <a:cs typeface="Times New Roman" panose="02020603050405020304" pitchFamily="18" charset="0"/>
              </a:rPr>
              <a:t>calculée</a:t>
            </a:r>
            <a:r>
              <a:rPr lang="en-US" sz="1800" dirty="0">
                <a:effectLst/>
                <a:latin typeface="Calibri" panose="020F0502020204030204" pitchFamily="34" charset="0"/>
                <a:ea typeface="SimSun" panose="02010600030101010101" pitchFamily="2" charset="-122"/>
                <a:cs typeface="Times New Roman" panose="02020603050405020304" pitchFamily="18" charset="0"/>
              </a:rPr>
              <a:t> à </a:t>
            </a:r>
            <a:r>
              <a:rPr lang="en-US" sz="1800" dirty="0" err="1">
                <a:effectLst/>
                <a:latin typeface="Calibri" panose="020F0502020204030204" pitchFamily="34" charset="0"/>
                <a:ea typeface="SimSun" panose="02010600030101010101" pitchFamily="2" charset="-122"/>
                <a:cs typeface="Times New Roman" panose="02020603050405020304" pitchFamily="18" charset="0"/>
              </a:rPr>
              <a:t>partir</a:t>
            </a:r>
            <a:r>
              <a:rPr lang="en-US" sz="1800" dirty="0">
                <a:effectLst/>
                <a:latin typeface="Calibri" panose="020F0502020204030204" pitchFamily="34" charset="0"/>
                <a:ea typeface="SimSun" panose="02010600030101010101" pitchFamily="2" charset="-122"/>
                <a:cs typeface="Times New Roman" panose="02020603050405020304" pitchFamily="18" charset="0"/>
              </a:rPr>
              <a:t> des </a:t>
            </a: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données </a:t>
            </a:r>
            <a:r>
              <a:rPr lang="en-US" sz="1800" dirty="0" err="1">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complètes</a:t>
            </a:r>
            <a:endParaRPr lang="fr-FR"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9" name="ZoneTexte 8">
            <a:extLst>
              <a:ext uri="{FF2B5EF4-FFF2-40B4-BE49-F238E27FC236}">
                <a16:creationId xmlns:a16="http://schemas.microsoft.com/office/drawing/2014/main" id="{FA21B632-0386-3878-AA06-5C8927C774A8}"/>
              </a:ext>
            </a:extLst>
          </p:cNvPr>
          <p:cNvSpPr txBox="1"/>
          <p:nvPr>
            <p:custDataLst>
              <p:tags r:id="rId9"/>
            </p:custDataLst>
          </p:nvPr>
        </p:nvSpPr>
        <p:spPr>
          <a:xfrm>
            <a:off x="7029214" y="4586696"/>
            <a:ext cx="3902022" cy="1212704"/>
          </a:xfrm>
          <a:prstGeom prst="rect">
            <a:avLst/>
          </a:prstGeom>
          <a:noFill/>
        </p:spPr>
        <p:txBody>
          <a:bodyPr wrap="square">
            <a:spAutoFit/>
          </a:bodyPr>
          <a:lstStyle/>
          <a:p>
            <a:pPr algn="just">
              <a:lnSpc>
                <a:spcPct val="102000"/>
              </a:lnSpc>
              <a:spcAft>
                <a:spcPts val="500"/>
              </a:spcAft>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Estimations</a:t>
            </a:r>
            <a:r>
              <a:rPr lang="en-US" sz="1800" dirty="0">
                <a:effectLst/>
                <a:latin typeface="Calibri" panose="020F0502020204030204" pitchFamily="34" charset="0"/>
                <a:ea typeface="SimSun" panose="02010600030101010101" pitchFamily="2" charset="-122"/>
                <a:cs typeface="Times New Roman" panose="02020603050405020304" pitchFamily="18" charset="0"/>
              </a:rPr>
              <a:t> </a:t>
            </a:r>
            <a:r>
              <a:rPr lang="en-US" sz="1800" dirty="0" err="1">
                <a:effectLst/>
                <a:latin typeface="Calibri" panose="020F0502020204030204" pitchFamily="34" charset="0"/>
                <a:ea typeface="SimSun" panose="02010600030101010101" pitchFamily="2" charset="-122"/>
                <a:cs typeface="Times New Roman" panose="02020603050405020304" pitchFamily="18" charset="0"/>
              </a:rPr>
              <a:t>d’erreur</a:t>
            </a:r>
            <a:r>
              <a:rPr lang="en-US" sz="1800" dirty="0">
                <a:effectLst/>
                <a:latin typeface="Calibri" panose="020F0502020204030204" pitchFamily="34" charset="0"/>
                <a:ea typeface="SimSun" panose="02010600030101010101" pitchFamily="2" charset="-122"/>
                <a:cs typeface="Times New Roman" panose="02020603050405020304" pitchFamily="18" charset="0"/>
              </a:rPr>
              <a:t> de validation :  </a:t>
            </a:r>
            <a:r>
              <a:rPr lang="en-US" sz="1800" dirty="0" err="1">
                <a:effectLst/>
                <a:latin typeface="Calibri" panose="020F0502020204030204" pitchFamily="34" charset="0"/>
                <a:ea typeface="SimSun" panose="02010600030101010101" pitchFamily="2" charset="-122"/>
                <a:cs typeface="Times New Roman" panose="02020603050405020304" pitchFamily="18" charset="0"/>
              </a:rPr>
              <a:t>calculée</a:t>
            </a:r>
            <a:r>
              <a:rPr lang="en-US" sz="1800" dirty="0">
                <a:effectLst/>
                <a:latin typeface="Calibri" panose="020F0502020204030204" pitchFamily="34" charset="0"/>
                <a:ea typeface="SimSun" panose="02010600030101010101" pitchFamily="2" charset="-122"/>
                <a:cs typeface="Times New Roman" panose="02020603050405020304" pitchFamily="18" charset="0"/>
              </a:rPr>
              <a:t> à </a:t>
            </a:r>
            <a:r>
              <a:rPr lang="en-US" sz="1800" dirty="0" err="1">
                <a:effectLst/>
                <a:latin typeface="Calibri" panose="020F0502020204030204" pitchFamily="34" charset="0"/>
                <a:ea typeface="SimSun" panose="02010600030101010101" pitchFamily="2" charset="-122"/>
                <a:cs typeface="Times New Roman" panose="02020603050405020304" pitchFamily="18" charset="0"/>
              </a:rPr>
              <a:t>partir</a:t>
            </a:r>
            <a:r>
              <a:rPr lang="en-US" sz="1800" dirty="0">
                <a:effectLst/>
                <a:latin typeface="Calibri" panose="020F0502020204030204" pitchFamily="34" charset="0"/>
                <a:ea typeface="SimSun" panose="02010600030101010101" pitchFamily="2" charset="-122"/>
                <a:cs typeface="Times New Roman" panose="02020603050405020304" pitchFamily="18" charset="0"/>
              </a:rPr>
              <a:t> des </a:t>
            </a: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données incompletes</a:t>
            </a:r>
            <a:r>
              <a:rPr lang="en-US" sz="1800" dirty="0">
                <a:effectLst/>
                <a:latin typeface="Calibri" panose="020F0502020204030204" pitchFamily="34" charset="0"/>
                <a:ea typeface="SimSun" panose="02010600030101010101" pitchFamily="2" charset="-122"/>
                <a:cs typeface="Times New Roman" panose="02020603050405020304" pitchFamily="18" charset="0"/>
              </a:rPr>
              <a:t> avec / sans </a:t>
            </a: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technique </a:t>
            </a:r>
            <a:r>
              <a:rPr lang="en-US" sz="1800" dirty="0" err="1">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d’ajustement</a:t>
            </a: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 </a:t>
            </a:r>
            <a:endParaRPr lang="fr-FR"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10" name="Flèche : bas 9">
            <a:extLst>
              <a:ext uri="{FF2B5EF4-FFF2-40B4-BE49-F238E27FC236}">
                <a16:creationId xmlns:a16="http://schemas.microsoft.com/office/drawing/2014/main" id="{FE42F07C-29CD-8583-4A77-C4AA48B973DA}"/>
              </a:ext>
            </a:extLst>
          </p:cNvPr>
          <p:cNvSpPr/>
          <p:nvPr>
            <p:custDataLst>
              <p:tags r:id="rId10"/>
            </p:custDataLst>
          </p:nvPr>
        </p:nvSpPr>
        <p:spPr>
          <a:xfrm rot="20143235">
            <a:off x="7371695" y="3257353"/>
            <a:ext cx="349828" cy="14431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2314599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16273D-412F-6A7C-49B0-9FD4D4B5ED00}"/>
              </a:ext>
            </a:extLst>
          </p:cNvPr>
          <p:cNvSpPr>
            <a:spLocks noGrp="1"/>
          </p:cNvSpPr>
          <p:nvPr>
            <p:ph type="title"/>
            <p:custDataLst>
              <p:tags r:id="rId2"/>
            </p:custDataLst>
          </p:nvPr>
        </p:nvSpPr>
        <p:spPr/>
        <p:txBody>
          <a:bodyPr/>
          <a:lstStyle/>
          <a:p>
            <a:r>
              <a:rPr lang="en-GB" dirty="0" err="1"/>
              <a:t>Résultats</a:t>
            </a:r>
            <a:endParaRPr lang="en-GB" dirty="0"/>
          </a:p>
        </p:txBody>
      </p:sp>
      <p:sp>
        <p:nvSpPr>
          <p:cNvPr id="3" name="Espace réservé du numéro de diapositive 2">
            <a:extLst>
              <a:ext uri="{FF2B5EF4-FFF2-40B4-BE49-F238E27FC236}">
                <a16:creationId xmlns:a16="http://schemas.microsoft.com/office/drawing/2014/main" id="{83050D6C-A98F-2916-6BCF-54DF5BE74208}"/>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19</a:t>
            </a:r>
          </a:p>
        </p:txBody>
      </p:sp>
      <p:sp>
        <p:nvSpPr>
          <p:cNvPr id="4" name="Espace réservé du texte 3">
            <a:extLst>
              <a:ext uri="{FF2B5EF4-FFF2-40B4-BE49-F238E27FC236}">
                <a16:creationId xmlns:a16="http://schemas.microsoft.com/office/drawing/2014/main" id="{1DC8CD02-F69B-1A30-AC20-8A6841380989}"/>
              </a:ext>
            </a:extLst>
          </p:cNvPr>
          <p:cNvSpPr>
            <a:spLocks noGrp="1"/>
          </p:cNvSpPr>
          <p:nvPr>
            <p:ph type="body" idx="1"/>
            <p:custDataLst>
              <p:tags r:id="rId4"/>
            </p:custDataLst>
          </p:nvPr>
        </p:nvSpPr>
        <p:spPr/>
        <p:txBody>
          <a:bodyPr/>
          <a:lstStyle/>
          <a:p>
            <a:endParaRPr lang="en-GB" dirty="0"/>
          </a:p>
        </p:txBody>
      </p:sp>
      <p:pic>
        <p:nvPicPr>
          <p:cNvPr id="5" name="Image 4">
            <a:extLst>
              <a:ext uri="{FF2B5EF4-FFF2-40B4-BE49-F238E27FC236}">
                <a16:creationId xmlns:a16="http://schemas.microsoft.com/office/drawing/2014/main" id="{80336F13-9553-C60F-0FB5-6BF7CD5F1E0B}"/>
              </a:ext>
            </a:extLst>
          </p:cNvPr>
          <p:cNvPicPr>
            <a:picLocks noChangeAspect="1"/>
          </p:cNvPicPr>
          <p:nvPr>
            <p:custDataLst>
              <p:tags r:id="rId5"/>
            </p:custDataLst>
          </p:nvPr>
        </p:nvPicPr>
        <p:blipFill rotWithShape="1">
          <a:blip r:embed="rId9" cstate="print">
            <a:extLst>
              <a:ext uri="{28A0092B-C50C-407E-A947-70E740481C1C}">
                <a14:useLocalDpi xmlns:a14="http://schemas.microsoft.com/office/drawing/2010/main" val="0"/>
              </a:ext>
            </a:extLst>
          </a:blip>
          <a:srcRect l="2517" t="7787" r="1999" b="2708"/>
          <a:stretch/>
        </p:blipFill>
        <p:spPr bwMode="auto">
          <a:xfrm>
            <a:off x="1014067" y="1024558"/>
            <a:ext cx="6037897" cy="5658817"/>
          </a:xfrm>
          <a:prstGeom prst="rect">
            <a:avLst/>
          </a:prstGeom>
          <a:noFill/>
          <a:ln>
            <a:noFill/>
          </a:ln>
          <a:extLst>
            <a:ext uri="{53640926-AAD7-44D8-BBD7-CCE9431645EC}">
              <a14:shadowObscured xmlns:a14="http://schemas.microsoft.com/office/drawing/2010/main"/>
            </a:ext>
          </a:extLst>
        </p:spPr>
      </p:pic>
      <p:sp>
        <p:nvSpPr>
          <p:cNvPr id="6" name="ZoneTexte 5">
            <a:extLst>
              <a:ext uri="{FF2B5EF4-FFF2-40B4-BE49-F238E27FC236}">
                <a16:creationId xmlns:a16="http://schemas.microsoft.com/office/drawing/2014/main" id="{0D93D55E-A2B0-E035-FC7F-405DD6E04330}"/>
              </a:ext>
            </a:extLst>
          </p:cNvPr>
          <p:cNvSpPr txBox="1"/>
          <p:nvPr>
            <p:custDataLst>
              <p:tags r:id="rId6"/>
            </p:custDataLst>
          </p:nvPr>
        </p:nvSpPr>
        <p:spPr>
          <a:xfrm>
            <a:off x="7160517" y="5563590"/>
            <a:ext cx="3670494" cy="830997"/>
          </a:xfrm>
          <a:prstGeom prst="rect">
            <a:avLst/>
          </a:prstGeom>
          <a:noFill/>
        </p:spPr>
        <p:txBody>
          <a:bodyPr wrap="square">
            <a:spAutoFit/>
          </a:bodyPr>
          <a:lstStyle/>
          <a:p>
            <a:pPr algn="just"/>
            <a:r>
              <a:rPr lang="en-GB" sz="1600" dirty="0">
                <a:effectLst/>
                <a:latin typeface="Calibri" panose="020F0502020204030204" pitchFamily="34" charset="0"/>
                <a:ea typeface="SimSun" panose="02010600030101010101" pitchFamily="2" charset="-122"/>
                <a:cs typeface="Times New Roman" panose="02020603050405020304" pitchFamily="18" charset="0"/>
              </a:rPr>
              <a:t>Figure 11 : performance de la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méthode</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d’ajustement</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selon</a:t>
            </a:r>
            <a:r>
              <a:rPr lang="en-GB" sz="1600" dirty="0">
                <a:effectLst/>
                <a:latin typeface="Calibri" panose="020F0502020204030204" pitchFamily="34" charset="0"/>
                <a:ea typeface="SimSun" panose="02010600030101010101" pitchFamily="2" charset="-122"/>
                <a:cs typeface="Times New Roman" panose="02020603050405020304" pitchFamily="18" charset="0"/>
              </a:rPr>
              <a:t> le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taux</a:t>
            </a:r>
            <a:r>
              <a:rPr lang="en-GB" sz="1600" dirty="0">
                <a:effectLst/>
                <a:latin typeface="Calibri" panose="020F0502020204030204" pitchFamily="34" charset="0"/>
                <a:ea typeface="SimSun" panose="02010600030101010101" pitchFamily="2" charset="-122"/>
                <a:cs typeface="Times New Roman" panose="02020603050405020304" pitchFamily="18" charset="0"/>
              </a:rPr>
              <a:t> de données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manquantes</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endParaRPr lang="en-GB" sz="1200" dirty="0"/>
          </a:p>
        </p:txBody>
      </p:sp>
    </p:spTree>
    <p:custDataLst>
      <p:tags r:id="rId1"/>
    </p:custDataLst>
    <p:extLst>
      <p:ext uri="{BB962C8B-B14F-4D97-AF65-F5344CB8AC3E}">
        <p14:creationId xmlns:p14="http://schemas.microsoft.com/office/powerpoint/2010/main" val="8064260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16273D-412F-6A7C-49B0-9FD4D4B5ED00}"/>
              </a:ext>
            </a:extLst>
          </p:cNvPr>
          <p:cNvSpPr>
            <a:spLocks noGrp="1"/>
          </p:cNvSpPr>
          <p:nvPr>
            <p:ph type="title"/>
            <p:custDataLst>
              <p:tags r:id="rId2"/>
            </p:custDataLst>
          </p:nvPr>
        </p:nvSpPr>
        <p:spPr/>
        <p:txBody>
          <a:bodyPr/>
          <a:lstStyle/>
          <a:p>
            <a:r>
              <a:rPr lang="en-GB" dirty="0" err="1"/>
              <a:t>Résultats</a:t>
            </a:r>
            <a:endParaRPr lang="en-GB" dirty="0"/>
          </a:p>
        </p:txBody>
      </p:sp>
      <p:sp>
        <p:nvSpPr>
          <p:cNvPr id="3" name="Espace réservé du numéro de diapositive 2">
            <a:extLst>
              <a:ext uri="{FF2B5EF4-FFF2-40B4-BE49-F238E27FC236}">
                <a16:creationId xmlns:a16="http://schemas.microsoft.com/office/drawing/2014/main" id="{83050D6C-A98F-2916-6BCF-54DF5BE74208}"/>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19</a:t>
            </a:r>
          </a:p>
        </p:txBody>
      </p:sp>
      <p:sp>
        <p:nvSpPr>
          <p:cNvPr id="4" name="Espace réservé du texte 3">
            <a:extLst>
              <a:ext uri="{FF2B5EF4-FFF2-40B4-BE49-F238E27FC236}">
                <a16:creationId xmlns:a16="http://schemas.microsoft.com/office/drawing/2014/main" id="{1DC8CD02-F69B-1A30-AC20-8A6841380989}"/>
              </a:ext>
            </a:extLst>
          </p:cNvPr>
          <p:cNvSpPr>
            <a:spLocks noGrp="1"/>
          </p:cNvSpPr>
          <p:nvPr>
            <p:ph type="body" idx="1"/>
            <p:custDataLst>
              <p:tags r:id="rId4"/>
            </p:custDataLst>
          </p:nvPr>
        </p:nvSpPr>
        <p:spPr/>
        <p:txBody>
          <a:bodyPr/>
          <a:lstStyle/>
          <a:p>
            <a:endParaRPr lang="en-GB" dirty="0"/>
          </a:p>
        </p:txBody>
      </p:sp>
      <p:pic>
        <p:nvPicPr>
          <p:cNvPr id="5" name="Image 4">
            <a:extLst>
              <a:ext uri="{FF2B5EF4-FFF2-40B4-BE49-F238E27FC236}">
                <a16:creationId xmlns:a16="http://schemas.microsoft.com/office/drawing/2014/main" id="{80336F13-9553-C60F-0FB5-6BF7CD5F1E0B}"/>
              </a:ext>
            </a:extLst>
          </p:cNvPr>
          <p:cNvPicPr>
            <a:picLocks noChangeAspect="1"/>
          </p:cNvPicPr>
          <p:nvPr>
            <p:custDataLst>
              <p:tags r:id="rId5"/>
            </p:custDataLst>
          </p:nvPr>
        </p:nvPicPr>
        <p:blipFill rotWithShape="1">
          <a:blip r:embed="rId10" cstate="print">
            <a:extLst>
              <a:ext uri="{28A0092B-C50C-407E-A947-70E740481C1C}">
                <a14:useLocalDpi xmlns:a14="http://schemas.microsoft.com/office/drawing/2010/main" val="0"/>
              </a:ext>
            </a:extLst>
          </a:blip>
          <a:srcRect l="2517" t="7787" r="1999" b="2708"/>
          <a:stretch/>
        </p:blipFill>
        <p:spPr bwMode="auto">
          <a:xfrm>
            <a:off x="1014067" y="1024558"/>
            <a:ext cx="6037897" cy="5658817"/>
          </a:xfrm>
          <a:prstGeom prst="rect">
            <a:avLst/>
          </a:prstGeom>
          <a:noFill/>
          <a:ln>
            <a:noFill/>
          </a:ln>
          <a:extLst>
            <a:ext uri="{53640926-AAD7-44D8-BBD7-CCE9431645EC}">
              <a14:shadowObscured xmlns:a14="http://schemas.microsoft.com/office/drawing/2010/main"/>
            </a:ext>
          </a:extLst>
        </p:spPr>
      </p:pic>
      <p:sp>
        <p:nvSpPr>
          <p:cNvPr id="6" name="ZoneTexte 5">
            <a:extLst>
              <a:ext uri="{FF2B5EF4-FFF2-40B4-BE49-F238E27FC236}">
                <a16:creationId xmlns:a16="http://schemas.microsoft.com/office/drawing/2014/main" id="{0D93D55E-A2B0-E035-FC7F-405DD6E04330}"/>
              </a:ext>
            </a:extLst>
          </p:cNvPr>
          <p:cNvSpPr txBox="1"/>
          <p:nvPr>
            <p:custDataLst>
              <p:tags r:id="rId6"/>
            </p:custDataLst>
          </p:nvPr>
        </p:nvSpPr>
        <p:spPr>
          <a:xfrm>
            <a:off x="7160517" y="5563590"/>
            <a:ext cx="3670494" cy="830997"/>
          </a:xfrm>
          <a:prstGeom prst="rect">
            <a:avLst/>
          </a:prstGeom>
          <a:noFill/>
        </p:spPr>
        <p:txBody>
          <a:bodyPr wrap="square">
            <a:spAutoFit/>
          </a:bodyPr>
          <a:lstStyle/>
          <a:p>
            <a:pPr algn="just"/>
            <a:r>
              <a:rPr lang="en-GB" sz="1600" dirty="0">
                <a:effectLst/>
                <a:latin typeface="Calibri" panose="020F0502020204030204" pitchFamily="34" charset="0"/>
                <a:ea typeface="SimSun" panose="02010600030101010101" pitchFamily="2" charset="-122"/>
                <a:cs typeface="Times New Roman" panose="02020603050405020304" pitchFamily="18" charset="0"/>
              </a:rPr>
              <a:t>Figure 11 : performance de la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méthode</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d’ajustement</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selon</a:t>
            </a:r>
            <a:r>
              <a:rPr lang="en-GB" sz="1600" dirty="0">
                <a:effectLst/>
                <a:latin typeface="Calibri" panose="020F0502020204030204" pitchFamily="34" charset="0"/>
                <a:ea typeface="SimSun" panose="02010600030101010101" pitchFamily="2" charset="-122"/>
                <a:cs typeface="Times New Roman" panose="02020603050405020304" pitchFamily="18" charset="0"/>
              </a:rPr>
              <a:t> le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taux</a:t>
            </a:r>
            <a:r>
              <a:rPr lang="en-GB" sz="1600" dirty="0">
                <a:effectLst/>
                <a:latin typeface="Calibri" panose="020F0502020204030204" pitchFamily="34" charset="0"/>
                <a:ea typeface="SimSun" panose="02010600030101010101" pitchFamily="2" charset="-122"/>
                <a:cs typeface="Times New Roman" panose="02020603050405020304" pitchFamily="18" charset="0"/>
              </a:rPr>
              <a:t> de données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manquantes</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endParaRPr lang="en-GB" sz="1200" dirty="0"/>
          </a:p>
        </p:txBody>
      </p:sp>
      <p:sp>
        <p:nvSpPr>
          <p:cNvPr id="10" name="Rectangle 9">
            <a:extLst>
              <a:ext uri="{FF2B5EF4-FFF2-40B4-BE49-F238E27FC236}">
                <a16:creationId xmlns:a16="http://schemas.microsoft.com/office/drawing/2014/main" id="{B0444FC4-48F2-D9F1-FA2C-AE4716DAE9DB}"/>
              </a:ext>
            </a:extLst>
          </p:cNvPr>
          <p:cNvSpPr/>
          <p:nvPr>
            <p:custDataLst>
              <p:tags r:id="rId7"/>
            </p:custDataLst>
          </p:nvPr>
        </p:nvSpPr>
        <p:spPr>
          <a:xfrm>
            <a:off x="1241713" y="3431288"/>
            <a:ext cx="3239558" cy="295565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15697137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16273D-412F-6A7C-49B0-9FD4D4B5ED00}"/>
              </a:ext>
            </a:extLst>
          </p:cNvPr>
          <p:cNvSpPr>
            <a:spLocks noGrp="1"/>
          </p:cNvSpPr>
          <p:nvPr>
            <p:ph type="title"/>
            <p:custDataLst>
              <p:tags r:id="rId2"/>
            </p:custDataLst>
          </p:nvPr>
        </p:nvSpPr>
        <p:spPr/>
        <p:txBody>
          <a:bodyPr/>
          <a:lstStyle/>
          <a:p>
            <a:r>
              <a:rPr lang="en-GB" dirty="0" err="1"/>
              <a:t>Résultats</a:t>
            </a:r>
            <a:endParaRPr lang="en-GB" dirty="0"/>
          </a:p>
        </p:txBody>
      </p:sp>
      <p:sp>
        <p:nvSpPr>
          <p:cNvPr id="3" name="Espace réservé du numéro de diapositive 2">
            <a:extLst>
              <a:ext uri="{FF2B5EF4-FFF2-40B4-BE49-F238E27FC236}">
                <a16:creationId xmlns:a16="http://schemas.microsoft.com/office/drawing/2014/main" id="{83050D6C-A98F-2916-6BCF-54DF5BE74208}"/>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19</a:t>
            </a:r>
          </a:p>
        </p:txBody>
      </p:sp>
      <p:sp>
        <p:nvSpPr>
          <p:cNvPr id="4" name="Espace réservé du texte 3">
            <a:extLst>
              <a:ext uri="{FF2B5EF4-FFF2-40B4-BE49-F238E27FC236}">
                <a16:creationId xmlns:a16="http://schemas.microsoft.com/office/drawing/2014/main" id="{1DC8CD02-F69B-1A30-AC20-8A6841380989}"/>
              </a:ext>
            </a:extLst>
          </p:cNvPr>
          <p:cNvSpPr>
            <a:spLocks noGrp="1"/>
          </p:cNvSpPr>
          <p:nvPr>
            <p:ph type="body" idx="1"/>
            <p:custDataLst>
              <p:tags r:id="rId4"/>
            </p:custDataLst>
          </p:nvPr>
        </p:nvSpPr>
        <p:spPr/>
        <p:txBody>
          <a:bodyPr/>
          <a:lstStyle/>
          <a:p>
            <a:endParaRPr lang="en-GB" dirty="0"/>
          </a:p>
        </p:txBody>
      </p:sp>
      <p:pic>
        <p:nvPicPr>
          <p:cNvPr id="5" name="Image 4">
            <a:extLst>
              <a:ext uri="{FF2B5EF4-FFF2-40B4-BE49-F238E27FC236}">
                <a16:creationId xmlns:a16="http://schemas.microsoft.com/office/drawing/2014/main" id="{80336F13-9553-C60F-0FB5-6BF7CD5F1E0B}"/>
              </a:ext>
            </a:extLst>
          </p:cNvPr>
          <p:cNvPicPr>
            <a:picLocks noChangeAspect="1"/>
          </p:cNvPicPr>
          <p:nvPr>
            <p:custDataLst>
              <p:tags r:id="rId5"/>
            </p:custDataLst>
          </p:nvPr>
        </p:nvPicPr>
        <p:blipFill rotWithShape="1">
          <a:blip r:embed="rId11" cstate="print">
            <a:extLst>
              <a:ext uri="{28A0092B-C50C-407E-A947-70E740481C1C}">
                <a14:useLocalDpi xmlns:a14="http://schemas.microsoft.com/office/drawing/2010/main" val="0"/>
              </a:ext>
            </a:extLst>
          </a:blip>
          <a:srcRect l="2517" t="7787" r="1999" b="2708"/>
          <a:stretch/>
        </p:blipFill>
        <p:spPr bwMode="auto">
          <a:xfrm>
            <a:off x="1014067" y="1024558"/>
            <a:ext cx="6037897" cy="5658817"/>
          </a:xfrm>
          <a:prstGeom prst="rect">
            <a:avLst/>
          </a:prstGeom>
          <a:noFill/>
          <a:ln>
            <a:noFill/>
          </a:ln>
          <a:extLst>
            <a:ext uri="{53640926-AAD7-44D8-BBD7-CCE9431645EC}">
              <a14:shadowObscured xmlns:a14="http://schemas.microsoft.com/office/drawing/2010/main"/>
            </a:ext>
          </a:extLst>
        </p:spPr>
      </p:pic>
      <p:sp>
        <p:nvSpPr>
          <p:cNvPr id="6" name="ZoneTexte 5">
            <a:extLst>
              <a:ext uri="{FF2B5EF4-FFF2-40B4-BE49-F238E27FC236}">
                <a16:creationId xmlns:a16="http://schemas.microsoft.com/office/drawing/2014/main" id="{0D93D55E-A2B0-E035-FC7F-405DD6E04330}"/>
              </a:ext>
            </a:extLst>
          </p:cNvPr>
          <p:cNvSpPr txBox="1"/>
          <p:nvPr>
            <p:custDataLst>
              <p:tags r:id="rId6"/>
            </p:custDataLst>
          </p:nvPr>
        </p:nvSpPr>
        <p:spPr>
          <a:xfrm>
            <a:off x="7160517" y="5563590"/>
            <a:ext cx="3670494" cy="830997"/>
          </a:xfrm>
          <a:prstGeom prst="rect">
            <a:avLst/>
          </a:prstGeom>
          <a:noFill/>
        </p:spPr>
        <p:txBody>
          <a:bodyPr wrap="square">
            <a:spAutoFit/>
          </a:bodyPr>
          <a:lstStyle/>
          <a:p>
            <a:pPr algn="just"/>
            <a:r>
              <a:rPr lang="en-GB" sz="1600" dirty="0">
                <a:effectLst/>
                <a:latin typeface="Calibri" panose="020F0502020204030204" pitchFamily="34" charset="0"/>
                <a:ea typeface="SimSun" panose="02010600030101010101" pitchFamily="2" charset="-122"/>
                <a:cs typeface="Times New Roman" panose="02020603050405020304" pitchFamily="18" charset="0"/>
              </a:rPr>
              <a:t>Figure 11 : performance de la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méthode</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d’ajustement</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selon</a:t>
            </a:r>
            <a:r>
              <a:rPr lang="en-GB" sz="1600" dirty="0">
                <a:effectLst/>
                <a:latin typeface="Calibri" panose="020F0502020204030204" pitchFamily="34" charset="0"/>
                <a:ea typeface="SimSun" panose="02010600030101010101" pitchFamily="2" charset="-122"/>
                <a:cs typeface="Times New Roman" panose="02020603050405020304" pitchFamily="18" charset="0"/>
              </a:rPr>
              <a:t> le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taux</a:t>
            </a:r>
            <a:r>
              <a:rPr lang="en-GB" sz="1600" dirty="0">
                <a:effectLst/>
                <a:latin typeface="Calibri" panose="020F0502020204030204" pitchFamily="34" charset="0"/>
                <a:ea typeface="SimSun" panose="02010600030101010101" pitchFamily="2" charset="-122"/>
                <a:cs typeface="Times New Roman" panose="02020603050405020304" pitchFamily="18" charset="0"/>
              </a:rPr>
              <a:t> de données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manquantes</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endParaRPr lang="en-GB" sz="1200" dirty="0"/>
          </a:p>
        </p:txBody>
      </p:sp>
      <p:cxnSp>
        <p:nvCxnSpPr>
          <p:cNvPr id="7" name="Connecteur droit 6">
            <a:extLst>
              <a:ext uri="{FF2B5EF4-FFF2-40B4-BE49-F238E27FC236}">
                <a16:creationId xmlns:a16="http://schemas.microsoft.com/office/drawing/2014/main" id="{4CBDF845-464B-A318-0382-33970FBFB7A0}"/>
              </a:ext>
            </a:extLst>
          </p:cNvPr>
          <p:cNvCxnSpPr>
            <a:cxnSpLocks/>
          </p:cNvCxnSpPr>
          <p:nvPr>
            <p:custDataLst>
              <p:tags r:id="rId7"/>
            </p:custDataLst>
          </p:nvPr>
        </p:nvCxnSpPr>
        <p:spPr>
          <a:xfrm>
            <a:off x="1766084" y="5486791"/>
            <a:ext cx="2308496" cy="1"/>
          </a:xfrm>
          <a:prstGeom prst="line">
            <a:avLst/>
          </a:prstGeom>
          <a:ln w="38100"/>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B0444FC4-48F2-D9F1-FA2C-AE4716DAE9DB}"/>
              </a:ext>
            </a:extLst>
          </p:cNvPr>
          <p:cNvSpPr/>
          <p:nvPr>
            <p:custDataLst>
              <p:tags r:id="rId8"/>
            </p:custDataLst>
          </p:nvPr>
        </p:nvSpPr>
        <p:spPr>
          <a:xfrm>
            <a:off x="1241713" y="3431288"/>
            <a:ext cx="3239558" cy="295565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39932610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16273D-412F-6A7C-49B0-9FD4D4B5ED00}"/>
              </a:ext>
            </a:extLst>
          </p:cNvPr>
          <p:cNvSpPr>
            <a:spLocks noGrp="1"/>
          </p:cNvSpPr>
          <p:nvPr>
            <p:ph type="title"/>
            <p:custDataLst>
              <p:tags r:id="rId2"/>
            </p:custDataLst>
          </p:nvPr>
        </p:nvSpPr>
        <p:spPr/>
        <p:txBody>
          <a:bodyPr/>
          <a:lstStyle/>
          <a:p>
            <a:r>
              <a:rPr lang="en-GB" dirty="0" err="1"/>
              <a:t>Résultats</a:t>
            </a:r>
            <a:endParaRPr lang="en-GB" dirty="0"/>
          </a:p>
        </p:txBody>
      </p:sp>
      <p:sp>
        <p:nvSpPr>
          <p:cNvPr id="3" name="Espace réservé du numéro de diapositive 2">
            <a:extLst>
              <a:ext uri="{FF2B5EF4-FFF2-40B4-BE49-F238E27FC236}">
                <a16:creationId xmlns:a16="http://schemas.microsoft.com/office/drawing/2014/main" id="{83050D6C-A98F-2916-6BCF-54DF5BE74208}"/>
              </a:ext>
            </a:extLst>
          </p:cNvPr>
          <p:cNvSpPr>
            <a:spLocks noGrp="1"/>
          </p:cNvSpPr>
          <p:nvPr>
            <p:ph type="sldNum" idx="12"/>
            <p:custDataLst>
              <p:tags r:id="rId3"/>
            </p:custDataLst>
          </p:nvPr>
        </p:nvSpPr>
        <p:spPr/>
        <p:txBody>
          <a:bodyPr/>
          <a:lstStyle/>
          <a:p>
            <a:pPr marL="0" lvl="0" indent="0" algn="r" rtl="0">
              <a:spcBef>
                <a:spcPts val="0"/>
              </a:spcBef>
              <a:spcAft>
                <a:spcPts val="0"/>
              </a:spcAft>
              <a:buNone/>
            </a:pPr>
            <a:r>
              <a:rPr lang="fr-FR"/>
              <a:t>19</a:t>
            </a:r>
          </a:p>
        </p:txBody>
      </p:sp>
      <p:sp>
        <p:nvSpPr>
          <p:cNvPr id="4" name="Espace réservé du texte 3">
            <a:extLst>
              <a:ext uri="{FF2B5EF4-FFF2-40B4-BE49-F238E27FC236}">
                <a16:creationId xmlns:a16="http://schemas.microsoft.com/office/drawing/2014/main" id="{1DC8CD02-F69B-1A30-AC20-8A6841380989}"/>
              </a:ext>
            </a:extLst>
          </p:cNvPr>
          <p:cNvSpPr>
            <a:spLocks noGrp="1"/>
          </p:cNvSpPr>
          <p:nvPr>
            <p:ph type="body" idx="1"/>
            <p:custDataLst>
              <p:tags r:id="rId4"/>
            </p:custDataLst>
          </p:nvPr>
        </p:nvSpPr>
        <p:spPr/>
        <p:txBody>
          <a:bodyPr/>
          <a:lstStyle/>
          <a:p>
            <a:endParaRPr lang="en-GB" dirty="0"/>
          </a:p>
        </p:txBody>
      </p:sp>
      <p:pic>
        <p:nvPicPr>
          <p:cNvPr id="5" name="Image 4">
            <a:extLst>
              <a:ext uri="{FF2B5EF4-FFF2-40B4-BE49-F238E27FC236}">
                <a16:creationId xmlns:a16="http://schemas.microsoft.com/office/drawing/2014/main" id="{80336F13-9553-C60F-0FB5-6BF7CD5F1E0B}"/>
              </a:ext>
            </a:extLst>
          </p:cNvPr>
          <p:cNvPicPr>
            <a:picLocks noChangeAspect="1"/>
          </p:cNvPicPr>
          <p:nvPr>
            <p:custDataLst>
              <p:tags r:id="rId5"/>
            </p:custDataLst>
          </p:nvPr>
        </p:nvPicPr>
        <p:blipFill rotWithShape="1">
          <a:blip r:embed="rId13" cstate="print">
            <a:extLst>
              <a:ext uri="{28A0092B-C50C-407E-A947-70E740481C1C}">
                <a14:useLocalDpi xmlns:a14="http://schemas.microsoft.com/office/drawing/2010/main" val="0"/>
              </a:ext>
            </a:extLst>
          </a:blip>
          <a:srcRect l="2517" t="7787" r="1999" b="2708"/>
          <a:stretch/>
        </p:blipFill>
        <p:spPr bwMode="auto">
          <a:xfrm>
            <a:off x="1014067" y="1024558"/>
            <a:ext cx="6037897" cy="5658817"/>
          </a:xfrm>
          <a:prstGeom prst="rect">
            <a:avLst/>
          </a:prstGeom>
          <a:noFill/>
          <a:ln>
            <a:noFill/>
          </a:ln>
          <a:extLst>
            <a:ext uri="{53640926-AAD7-44D8-BBD7-CCE9431645EC}">
              <a14:shadowObscured xmlns:a14="http://schemas.microsoft.com/office/drawing/2010/main"/>
            </a:ext>
          </a:extLst>
        </p:spPr>
      </p:pic>
      <p:sp>
        <p:nvSpPr>
          <p:cNvPr id="6" name="ZoneTexte 5">
            <a:extLst>
              <a:ext uri="{FF2B5EF4-FFF2-40B4-BE49-F238E27FC236}">
                <a16:creationId xmlns:a16="http://schemas.microsoft.com/office/drawing/2014/main" id="{0D93D55E-A2B0-E035-FC7F-405DD6E04330}"/>
              </a:ext>
            </a:extLst>
          </p:cNvPr>
          <p:cNvSpPr txBox="1"/>
          <p:nvPr>
            <p:custDataLst>
              <p:tags r:id="rId6"/>
            </p:custDataLst>
          </p:nvPr>
        </p:nvSpPr>
        <p:spPr>
          <a:xfrm>
            <a:off x="7160517" y="5563590"/>
            <a:ext cx="3670494" cy="830997"/>
          </a:xfrm>
          <a:prstGeom prst="rect">
            <a:avLst/>
          </a:prstGeom>
          <a:noFill/>
        </p:spPr>
        <p:txBody>
          <a:bodyPr wrap="square">
            <a:spAutoFit/>
          </a:bodyPr>
          <a:lstStyle/>
          <a:p>
            <a:pPr algn="just"/>
            <a:r>
              <a:rPr lang="en-GB" sz="1600" dirty="0">
                <a:effectLst/>
                <a:latin typeface="Calibri" panose="020F0502020204030204" pitchFamily="34" charset="0"/>
                <a:ea typeface="SimSun" panose="02010600030101010101" pitchFamily="2" charset="-122"/>
                <a:cs typeface="Times New Roman" panose="02020603050405020304" pitchFamily="18" charset="0"/>
              </a:rPr>
              <a:t>Figure 11 : performance de la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méthode</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d’ajustement</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selon</a:t>
            </a:r>
            <a:r>
              <a:rPr lang="en-GB" sz="1600" dirty="0">
                <a:effectLst/>
                <a:latin typeface="Calibri" panose="020F0502020204030204" pitchFamily="34" charset="0"/>
                <a:ea typeface="SimSun" panose="02010600030101010101" pitchFamily="2" charset="-122"/>
                <a:cs typeface="Times New Roman" panose="02020603050405020304" pitchFamily="18" charset="0"/>
              </a:rPr>
              <a:t> le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taux</a:t>
            </a:r>
            <a:r>
              <a:rPr lang="en-GB" sz="1600" dirty="0">
                <a:effectLst/>
                <a:latin typeface="Calibri" panose="020F0502020204030204" pitchFamily="34" charset="0"/>
                <a:ea typeface="SimSun" panose="02010600030101010101" pitchFamily="2" charset="-122"/>
                <a:cs typeface="Times New Roman" panose="02020603050405020304" pitchFamily="18" charset="0"/>
              </a:rPr>
              <a:t> de données </a:t>
            </a:r>
            <a:r>
              <a:rPr lang="en-GB" sz="1600" dirty="0" err="1">
                <a:effectLst/>
                <a:latin typeface="Calibri" panose="020F0502020204030204" pitchFamily="34" charset="0"/>
                <a:ea typeface="SimSun" panose="02010600030101010101" pitchFamily="2" charset="-122"/>
                <a:cs typeface="Times New Roman" panose="02020603050405020304" pitchFamily="18" charset="0"/>
              </a:rPr>
              <a:t>manquantes</a:t>
            </a:r>
            <a:r>
              <a:rPr lang="en-GB" sz="1600" dirty="0">
                <a:effectLst/>
                <a:latin typeface="Calibri" panose="020F0502020204030204" pitchFamily="34" charset="0"/>
                <a:ea typeface="SimSun" panose="02010600030101010101" pitchFamily="2" charset="-122"/>
                <a:cs typeface="Times New Roman" panose="02020603050405020304" pitchFamily="18" charset="0"/>
              </a:rPr>
              <a:t>. </a:t>
            </a:r>
            <a:endParaRPr lang="en-GB" sz="1200" dirty="0"/>
          </a:p>
        </p:txBody>
      </p:sp>
      <p:cxnSp>
        <p:nvCxnSpPr>
          <p:cNvPr id="7" name="Connecteur droit 6">
            <a:extLst>
              <a:ext uri="{FF2B5EF4-FFF2-40B4-BE49-F238E27FC236}">
                <a16:creationId xmlns:a16="http://schemas.microsoft.com/office/drawing/2014/main" id="{4CBDF845-464B-A318-0382-33970FBFB7A0}"/>
              </a:ext>
            </a:extLst>
          </p:cNvPr>
          <p:cNvCxnSpPr>
            <a:cxnSpLocks/>
          </p:cNvCxnSpPr>
          <p:nvPr>
            <p:custDataLst>
              <p:tags r:id="rId7"/>
            </p:custDataLst>
          </p:nvPr>
        </p:nvCxnSpPr>
        <p:spPr>
          <a:xfrm>
            <a:off x="1766084" y="5486791"/>
            <a:ext cx="2308496" cy="1"/>
          </a:xfrm>
          <a:prstGeom prst="line">
            <a:avLst/>
          </a:prstGeom>
          <a:ln w="38100"/>
        </p:spPr>
        <p:style>
          <a:lnRef idx="1">
            <a:schemeClr val="dk1"/>
          </a:lnRef>
          <a:fillRef idx="0">
            <a:schemeClr val="dk1"/>
          </a:fillRef>
          <a:effectRef idx="0">
            <a:schemeClr val="dk1"/>
          </a:effectRef>
          <a:fontRef idx="minor">
            <a:schemeClr val="tx1"/>
          </a:fontRef>
        </p:style>
      </p:cxnSp>
      <p:cxnSp>
        <p:nvCxnSpPr>
          <p:cNvPr id="8" name="Connecteur droit avec flèche 7">
            <a:extLst>
              <a:ext uri="{FF2B5EF4-FFF2-40B4-BE49-F238E27FC236}">
                <a16:creationId xmlns:a16="http://schemas.microsoft.com/office/drawing/2014/main" id="{45337651-21B0-856A-AC45-952FFDE7B4C8}"/>
              </a:ext>
            </a:extLst>
          </p:cNvPr>
          <p:cNvCxnSpPr>
            <a:cxnSpLocks/>
          </p:cNvCxnSpPr>
          <p:nvPr>
            <p:custDataLst>
              <p:tags r:id="rId8"/>
            </p:custDataLst>
          </p:nvPr>
        </p:nvCxnSpPr>
        <p:spPr>
          <a:xfrm>
            <a:off x="2774377" y="5516425"/>
            <a:ext cx="0" cy="66896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a:extLst>
              <a:ext uri="{FF2B5EF4-FFF2-40B4-BE49-F238E27FC236}">
                <a16:creationId xmlns:a16="http://schemas.microsoft.com/office/drawing/2014/main" id="{0D9398F7-651B-76E1-D798-81BF823600FE}"/>
              </a:ext>
            </a:extLst>
          </p:cNvPr>
          <p:cNvCxnSpPr>
            <a:cxnSpLocks/>
          </p:cNvCxnSpPr>
          <p:nvPr>
            <p:custDataLst>
              <p:tags r:id="rId9"/>
            </p:custDataLst>
          </p:nvPr>
        </p:nvCxnSpPr>
        <p:spPr>
          <a:xfrm>
            <a:off x="4036875" y="5488942"/>
            <a:ext cx="0" cy="68718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B0444FC4-48F2-D9F1-FA2C-AE4716DAE9DB}"/>
              </a:ext>
            </a:extLst>
          </p:cNvPr>
          <p:cNvSpPr/>
          <p:nvPr>
            <p:custDataLst>
              <p:tags r:id="rId10"/>
            </p:custDataLst>
          </p:nvPr>
        </p:nvSpPr>
        <p:spPr>
          <a:xfrm>
            <a:off x="1241713" y="3431288"/>
            <a:ext cx="3239558" cy="295565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16637981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091139-F22B-D60B-2ACD-103272F61B23}"/>
              </a:ext>
            </a:extLst>
          </p:cNvPr>
          <p:cNvSpPr>
            <a:spLocks noGrp="1"/>
          </p:cNvSpPr>
          <p:nvPr>
            <p:ph type="title"/>
          </p:nvPr>
        </p:nvSpPr>
        <p:spPr/>
        <p:txBody>
          <a:bodyPr/>
          <a:lstStyle/>
          <a:p>
            <a:r>
              <a:rPr lang="fr-FR" dirty="0"/>
              <a:t>Réutilisabilité</a:t>
            </a:r>
            <a:r>
              <a:rPr lang="en-GB" dirty="0"/>
              <a:t> de données </a:t>
            </a:r>
            <a:r>
              <a:rPr lang="en-GB" dirty="0" err="1"/>
              <a:t>manquantes</a:t>
            </a:r>
            <a:r>
              <a:rPr lang="en-GB" dirty="0"/>
              <a:t> </a:t>
            </a:r>
          </a:p>
        </p:txBody>
      </p:sp>
      <p:sp>
        <p:nvSpPr>
          <p:cNvPr id="3" name="Espace réservé du numéro de diapositive 2">
            <a:extLst>
              <a:ext uri="{FF2B5EF4-FFF2-40B4-BE49-F238E27FC236}">
                <a16:creationId xmlns:a16="http://schemas.microsoft.com/office/drawing/2014/main" id="{DAF1C267-3FF9-FF1B-AAF9-710FCDE949DE}"/>
              </a:ext>
            </a:extLst>
          </p:cNvPr>
          <p:cNvSpPr>
            <a:spLocks noGrp="1"/>
          </p:cNvSpPr>
          <p:nvPr>
            <p:ph type="sldNum" idx="12"/>
          </p:nvPr>
        </p:nvSpPr>
        <p:spPr/>
        <p:txBody>
          <a:bodyPr/>
          <a:lstStyle/>
          <a:p>
            <a:pPr marL="0" lvl="0" indent="0" algn="r" rtl="0">
              <a:spcBef>
                <a:spcPts val="0"/>
              </a:spcBef>
              <a:spcAft>
                <a:spcPts val="0"/>
              </a:spcAft>
              <a:buNone/>
            </a:pPr>
            <a:r>
              <a:rPr lang="fr-FR"/>
              <a:t>20</a:t>
            </a:r>
          </a:p>
        </p:txBody>
      </p:sp>
      <p:sp>
        <p:nvSpPr>
          <p:cNvPr id="4" name="Espace réservé du texte 3">
            <a:extLst>
              <a:ext uri="{FF2B5EF4-FFF2-40B4-BE49-F238E27FC236}">
                <a16:creationId xmlns:a16="http://schemas.microsoft.com/office/drawing/2014/main" id="{0207073B-3F25-BE7D-14CA-CD7629BB3604}"/>
              </a:ext>
            </a:extLst>
          </p:cNvPr>
          <p:cNvSpPr>
            <a:spLocks noGrp="1"/>
          </p:cNvSpPr>
          <p:nvPr>
            <p:ph type="body" idx="1"/>
          </p:nvPr>
        </p:nvSpPr>
        <p:spPr/>
        <p:txBody>
          <a:bodyPr/>
          <a:lstStyle/>
          <a:p>
            <a:endParaRPr lang="en-GB"/>
          </a:p>
        </p:txBody>
      </p:sp>
      <p:pic>
        <p:nvPicPr>
          <p:cNvPr id="5" name="Image 4">
            <a:extLst>
              <a:ext uri="{FF2B5EF4-FFF2-40B4-BE49-F238E27FC236}">
                <a16:creationId xmlns:a16="http://schemas.microsoft.com/office/drawing/2014/main" id="{BFF2446F-048B-83A9-34A6-B07ED96DFEA9}"/>
              </a:ext>
            </a:extLst>
          </p:cNvPr>
          <p:cNvPicPr>
            <a:picLocks noChangeAspect="1"/>
          </p:cNvPicPr>
          <p:nvPr/>
        </p:nvPicPr>
        <p:blipFill>
          <a:blip r:embed="rId4"/>
          <a:stretch>
            <a:fillRect/>
          </a:stretch>
        </p:blipFill>
        <p:spPr>
          <a:xfrm>
            <a:off x="2186165" y="1026681"/>
            <a:ext cx="7858379" cy="4869210"/>
          </a:xfrm>
          <a:prstGeom prst="rect">
            <a:avLst/>
          </a:prstGeom>
        </p:spPr>
      </p:pic>
      <p:sp>
        <p:nvSpPr>
          <p:cNvPr id="6" name="ZoneTexte 5">
            <a:extLst>
              <a:ext uri="{FF2B5EF4-FFF2-40B4-BE49-F238E27FC236}">
                <a16:creationId xmlns:a16="http://schemas.microsoft.com/office/drawing/2014/main" id="{D58B8C4A-0819-C446-CE91-601C0FE41B9C}"/>
              </a:ext>
            </a:extLst>
          </p:cNvPr>
          <p:cNvSpPr txBox="1"/>
          <p:nvPr/>
        </p:nvSpPr>
        <p:spPr>
          <a:xfrm>
            <a:off x="2639998" y="5831319"/>
            <a:ext cx="6950711" cy="585994"/>
          </a:xfrm>
          <a:prstGeom prst="rect">
            <a:avLst/>
          </a:prstGeom>
          <a:noFill/>
        </p:spPr>
        <p:txBody>
          <a:bodyPr wrap="square">
            <a:spAutoFit/>
          </a:bodyPr>
          <a:lstStyle/>
          <a:p>
            <a:pPr algn="ctr">
              <a:lnSpc>
                <a:spcPct val="102000"/>
              </a:lnSpc>
              <a:spcAft>
                <a:spcPts val="500"/>
              </a:spcAft>
            </a:pPr>
            <a:r>
              <a:rPr lang="en-US" sz="1600" dirty="0">
                <a:effectLst/>
                <a:latin typeface="Calibri" panose="020F0502020204030204" pitchFamily="34" charset="0"/>
                <a:ea typeface="SimSun" panose="02010600030101010101" pitchFamily="2" charset="-122"/>
                <a:cs typeface="Times New Roman" panose="02020603050405020304" pitchFamily="18" charset="0"/>
              </a:rPr>
              <a:t>Figure 12: </a:t>
            </a:r>
            <a:r>
              <a:rPr lang="fr-FR" sz="1600" dirty="0">
                <a:effectLst/>
                <a:latin typeface="Calibri" panose="020F0502020204030204" pitchFamily="34" charset="0"/>
                <a:ea typeface="SimSun" panose="02010600030101010101" pitchFamily="2" charset="-122"/>
                <a:cs typeface="Times New Roman" panose="02020603050405020304" pitchFamily="18" charset="0"/>
              </a:rPr>
              <a:t>taux maximal de valeurs manquantes tolérable pour chacune des méthodes, toutes sous-stations confondues.</a:t>
            </a:r>
          </a:p>
        </p:txBody>
      </p:sp>
    </p:spTree>
    <p:custDataLst>
      <p:tags r:id="rId1"/>
    </p:custDataLst>
    <p:extLst>
      <p:ext uri="{BB962C8B-B14F-4D97-AF65-F5344CB8AC3E}">
        <p14:creationId xmlns:p14="http://schemas.microsoft.com/office/powerpoint/2010/main" val="25769824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g35094c70174_0_134"/>
          <p:cNvSpPr txBox="1">
            <a:spLocks noGrp="1"/>
          </p:cNvSpPr>
          <p:nvPr>
            <p:ph type="title"/>
          </p:nvPr>
        </p:nvSpPr>
        <p:spPr>
          <a:xfrm>
            <a:off x="1899700" y="2978600"/>
            <a:ext cx="10090500" cy="1326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a:solidFill>
                  <a:srgbClr val="143F6A"/>
                </a:solidFill>
              </a:rPr>
              <a:t>Conclusions </a:t>
            </a:r>
            <a:endParaRPr>
              <a:solidFill>
                <a:srgbClr val="143F6A"/>
              </a:solidFill>
            </a:endParaRPr>
          </a:p>
        </p:txBody>
      </p:sp>
      <p:sp>
        <p:nvSpPr>
          <p:cNvPr id="354" name="Google Shape;354;g35094c70174_0_134"/>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r>
              <a:rPr lang="fr-FR"/>
              <a:t>21</a:t>
            </a:r>
            <a:endParaRPr/>
          </a:p>
        </p:txBody>
      </p:sp>
    </p:spTree>
    <p:custDataLst>
      <p:tags r:id="rId1"/>
    </p:custDataLst>
    <p:extLst>
      <p:ext uri="{BB962C8B-B14F-4D97-AF65-F5344CB8AC3E}">
        <p14:creationId xmlns:p14="http://schemas.microsoft.com/office/powerpoint/2010/main" val="31286069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337e9dfef88_0_136"/>
          <p:cNvSpPr txBox="1">
            <a:spLocks noGrp="1"/>
          </p:cNvSpPr>
          <p:nvPr>
            <p:ph type="title"/>
          </p:nvPr>
        </p:nvSpPr>
        <p:spPr>
          <a:xfrm>
            <a:off x="296658" y="302898"/>
            <a:ext cx="11448300" cy="427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fr-FR">
                <a:solidFill>
                  <a:srgbClr val="143F6A"/>
                </a:solidFill>
              </a:rPr>
              <a:t>Conclusions</a:t>
            </a:r>
            <a:endParaRPr>
              <a:solidFill>
                <a:srgbClr val="143F6A"/>
              </a:solidFill>
            </a:endParaRPr>
          </a:p>
        </p:txBody>
      </p:sp>
      <p:sp>
        <p:nvSpPr>
          <p:cNvPr id="361" name="Google Shape;361;g337e9dfef88_0_136"/>
          <p:cNvSpPr txBox="1">
            <a:spLocks noGrp="1"/>
          </p:cNvSpPr>
          <p:nvPr>
            <p:ph type="sldNum" idx="12"/>
          </p:nvPr>
        </p:nvSpPr>
        <p:spPr>
          <a:xfrm>
            <a:off x="11744960" y="6486920"/>
            <a:ext cx="402900" cy="371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r>
              <a:rPr lang="fr-FR"/>
              <a:t>22</a:t>
            </a:r>
            <a:endParaRPr/>
          </a:p>
        </p:txBody>
      </p:sp>
      <p:sp>
        <p:nvSpPr>
          <p:cNvPr id="362" name="Google Shape;362;g337e9dfef88_0_136"/>
          <p:cNvSpPr txBox="1">
            <a:spLocks noGrp="1"/>
          </p:cNvSpPr>
          <p:nvPr>
            <p:ph type="body" idx="1"/>
          </p:nvPr>
        </p:nvSpPr>
        <p:spPr>
          <a:xfrm>
            <a:off x="296650" y="1222375"/>
            <a:ext cx="11448300" cy="5460900"/>
          </a:xfrm>
          <a:prstGeom prst="rect">
            <a:avLst/>
          </a:prstGeom>
          <a:noFill/>
          <a:ln>
            <a:noFill/>
          </a:ln>
        </p:spPr>
        <p:txBody>
          <a:bodyPr spcFirstLastPara="1" wrap="square" lIns="91425" tIns="45700" rIns="91425" bIns="45700" anchor="t" anchorCtr="0">
            <a:noAutofit/>
          </a:bodyPr>
          <a:lstStyle/>
          <a:p>
            <a:pPr marL="76200" lvl="0" indent="0" algn="l" rtl="0">
              <a:lnSpc>
                <a:spcPct val="100000"/>
              </a:lnSpc>
              <a:spcBef>
                <a:spcPts val="0"/>
              </a:spcBef>
              <a:spcAft>
                <a:spcPts val="0"/>
              </a:spcAft>
              <a:buClr>
                <a:srgbClr val="253356"/>
              </a:buClr>
              <a:buSzPts val="2400"/>
              <a:buNone/>
            </a:pPr>
            <a:r>
              <a:rPr lang="fr-FR" dirty="0">
                <a:solidFill>
                  <a:srgbClr val="253356"/>
                </a:solidFill>
              </a:rPr>
              <a:t>Qualité de données : </a:t>
            </a:r>
          </a:p>
          <a:p>
            <a:pPr algn="l">
              <a:spcBef>
                <a:spcPts val="0"/>
              </a:spcBef>
              <a:buClr>
                <a:srgbClr val="253356"/>
              </a:buClr>
            </a:pPr>
            <a:r>
              <a:rPr lang="fr-FR" dirty="0">
                <a:solidFill>
                  <a:srgbClr val="253356"/>
                </a:solidFill>
              </a:rPr>
              <a:t>Les anomalies dans les séries temporelles peuvent être très variées et nécessitent des solutions mixtes pour traiter les différents types d’anomalie.</a:t>
            </a:r>
            <a:endParaRPr dirty="0">
              <a:solidFill>
                <a:srgbClr val="253356"/>
              </a:solidFill>
            </a:endParaRPr>
          </a:p>
          <a:p>
            <a:pPr algn="l">
              <a:spcBef>
                <a:spcPts val="0"/>
              </a:spcBef>
              <a:buClr>
                <a:srgbClr val="253356"/>
              </a:buClr>
            </a:pPr>
            <a:r>
              <a:rPr lang="fr-FR" dirty="0">
                <a:solidFill>
                  <a:srgbClr val="253356"/>
                </a:solidFill>
              </a:rPr>
              <a:t>Les approches d’algorithme non-supervisé permettent de détecter les anomalies qui échappent au traitement traditionnel (analyse spectrale et lois empiriques).</a:t>
            </a:r>
            <a:endParaRPr dirty="0">
              <a:solidFill>
                <a:srgbClr val="253356"/>
              </a:solidFill>
            </a:endParaRPr>
          </a:p>
          <a:p>
            <a:pPr marL="0" lvl="0" indent="0" algn="l" rtl="0">
              <a:lnSpc>
                <a:spcPct val="100000"/>
              </a:lnSpc>
              <a:spcBef>
                <a:spcPts val="500"/>
              </a:spcBef>
              <a:spcAft>
                <a:spcPts val="0"/>
              </a:spcAft>
              <a:buSzPts val="2400"/>
              <a:buNone/>
            </a:pPr>
            <a:endParaRPr lang="fr-FR" dirty="0">
              <a:solidFill>
                <a:srgbClr val="253356"/>
              </a:solidFill>
            </a:endParaRPr>
          </a:p>
          <a:p>
            <a:pPr marL="0" lvl="0" indent="0" algn="l" rtl="0">
              <a:lnSpc>
                <a:spcPct val="100000"/>
              </a:lnSpc>
              <a:spcBef>
                <a:spcPts val="500"/>
              </a:spcBef>
              <a:spcAft>
                <a:spcPts val="0"/>
              </a:spcAft>
              <a:buSzPts val="2400"/>
              <a:buNone/>
            </a:pPr>
            <a:r>
              <a:rPr lang="fr-FR" dirty="0">
                <a:solidFill>
                  <a:srgbClr val="253356"/>
                </a:solidFill>
              </a:rPr>
              <a:t>Disponibilité de données :</a:t>
            </a:r>
          </a:p>
          <a:p>
            <a:pPr marL="342900" indent="-342900" algn="l">
              <a:spcBef>
                <a:spcPts val="500"/>
              </a:spcBef>
            </a:pPr>
            <a:r>
              <a:rPr lang="fr-FR" dirty="0">
                <a:solidFill>
                  <a:srgbClr val="253356"/>
                </a:solidFill>
              </a:rPr>
              <a:t>Éviter les longues plages d’absences : des périodes prolongées de données manquantes risquent de biaiser les conclusions de validation.</a:t>
            </a:r>
          </a:p>
          <a:p>
            <a:pPr marL="342900" indent="-342900" algn="l">
              <a:spcBef>
                <a:spcPts val="500"/>
              </a:spcBef>
            </a:pPr>
            <a:r>
              <a:rPr lang="fr-FR" dirty="0">
                <a:solidFill>
                  <a:srgbClr val="253356"/>
                </a:solidFill>
              </a:rPr>
              <a:t>Si l’incomplétude est inévitable, privilégier des techniques d’ajustement de biais avant toute analyse.</a:t>
            </a:r>
          </a:p>
          <a:p>
            <a:pPr marL="342900" indent="-342900" algn="l">
              <a:spcBef>
                <a:spcPts val="500"/>
              </a:spcBef>
            </a:pPr>
            <a:r>
              <a:rPr lang="fr-FR" dirty="0">
                <a:solidFill>
                  <a:srgbClr val="253356"/>
                </a:solidFill>
              </a:rPr>
              <a:t>La réutilisabilité d’un jeu incomplet reste spécifique au cas étudié ; chaque situation doit être évaluée selon ses propres marges d’erreur acceptables.</a:t>
            </a:r>
            <a:endParaRPr dirty="0">
              <a:solidFill>
                <a:srgbClr val="253356"/>
              </a:solidFill>
            </a:endParaRPr>
          </a:p>
        </p:txBody>
      </p:sp>
    </p:spTree>
    <p:custDataLst>
      <p:tags r:id="rId1"/>
    </p:custDataLst>
    <p:extLst>
      <p:ext uri="{BB962C8B-B14F-4D97-AF65-F5344CB8AC3E}">
        <p14:creationId xmlns:p14="http://schemas.microsoft.com/office/powerpoint/2010/main" val="7591767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13"/>
          <p:cNvSpPr txBox="1">
            <a:spLocks noGrp="1"/>
          </p:cNvSpPr>
          <p:nvPr>
            <p:ph type="title"/>
          </p:nvPr>
        </p:nvSpPr>
        <p:spPr>
          <a:xfrm>
            <a:off x="838200" y="2726575"/>
            <a:ext cx="10395857" cy="967481"/>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224F76"/>
              </a:buClr>
              <a:buSzPts val="4400"/>
              <a:buFont typeface="Verdana"/>
              <a:buNone/>
            </a:pPr>
            <a:r>
              <a:rPr lang="fr-FR"/>
              <a:t>Merci !</a:t>
            </a:r>
            <a:endParaRPr/>
          </a:p>
        </p:txBody>
      </p:sp>
      <p:sp>
        <p:nvSpPr>
          <p:cNvPr id="376" name="Google Shape;376;p13"/>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r>
              <a:rPr lang="fr-FR"/>
              <a:t>23</a:t>
            </a:r>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
</p:tagLst>
</file>

<file path=ppt/tags/tag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
</p:tagLst>
</file>

<file path=ppt/tags/tag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
</p:tagLst>
</file>

<file path=ppt/tags/tag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
  <p:tag name="PPSPLIT_DONE" val="1"/>
</p:tagLst>
</file>

<file path=ppt/tags/tag5.xml><?xml version="1.0" encoding="utf-8"?>
<p:tagLst xmlns:a="http://schemas.openxmlformats.org/drawingml/2006/main" xmlns:r="http://schemas.openxmlformats.org/officeDocument/2006/relationships" xmlns:p="http://schemas.openxmlformats.org/presentationml/2006/main">
  <p:tag name="PPSPLIT_ID" val=" 152"/>
</p:tagLst>
</file>

<file path=ppt/tags/tag6.xml><?xml version="1.0" encoding="utf-8"?>
<p:tagLst xmlns:a="http://schemas.openxmlformats.org/drawingml/2006/main" xmlns:r="http://schemas.openxmlformats.org/officeDocument/2006/relationships" xmlns:p="http://schemas.openxmlformats.org/presentationml/2006/main">
  <p:tag name="PPSPLIT_ID" val=" 153"/>
</p:tagLst>
</file>

<file path=ppt/tags/tag7.xml><?xml version="1.0" encoding="utf-8"?>
<p:tagLst xmlns:a="http://schemas.openxmlformats.org/drawingml/2006/main" xmlns:r="http://schemas.openxmlformats.org/officeDocument/2006/relationships" xmlns:p="http://schemas.openxmlformats.org/presentationml/2006/main">
  <p:tag name="PPSPLIT_ID" val=" 154"/>
</p:tagLst>
</file>

<file path=ppt/tags/tag8.xml><?xml version="1.0" encoding="utf-8"?>
<p:tagLst xmlns:a="http://schemas.openxmlformats.org/drawingml/2006/main" xmlns:r="http://schemas.openxmlformats.org/officeDocument/2006/relationships" xmlns:p="http://schemas.openxmlformats.org/presentationml/2006/main">
  <p:tag name="PPSPLIT_ID" val=" 5"/>
</p:tagLst>
</file>

<file path=ppt/tags/tag9.xml><?xml version="1.0" encoding="utf-8"?>
<p:tagLst xmlns:a="http://schemas.openxmlformats.org/drawingml/2006/main" xmlns:r="http://schemas.openxmlformats.org/officeDocument/2006/relationships" xmlns:p="http://schemas.openxmlformats.org/presentationml/2006/main">
  <p:tag name="PPSPLIT_ID" val=" 6"/>
</p:tagLst>
</file>

<file path=ppt/tags/tag1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
  <p:tag name="PPSPLIT_DONE" val="1"/>
</p:tagLst>
</file>

<file path=ppt/tags/tag11.xml><?xml version="1.0" encoding="utf-8"?>
<p:tagLst xmlns:a="http://schemas.openxmlformats.org/drawingml/2006/main" xmlns:r="http://schemas.openxmlformats.org/officeDocument/2006/relationships" xmlns:p="http://schemas.openxmlformats.org/presentationml/2006/main">
  <p:tag name="PPSPLIT_ID" val=" 152"/>
</p:tagLst>
</file>

<file path=ppt/tags/tag12.xml><?xml version="1.0" encoding="utf-8"?>
<p:tagLst xmlns:a="http://schemas.openxmlformats.org/drawingml/2006/main" xmlns:r="http://schemas.openxmlformats.org/officeDocument/2006/relationships" xmlns:p="http://schemas.openxmlformats.org/presentationml/2006/main">
  <p:tag name="PPSPLIT_ID" val=" 153"/>
</p:tagLst>
</file>

<file path=ppt/tags/tag13.xml><?xml version="1.0" encoding="utf-8"?>
<p:tagLst xmlns:a="http://schemas.openxmlformats.org/drawingml/2006/main" xmlns:r="http://schemas.openxmlformats.org/officeDocument/2006/relationships" xmlns:p="http://schemas.openxmlformats.org/presentationml/2006/main">
  <p:tag name="PPSPLIT_ID" val=" 154"/>
</p:tagLst>
</file>

<file path=ppt/tags/tag14.xml><?xml version="1.0" encoding="utf-8"?>
<p:tagLst xmlns:a="http://schemas.openxmlformats.org/drawingml/2006/main" xmlns:r="http://schemas.openxmlformats.org/officeDocument/2006/relationships" xmlns:p="http://schemas.openxmlformats.org/presentationml/2006/main">
  <p:tag name="PPSPLIT_ID" val=" 5"/>
</p:tagLst>
</file>

<file path=ppt/tags/tag15.xml><?xml version="1.0" encoding="utf-8"?>
<p:tagLst xmlns:a="http://schemas.openxmlformats.org/drawingml/2006/main" xmlns:r="http://schemas.openxmlformats.org/officeDocument/2006/relationships" xmlns:p="http://schemas.openxmlformats.org/presentationml/2006/main">
  <p:tag name="PPSPLIT_ID" val=" 6"/>
</p:tagLst>
</file>

<file path=ppt/tags/tag1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
</p:tagLst>
</file>

<file path=ppt/tags/tag17.xml><?xml version="1.0" encoding="utf-8"?>
<p:tagLst xmlns:a="http://schemas.openxmlformats.org/drawingml/2006/main" xmlns:r="http://schemas.openxmlformats.org/officeDocument/2006/relationships" xmlns:p="http://schemas.openxmlformats.org/presentationml/2006/main">
  <p:tag name="PPSPLIT_ID" val=" 152"/>
</p:tagLst>
</file>

<file path=ppt/tags/tag18.xml><?xml version="1.0" encoding="utf-8"?>
<p:tagLst xmlns:a="http://schemas.openxmlformats.org/drawingml/2006/main" xmlns:r="http://schemas.openxmlformats.org/officeDocument/2006/relationships" xmlns:p="http://schemas.openxmlformats.org/presentationml/2006/main">
  <p:tag name="PPSPLIT_ID" val=" 153"/>
</p:tagLst>
</file>

<file path=ppt/tags/tag19.xml><?xml version="1.0" encoding="utf-8"?>
<p:tagLst xmlns:a="http://schemas.openxmlformats.org/drawingml/2006/main" xmlns:r="http://schemas.openxmlformats.org/officeDocument/2006/relationships" xmlns:p="http://schemas.openxmlformats.org/presentationml/2006/main">
  <p:tag name="PPSPLIT_ID" val=" 154"/>
</p:tagLst>
</file>

<file path=ppt/tags/tag20.xml><?xml version="1.0" encoding="utf-8"?>
<p:tagLst xmlns:a="http://schemas.openxmlformats.org/drawingml/2006/main" xmlns:r="http://schemas.openxmlformats.org/officeDocument/2006/relationships" xmlns:p="http://schemas.openxmlformats.org/presentationml/2006/main">
  <p:tag name="PPSPLIT_ID" val=" 5"/>
</p:tagLst>
</file>

<file path=ppt/tags/tag21.xml><?xml version="1.0" encoding="utf-8"?>
<p:tagLst xmlns:a="http://schemas.openxmlformats.org/drawingml/2006/main" xmlns:r="http://schemas.openxmlformats.org/officeDocument/2006/relationships" xmlns:p="http://schemas.openxmlformats.org/presentationml/2006/main">
  <p:tag name="PPSPLIT_ID" val=" 6"/>
</p:tagLst>
</file>

<file path=ppt/tags/tag2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
  <p:tag name="PPSPLIT_DONE" val="1"/>
</p:tagLst>
</file>

<file path=ppt/tags/tag23.xml><?xml version="1.0" encoding="utf-8"?>
<p:tagLst xmlns:a="http://schemas.openxmlformats.org/drawingml/2006/main" xmlns:r="http://schemas.openxmlformats.org/officeDocument/2006/relationships" xmlns:p="http://schemas.openxmlformats.org/presentationml/2006/main">
  <p:tag name="PPSPLIT_ID" val=" 169"/>
</p:tagLst>
</file>

<file path=ppt/tags/tag24.xml><?xml version="1.0" encoding="utf-8"?>
<p:tagLst xmlns:a="http://schemas.openxmlformats.org/drawingml/2006/main" xmlns:r="http://schemas.openxmlformats.org/officeDocument/2006/relationships" xmlns:p="http://schemas.openxmlformats.org/presentationml/2006/main">
  <p:tag name="PPSPLIT_ID" val=" 170"/>
</p:tagLst>
</file>

<file path=ppt/tags/tag25.xml><?xml version="1.0" encoding="utf-8"?>
<p:tagLst xmlns:a="http://schemas.openxmlformats.org/drawingml/2006/main" xmlns:r="http://schemas.openxmlformats.org/officeDocument/2006/relationships" xmlns:p="http://schemas.openxmlformats.org/presentationml/2006/main">
  <p:tag name="PPSPLIT_ID" val=" 171"/>
</p:tagLst>
</file>

<file path=ppt/tags/tag2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
  <p:tag name="PPSPLIT_DONE" val="1"/>
</p:tagLst>
</file>

<file path=ppt/tags/tag27.xml><?xml version="1.0" encoding="utf-8"?>
<p:tagLst xmlns:a="http://schemas.openxmlformats.org/drawingml/2006/main" xmlns:r="http://schemas.openxmlformats.org/officeDocument/2006/relationships" xmlns:p="http://schemas.openxmlformats.org/presentationml/2006/main">
  <p:tag name="PPSPLIT_ID" val=" 169"/>
</p:tagLst>
</file>

<file path=ppt/tags/tag28.xml><?xml version="1.0" encoding="utf-8"?>
<p:tagLst xmlns:a="http://schemas.openxmlformats.org/drawingml/2006/main" xmlns:r="http://schemas.openxmlformats.org/officeDocument/2006/relationships" xmlns:p="http://schemas.openxmlformats.org/presentationml/2006/main">
  <p:tag name="PPSPLIT_ID" val=" 170"/>
</p:tagLst>
</file>

<file path=ppt/tags/tag29.xml><?xml version="1.0" encoding="utf-8"?>
<p:tagLst xmlns:a="http://schemas.openxmlformats.org/drawingml/2006/main" xmlns:r="http://schemas.openxmlformats.org/officeDocument/2006/relationships" xmlns:p="http://schemas.openxmlformats.org/presentationml/2006/main">
  <p:tag name="PPSPLIT_ID" val=" 171"/>
</p:tagLst>
</file>

<file path=ppt/tags/tag3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
  <p:tag name="PPSPLIT_DONE" val="1"/>
</p:tagLst>
</file>

<file path=ppt/tags/tag31.xml><?xml version="1.0" encoding="utf-8"?>
<p:tagLst xmlns:a="http://schemas.openxmlformats.org/drawingml/2006/main" xmlns:r="http://schemas.openxmlformats.org/officeDocument/2006/relationships" xmlns:p="http://schemas.openxmlformats.org/presentationml/2006/main">
  <p:tag name="PPSPLIT_ID" val=" 169"/>
</p:tagLst>
</file>

<file path=ppt/tags/tag32.xml><?xml version="1.0" encoding="utf-8"?>
<p:tagLst xmlns:a="http://schemas.openxmlformats.org/drawingml/2006/main" xmlns:r="http://schemas.openxmlformats.org/officeDocument/2006/relationships" xmlns:p="http://schemas.openxmlformats.org/presentationml/2006/main">
  <p:tag name="PPSPLIT_ID" val=" 170"/>
</p:tagLst>
</file>

<file path=ppt/tags/tag33.xml><?xml version="1.0" encoding="utf-8"?>
<p:tagLst xmlns:a="http://schemas.openxmlformats.org/drawingml/2006/main" xmlns:r="http://schemas.openxmlformats.org/officeDocument/2006/relationships" xmlns:p="http://schemas.openxmlformats.org/presentationml/2006/main">
  <p:tag name="PPSPLIT_ID" val=" 171"/>
</p:tagLst>
</file>

<file path=ppt/tags/tag3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
</p:tagLst>
</file>

<file path=ppt/tags/tag35.xml><?xml version="1.0" encoding="utf-8"?>
<p:tagLst xmlns:a="http://schemas.openxmlformats.org/drawingml/2006/main" xmlns:r="http://schemas.openxmlformats.org/officeDocument/2006/relationships" xmlns:p="http://schemas.openxmlformats.org/presentationml/2006/main">
  <p:tag name="PPSPLIT_ID" val=" 169"/>
</p:tagLst>
</file>

<file path=ppt/tags/tag36.xml><?xml version="1.0" encoding="utf-8"?>
<p:tagLst xmlns:a="http://schemas.openxmlformats.org/drawingml/2006/main" xmlns:r="http://schemas.openxmlformats.org/officeDocument/2006/relationships" xmlns:p="http://schemas.openxmlformats.org/presentationml/2006/main">
  <p:tag name="PPSPLIT_ID" val=" 170"/>
</p:tagLst>
</file>

<file path=ppt/tags/tag37.xml><?xml version="1.0" encoding="utf-8"?>
<p:tagLst xmlns:a="http://schemas.openxmlformats.org/drawingml/2006/main" xmlns:r="http://schemas.openxmlformats.org/officeDocument/2006/relationships" xmlns:p="http://schemas.openxmlformats.org/presentationml/2006/main">
  <p:tag name="PPSPLIT_ID" val=" 171"/>
</p:tagLst>
</file>

<file path=ppt/tags/tag3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
</p:tagLst>
</file>

<file path=ppt/tags/tag3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 name="PPSPLIT_DONE" val="1"/>
</p:tagLst>
</file>

<file path=ppt/tags/tag40.xml><?xml version="1.0" encoding="utf-8"?>
<p:tagLst xmlns:a="http://schemas.openxmlformats.org/drawingml/2006/main" xmlns:r="http://schemas.openxmlformats.org/officeDocument/2006/relationships" xmlns:p="http://schemas.openxmlformats.org/presentationml/2006/main">
  <p:tag name="PPSPLIT_ID" val=" 177"/>
</p:tagLst>
</file>

<file path=ppt/tags/tag41.xml><?xml version="1.0" encoding="utf-8"?>
<p:tagLst xmlns:a="http://schemas.openxmlformats.org/drawingml/2006/main" xmlns:r="http://schemas.openxmlformats.org/officeDocument/2006/relationships" xmlns:p="http://schemas.openxmlformats.org/presentationml/2006/main">
  <p:tag name="PPSPLIT_ID" val=" 178"/>
</p:tagLst>
</file>

<file path=ppt/tags/tag42.xml><?xml version="1.0" encoding="utf-8"?>
<p:tagLst xmlns:a="http://schemas.openxmlformats.org/drawingml/2006/main" xmlns:r="http://schemas.openxmlformats.org/officeDocument/2006/relationships" xmlns:p="http://schemas.openxmlformats.org/presentationml/2006/main">
  <p:tag name="PPSPLIT_ID" val=" 179"/>
</p:tagLst>
</file>

<file path=ppt/tags/tag4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 name="PPSPLIT_DONE" val="1"/>
</p:tagLst>
</file>

<file path=ppt/tags/tag44.xml><?xml version="1.0" encoding="utf-8"?>
<p:tagLst xmlns:a="http://schemas.openxmlformats.org/drawingml/2006/main" xmlns:r="http://schemas.openxmlformats.org/officeDocument/2006/relationships" xmlns:p="http://schemas.openxmlformats.org/presentationml/2006/main">
  <p:tag name="PPSPLIT_ID" val=" 177"/>
</p:tagLst>
</file>

<file path=ppt/tags/tag45.xml><?xml version="1.0" encoding="utf-8"?>
<p:tagLst xmlns:a="http://schemas.openxmlformats.org/drawingml/2006/main" xmlns:r="http://schemas.openxmlformats.org/officeDocument/2006/relationships" xmlns:p="http://schemas.openxmlformats.org/presentationml/2006/main">
  <p:tag name="PPSPLIT_ID" val=" 178"/>
</p:tagLst>
</file>

<file path=ppt/tags/tag46.xml><?xml version="1.0" encoding="utf-8"?>
<p:tagLst xmlns:a="http://schemas.openxmlformats.org/drawingml/2006/main" xmlns:r="http://schemas.openxmlformats.org/officeDocument/2006/relationships" xmlns:p="http://schemas.openxmlformats.org/presentationml/2006/main">
  <p:tag name="PPSPLIT_ID" val=" 179"/>
</p:tagLst>
</file>

<file path=ppt/tags/tag4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 name="PPSPLIT_DONE" val="1"/>
</p:tagLst>
</file>

<file path=ppt/tags/tag48.xml><?xml version="1.0" encoding="utf-8"?>
<p:tagLst xmlns:a="http://schemas.openxmlformats.org/drawingml/2006/main" xmlns:r="http://schemas.openxmlformats.org/officeDocument/2006/relationships" xmlns:p="http://schemas.openxmlformats.org/presentationml/2006/main">
  <p:tag name="PPSPLIT_ID" val=" 177"/>
</p:tagLst>
</file>

<file path=ppt/tags/tag49.xml><?xml version="1.0" encoding="utf-8"?>
<p:tagLst xmlns:a="http://schemas.openxmlformats.org/drawingml/2006/main" xmlns:r="http://schemas.openxmlformats.org/officeDocument/2006/relationships" xmlns:p="http://schemas.openxmlformats.org/presentationml/2006/main">
  <p:tag name="PPSPLIT_ID" val=" 178"/>
</p:tagLst>
</file>

<file path=ppt/tags/tag50.xml><?xml version="1.0" encoding="utf-8"?>
<p:tagLst xmlns:a="http://schemas.openxmlformats.org/drawingml/2006/main" xmlns:r="http://schemas.openxmlformats.org/officeDocument/2006/relationships" xmlns:p="http://schemas.openxmlformats.org/presentationml/2006/main">
  <p:tag name="PPSPLIT_ID" val=" 179"/>
</p:tagLst>
</file>

<file path=ppt/tags/tag51.xml><?xml version="1.0" encoding="utf-8"?>
<p:tagLst xmlns:a="http://schemas.openxmlformats.org/drawingml/2006/main" xmlns:r="http://schemas.openxmlformats.org/officeDocument/2006/relationships" xmlns:p="http://schemas.openxmlformats.org/presentationml/2006/main">
  <p:tag name="PPSPLIT_ID" val=" 2"/>
</p:tagLst>
</file>

<file path=ppt/tags/tag5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 name="PPSPLIT_DONE" val="1"/>
</p:tagLst>
</file>

<file path=ppt/tags/tag53.xml><?xml version="1.0" encoding="utf-8"?>
<p:tagLst xmlns:a="http://schemas.openxmlformats.org/drawingml/2006/main" xmlns:r="http://schemas.openxmlformats.org/officeDocument/2006/relationships" xmlns:p="http://schemas.openxmlformats.org/presentationml/2006/main">
  <p:tag name="PPSPLIT_ID" val=" 177"/>
</p:tagLst>
</file>

<file path=ppt/tags/tag54.xml><?xml version="1.0" encoding="utf-8"?>
<p:tagLst xmlns:a="http://schemas.openxmlformats.org/drawingml/2006/main" xmlns:r="http://schemas.openxmlformats.org/officeDocument/2006/relationships" xmlns:p="http://schemas.openxmlformats.org/presentationml/2006/main">
  <p:tag name="PPSPLIT_ID" val=" 178"/>
</p:tagLst>
</file>

<file path=ppt/tags/tag55.xml><?xml version="1.0" encoding="utf-8"?>
<p:tagLst xmlns:a="http://schemas.openxmlformats.org/drawingml/2006/main" xmlns:r="http://schemas.openxmlformats.org/officeDocument/2006/relationships" xmlns:p="http://schemas.openxmlformats.org/presentationml/2006/main">
  <p:tag name="PPSPLIT_ID" val=" 179"/>
</p:tagLst>
</file>

<file path=ppt/tags/tag56.xml><?xml version="1.0" encoding="utf-8"?>
<p:tagLst xmlns:a="http://schemas.openxmlformats.org/drawingml/2006/main" xmlns:r="http://schemas.openxmlformats.org/officeDocument/2006/relationships" xmlns:p="http://schemas.openxmlformats.org/presentationml/2006/main">
  <p:tag name="PPSPLIT_ID" val=" 2"/>
</p:tagLst>
</file>

<file path=ppt/tags/tag5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Lst>
</file>

<file path=ppt/tags/tag58.xml><?xml version="1.0" encoding="utf-8"?>
<p:tagLst xmlns:a="http://schemas.openxmlformats.org/drawingml/2006/main" xmlns:r="http://schemas.openxmlformats.org/officeDocument/2006/relationships" xmlns:p="http://schemas.openxmlformats.org/presentationml/2006/main">
  <p:tag name="PPSPLIT_ID" val=" 177"/>
</p:tagLst>
</file>

<file path=ppt/tags/tag59.xml><?xml version="1.0" encoding="utf-8"?>
<p:tagLst xmlns:a="http://schemas.openxmlformats.org/drawingml/2006/main" xmlns:r="http://schemas.openxmlformats.org/officeDocument/2006/relationships" xmlns:p="http://schemas.openxmlformats.org/presentationml/2006/main">
  <p:tag name="PPSPLIT_ID" val=" 178"/>
</p:tagLst>
</file>

<file path=ppt/tags/tag60.xml><?xml version="1.0" encoding="utf-8"?>
<p:tagLst xmlns:a="http://schemas.openxmlformats.org/drawingml/2006/main" xmlns:r="http://schemas.openxmlformats.org/officeDocument/2006/relationships" xmlns:p="http://schemas.openxmlformats.org/presentationml/2006/main">
  <p:tag name="PPSPLIT_ID" val=" 179"/>
</p:tagLst>
</file>

<file path=ppt/tags/tag61.xml><?xml version="1.0" encoding="utf-8"?>
<p:tagLst xmlns:a="http://schemas.openxmlformats.org/drawingml/2006/main" xmlns:r="http://schemas.openxmlformats.org/officeDocument/2006/relationships" xmlns:p="http://schemas.openxmlformats.org/presentationml/2006/main">
  <p:tag name="PPSPLIT_ID" val=" 2"/>
</p:tagLst>
</file>

<file path=ppt/tags/tag6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8"/>
</p:tagLst>
</file>

<file path=ppt/tags/tag6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9"/>
</p:tagLst>
</file>

<file path=ppt/tags/tag6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0"/>
</p:tagLst>
</file>

<file path=ppt/tags/tag6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1"/>
</p:tagLst>
</file>

<file path=ppt/tags/tag6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2"/>
</p:tagLst>
</file>

<file path=ppt/tags/tag6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3"/>
</p:tagLst>
</file>

<file path=ppt/tags/tag6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4"/>
</p:tagLst>
</file>

<file path=ppt/tags/tag6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5"/>
</p:tagLst>
</file>

<file path=ppt/tags/tag7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6"/>
  <p:tag name="PPSPLIT_DONE" val="1"/>
</p:tagLst>
</file>

<file path=ppt/tags/tag71.xml><?xml version="1.0" encoding="utf-8"?>
<p:tagLst xmlns:a="http://schemas.openxmlformats.org/drawingml/2006/main" xmlns:r="http://schemas.openxmlformats.org/officeDocument/2006/relationships" xmlns:p="http://schemas.openxmlformats.org/presentationml/2006/main">
  <p:tag name="PPSPLIT_ID" val=" 169"/>
</p:tagLst>
</file>

<file path=ppt/tags/tag72.xml><?xml version="1.0" encoding="utf-8"?>
<p:tagLst xmlns:a="http://schemas.openxmlformats.org/drawingml/2006/main" xmlns:r="http://schemas.openxmlformats.org/officeDocument/2006/relationships" xmlns:p="http://schemas.openxmlformats.org/presentationml/2006/main">
  <p:tag name="PPSPLIT_ID" val=" 170"/>
</p:tagLst>
</file>

<file path=ppt/tags/tag73.xml><?xml version="1.0" encoding="utf-8"?>
<p:tagLst xmlns:a="http://schemas.openxmlformats.org/drawingml/2006/main" xmlns:r="http://schemas.openxmlformats.org/officeDocument/2006/relationships" xmlns:p="http://schemas.openxmlformats.org/presentationml/2006/main">
  <p:tag name="PPSPLIT_ID" val=" 171"/>
</p:tagLst>
</file>

<file path=ppt/tags/tag7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6"/>
</p:tagLst>
</file>

<file path=ppt/tags/tag75.xml><?xml version="1.0" encoding="utf-8"?>
<p:tagLst xmlns:a="http://schemas.openxmlformats.org/drawingml/2006/main" xmlns:r="http://schemas.openxmlformats.org/officeDocument/2006/relationships" xmlns:p="http://schemas.openxmlformats.org/presentationml/2006/main">
  <p:tag name="PPSPLIT_ID" val=" 169"/>
</p:tagLst>
</file>

<file path=ppt/tags/tag76.xml><?xml version="1.0" encoding="utf-8"?>
<p:tagLst xmlns:a="http://schemas.openxmlformats.org/drawingml/2006/main" xmlns:r="http://schemas.openxmlformats.org/officeDocument/2006/relationships" xmlns:p="http://schemas.openxmlformats.org/presentationml/2006/main">
  <p:tag name="PPSPLIT_ID" val=" 170"/>
</p:tagLst>
</file>

<file path=ppt/tags/tag77.xml><?xml version="1.0" encoding="utf-8"?>
<p:tagLst xmlns:a="http://schemas.openxmlformats.org/drawingml/2006/main" xmlns:r="http://schemas.openxmlformats.org/officeDocument/2006/relationships" xmlns:p="http://schemas.openxmlformats.org/presentationml/2006/main">
  <p:tag name="PPSPLIT_ID" val=" 171"/>
</p:tagLst>
</file>

<file path=ppt/tags/tag7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7"/>
  <p:tag name="PPSPLIT_DONE" val="1"/>
</p:tagLst>
</file>

<file path=ppt/tags/tag79.xml><?xml version="1.0" encoding="utf-8"?>
<p:tagLst xmlns:a="http://schemas.openxmlformats.org/drawingml/2006/main" xmlns:r="http://schemas.openxmlformats.org/officeDocument/2006/relationships" xmlns:p="http://schemas.openxmlformats.org/presentationml/2006/main">
  <p:tag name="PPSPLIT_ID" val=" 2"/>
</p:tagLst>
</file>

<file path=ppt/tags/tag80.xml><?xml version="1.0" encoding="utf-8"?>
<p:tagLst xmlns:a="http://schemas.openxmlformats.org/drawingml/2006/main" xmlns:r="http://schemas.openxmlformats.org/officeDocument/2006/relationships" xmlns:p="http://schemas.openxmlformats.org/presentationml/2006/main">
  <p:tag name="PPSPLIT_ID" val=" 3"/>
</p:tagLst>
</file>

<file path=ppt/tags/tag81.xml><?xml version="1.0" encoding="utf-8"?>
<p:tagLst xmlns:a="http://schemas.openxmlformats.org/drawingml/2006/main" xmlns:r="http://schemas.openxmlformats.org/officeDocument/2006/relationships" xmlns:p="http://schemas.openxmlformats.org/presentationml/2006/main">
  <p:tag name="PPSPLIT_ID" val=" 4"/>
</p:tagLst>
</file>

<file path=ppt/tags/tag82.xml><?xml version="1.0" encoding="utf-8"?>
<p:tagLst xmlns:a="http://schemas.openxmlformats.org/drawingml/2006/main" xmlns:r="http://schemas.openxmlformats.org/officeDocument/2006/relationships" xmlns:p="http://schemas.openxmlformats.org/presentationml/2006/main">
  <p:tag name="PPSPLIT_ID" val=" 8"/>
</p:tagLst>
</file>

<file path=ppt/tags/tag83.xml><?xml version="1.0" encoding="utf-8"?>
<p:tagLst xmlns:a="http://schemas.openxmlformats.org/drawingml/2006/main" xmlns:r="http://schemas.openxmlformats.org/officeDocument/2006/relationships" xmlns:p="http://schemas.openxmlformats.org/presentationml/2006/main">
  <p:tag name="PPSPLIT_ID" val=" 9"/>
</p:tagLst>
</file>

<file path=ppt/tags/tag84.xml><?xml version="1.0" encoding="utf-8"?>
<p:tagLst xmlns:a="http://schemas.openxmlformats.org/drawingml/2006/main" xmlns:r="http://schemas.openxmlformats.org/officeDocument/2006/relationships" xmlns:p="http://schemas.openxmlformats.org/presentationml/2006/main">
  <p:tag name="PPSPLIT_ID" val=" 10"/>
</p:tagLst>
</file>

<file path=ppt/tags/tag8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7"/>
  <p:tag name="PPSPLIT_DONE" val="1"/>
</p:tagLst>
</file>

<file path=ppt/tags/tag86.xml><?xml version="1.0" encoding="utf-8"?>
<p:tagLst xmlns:a="http://schemas.openxmlformats.org/drawingml/2006/main" xmlns:r="http://schemas.openxmlformats.org/officeDocument/2006/relationships" xmlns:p="http://schemas.openxmlformats.org/presentationml/2006/main">
  <p:tag name="PPSPLIT_ID" val=" 2"/>
</p:tagLst>
</file>

<file path=ppt/tags/tag87.xml><?xml version="1.0" encoding="utf-8"?>
<p:tagLst xmlns:a="http://schemas.openxmlformats.org/drawingml/2006/main" xmlns:r="http://schemas.openxmlformats.org/officeDocument/2006/relationships" xmlns:p="http://schemas.openxmlformats.org/presentationml/2006/main">
  <p:tag name="PPSPLIT_ID" val=" 3"/>
</p:tagLst>
</file>

<file path=ppt/tags/tag88.xml><?xml version="1.0" encoding="utf-8"?>
<p:tagLst xmlns:a="http://schemas.openxmlformats.org/drawingml/2006/main" xmlns:r="http://schemas.openxmlformats.org/officeDocument/2006/relationships" xmlns:p="http://schemas.openxmlformats.org/presentationml/2006/main">
  <p:tag name="PPSPLIT_ID" val=" 4"/>
</p:tagLst>
</file>

<file path=ppt/tags/tag89.xml><?xml version="1.0" encoding="utf-8"?>
<p:tagLst xmlns:a="http://schemas.openxmlformats.org/drawingml/2006/main" xmlns:r="http://schemas.openxmlformats.org/officeDocument/2006/relationships" xmlns:p="http://schemas.openxmlformats.org/presentationml/2006/main">
  <p:tag name="PPSPLIT_ID" val=" 5"/>
</p:tagLst>
</file>

<file path=ppt/tags/tag90.xml><?xml version="1.0" encoding="utf-8"?>
<p:tagLst xmlns:a="http://schemas.openxmlformats.org/drawingml/2006/main" xmlns:r="http://schemas.openxmlformats.org/officeDocument/2006/relationships" xmlns:p="http://schemas.openxmlformats.org/presentationml/2006/main">
  <p:tag name="PPSPLIT_ID" val=" 8"/>
</p:tagLst>
</file>

<file path=ppt/tags/tag91.xml><?xml version="1.0" encoding="utf-8"?>
<p:tagLst xmlns:a="http://schemas.openxmlformats.org/drawingml/2006/main" xmlns:r="http://schemas.openxmlformats.org/officeDocument/2006/relationships" xmlns:p="http://schemas.openxmlformats.org/presentationml/2006/main">
  <p:tag name="PPSPLIT_ID" val=" 9"/>
</p:tagLst>
</file>

<file path=ppt/tags/tag92.xml><?xml version="1.0" encoding="utf-8"?>
<p:tagLst xmlns:a="http://schemas.openxmlformats.org/drawingml/2006/main" xmlns:r="http://schemas.openxmlformats.org/officeDocument/2006/relationships" xmlns:p="http://schemas.openxmlformats.org/presentationml/2006/main">
  <p:tag name="PPSPLIT_ID" val=" 10"/>
</p:tagLst>
</file>

<file path=ppt/tags/tag9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7"/>
  <p:tag name="PPSPLIT_DONE" val="1"/>
</p:tagLst>
</file>

<file path=ppt/tags/tag94.xml><?xml version="1.0" encoding="utf-8"?>
<p:tagLst xmlns:a="http://schemas.openxmlformats.org/drawingml/2006/main" xmlns:r="http://schemas.openxmlformats.org/officeDocument/2006/relationships" xmlns:p="http://schemas.openxmlformats.org/presentationml/2006/main">
  <p:tag name="PPSPLIT_ID" val=" 2"/>
</p:tagLst>
</file>

<file path=ppt/tags/tag95.xml><?xml version="1.0" encoding="utf-8"?>
<p:tagLst xmlns:a="http://schemas.openxmlformats.org/drawingml/2006/main" xmlns:r="http://schemas.openxmlformats.org/officeDocument/2006/relationships" xmlns:p="http://schemas.openxmlformats.org/presentationml/2006/main">
  <p:tag name="PPSPLIT_ID" val=" 3"/>
</p:tagLst>
</file>

<file path=ppt/tags/tag96.xml><?xml version="1.0" encoding="utf-8"?>
<p:tagLst xmlns:a="http://schemas.openxmlformats.org/drawingml/2006/main" xmlns:r="http://schemas.openxmlformats.org/officeDocument/2006/relationships" xmlns:p="http://schemas.openxmlformats.org/presentationml/2006/main">
  <p:tag name="PPSPLIT_ID" val=" 4"/>
</p:tagLst>
</file>

<file path=ppt/tags/tag97.xml><?xml version="1.0" encoding="utf-8"?>
<p:tagLst xmlns:a="http://schemas.openxmlformats.org/drawingml/2006/main" xmlns:r="http://schemas.openxmlformats.org/officeDocument/2006/relationships" xmlns:p="http://schemas.openxmlformats.org/presentationml/2006/main">
  <p:tag name="PPSPLIT_ID" val=" 5"/>
</p:tagLst>
</file>

<file path=ppt/tags/tag98.xml><?xml version="1.0" encoding="utf-8"?>
<p:tagLst xmlns:a="http://schemas.openxmlformats.org/drawingml/2006/main" xmlns:r="http://schemas.openxmlformats.org/officeDocument/2006/relationships" xmlns:p="http://schemas.openxmlformats.org/presentationml/2006/main">
  <p:tag name="PPSPLIT_ID" val=" 8"/>
</p:tagLst>
</file>

<file path=ppt/tags/tag99.xml><?xml version="1.0" encoding="utf-8"?>
<p:tagLst xmlns:a="http://schemas.openxmlformats.org/drawingml/2006/main" xmlns:r="http://schemas.openxmlformats.org/officeDocument/2006/relationships" xmlns:p="http://schemas.openxmlformats.org/presentationml/2006/main">
  <p:tag name="PPSPLIT_ID" val=" 9"/>
</p:tagLst>
</file>

<file path=ppt/tags/tag100.xml><?xml version="1.0" encoding="utf-8"?>
<p:tagLst xmlns:a="http://schemas.openxmlformats.org/drawingml/2006/main" xmlns:r="http://schemas.openxmlformats.org/officeDocument/2006/relationships" xmlns:p="http://schemas.openxmlformats.org/presentationml/2006/main">
  <p:tag name="PPSPLIT_ID" val=" 10"/>
</p:tagLst>
</file>

<file path=ppt/tags/tag101.xml><?xml version="1.0" encoding="utf-8"?>
<p:tagLst xmlns:a="http://schemas.openxmlformats.org/drawingml/2006/main" xmlns:r="http://schemas.openxmlformats.org/officeDocument/2006/relationships" xmlns:p="http://schemas.openxmlformats.org/presentationml/2006/main">
  <p:tag name="PPSPLIT_ID" val=" 13"/>
</p:tagLst>
</file>

<file path=ppt/tags/tag10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7"/>
  <p:tag name="PPSPLIT_DONE" val="1"/>
</p:tagLst>
</file>

<file path=ppt/tags/tag103.xml><?xml version="1.0" encoding="utf-8"?>
<p:tagLst xmlns:a="http://schemas.openxmlformats.org/drawingml/2006/main" xmlns:r="http://schemas.openxmlformats.org/officeDocument/2006/relationships" xmlns:p="http://schemas.openxmlformats.org/presentationml/2006/main">
  <p:tag name="PPSPLIT_ID" val=" 2"/>
</p:tagLst>
</file>

<file path=ppt/tags/tag104.xml><?xml version="1.0" encoding="utf-8"?>
<p:tagLst xmlns:a="http://schemas.openxmlformats.org/drawingml/2006/main" xmlns:r="http://schemas.openxmlformats.org/officeDocument/2006/relationships" xmlns:p="http://schemas.openxmlformats.org/presentationml/2006/main">
  <p:tag name="PPSPLIT_ID" val=" 3"/>
</p:tagLst>
</file>

<file path=ppt/tags/tag105.xml><?xml version="1.0" encoding="utf-8"?>
<p:tagLst xmlns:a="http://schemas.openxmlformats.org/drawingml/2006/main" xmlns:r="http://schemas.openxmlformats.org/officeDocument/2006/relationships" xmlns:p="http://schemas.openxmlformats.org/presentationml/2006/main">
  <p:tag name="PPSPLIT_ID" val=" 4"/>
</p:tagLst>
</file>

<file path=ppt/tags/tag106.xml><?xml version="1.0" encoding="utf-8"?>
<p:tagLst xmlns:a="http://schemas.openxmlformats.org/drawingml/2006/main" xmlns:r="http://schemas.openxmlformats.org/officeDocument/2006/relationships" xmlns:p="http://schemas.openxmlformats.org/presentationml/2006/main">
  <p:tag name="PPSPLIT_ID" val=" 5"/>
</p:tagLst>
</file>

<file path=ppt/tags/tag107.xml><?xml version="1.0" encoding="utf-8"?>
<p:tagLst xmlns:a="http://schemas.openxmlformats.org/drawingml/2006/main" xmlns:r="http://schemas.openxmlformats.org/officeDocument/2006/relationships" xmlns:p="http://schemas.openxmlformats.org/presentationml/2006/main">
  <p:tag name="PPSPLIT_ID" val=" 8"/>
</p:tagLst>
</file>

<file path=ppt/tags/tag108.xml><?xml version="1.0" encoding="utf-8"?>
<p:tagLst xmlns:a="http://schemas.openxmlformats.org/drawingml/2006/main" xmlns:r="http://schemas.openxmlformats.org/officeDocument/2006/relationships" xmlns:p="http://schemas.openxmlformats.org/presentationml/2006/main">
  <p:tag name="PPSPLIT_ID" val=" 9"/>
</p:tagLst>
</file>

<file path=ppt/tags/tag109.xml><?xml version="1.0" encoding="utf-8"?>
<p:tagLst xmlns:a="http://schemas.openxmlformats.org/drawingml/2006/main" xmlns:r="http://schemas.openxmlformats.org/officeDocument/2006/relationships" xmlns:p="http://schemas.openxmlformats.org/presentationml/2006/main">
  <p:tag name="PPSPLIT_ID" val=" 10"/>
</p:tagLst>
</file>

<file path=ppt/tags/tag110.xml><?xml version="1.0" encoding="utf-8"?>
<p:tagLst xmlns:a="http://schemas.openxmlformats.org/drawingml/2006/main" xmlns:r="http://schemas.openxmlformats.org/officeDocument/2006/relationships" xmlns:p="http://schemas.openxmlformats.org/presentationml/2006/main">
  <p:tag name="PPSPLIT_ID" val=" 13"/>
</p:tagLst>
</file>

<file path=ppt/tags/tag111.xml><?xml version="1.0" encoding="utf-8"?>
<p:tagLst xmlns:a="http://schemas.openxmlformats.org/drawingml/2006/main" xmlns:r="http://schemas.openxmlformats.org/officeDocument/2006/relationships" xmlns:p="http://schemas.openxmlformats.org/presentationml/2006/main">
  <p:tag name="PPSPLIT_ID" val=" 15"/>
</p:tagLst>
</file>

<file path=ppt/tags/tag112.xml><?xml version="1.0" encoding="utf-8"?>
<p:tagLst xmlns:a="http://schemas.openxmlformats.org/drawingml/2006/main" xmlns:r="http://schemas.openxmlformats.org/officeDocument/2006/relationships" xmlns:p="http://schemas.openxmlformats.org/presentationml/2006/main">
  <p:tag name="PPSPLIT_ID" val=" 16"/>
</p:tagLst>
</file>

<file path=ppt/tags/tag11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7"/>
  <p:tag name="PPSPLIT_DONE" val="1"/>
</p:tagLst>
</file>

<file path=ppt/tags/tag114.xml><?xml version="1.0" encoding="utf-8"?>
<p:tagLst xmlns:a="http://schemas.openxmlformats.org/drawingml/2006/main" xmlns:r="http://schemas.openxmlformats.org/officeDocument/2006/relationships" xmlns:p="http://schemas.openxmlformats.org/presentationml/2006/main">
  <p:tag name="PPSPLIT_ID" val=" 2"/>
</p:tagLst>
</file>

<file path=ppt/tags/tag115.xml><?xml version="1.0" encoding="utf-8"?>
<p:tagLst xmlns:a="http://schemas.openxmlformats.org/drawingml/2006/main" xmlns:r="http://schemas.openxmlformats.org/officeDocument/2006/relationships" xmlns:p="http://schemas.openxmlformats.org/presentationml/2006/main">
  <p:tag name="PPSPLIT_ID" val=" 3"/>
</p:tagLst>
</file>

<file path=ppt/tags/tag116.xml><?xml version="1.0" encoding="utf-8"?>
<p:tagLst xmlns:a="http://schemas.openxmlformats.org/drawingml/2006/main" xmlns:r="http://schemas.openxmlformats.org/officeDocument/2006/relationships" xmlns:p="http://schemas.openxmlformats.org/presentationml/2006/main">
  <p:tag name="PPSPLIT_ID" val=" 4"/>
</p:tagLst>
</file>

<file path=ppt/tags/tag117.xml><?xml version="1.0" encoding="utf-8"?>
<p:tagLst xmlns:a="http://schemas.openxmlformats.org/drawingml/2006/main" xmlns:r="http://schemas.openxmlformats.org/officeDocument/2006/relationships" xmlns:p="http://schemas.openxmlformats.org/presentationml/2006/main">
  <p:tag name="PPSPLIT_ID" val=" 5"/>
</p:tagLst>
</file>

<file path=ppt/tags/tag118.xml><?xml version="1.0" encoding="utf-8"?>
<p:tagLst xmlns:a="http://schemas.openxmlformats.org/drawingml/2006/main" xmlns:r="http://schemas.openxmlformats.org/officeDocument/2006/relationships" xmlns:p="http://schemas.openxmlformats.org/presentationml/2006/main">
  <p:tag name="PPSPLIT_ID" val=" 8"/>
</p:tagLst>
</file>

<file path=ppt/tags/tag119.xml><?xml version="1.0" encoding="utf-8"?>
<p:tagLst xmlns:a="http://schemas.openxmlformats.org/drawingml/2006/main" xmlns:r="http://schemas.openxmlformats.org/officeDocument/2006/relationships" xmlns:p="http://schemas.openxmlformats.org/presentationml/2006/main">
  <p:tag name="PPSPLIT_ID" val=" 9"/>
</p:tagLst>
</file>

<file path=ppt/tags/tag120.xml><?xml version="1.0" encoding="utf-8"?>
<p:tagLst xmlns:a="http://schemas.openxmlformats.org/drawingml/2006/main" xmlns:r="http://schemas.openxmlformats.org/officeDocument/2006/relationships" xmlns:p="http://schemas.openxmlformats.org/presentationml/2006/main">
  <p:tag name="PPSPLIT_ID" val=" 10"/>
</p:tagLst>
</file>

<file path=ppt/tags/tag12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7"/>
  <p:tag name="PPSPLIT_DONE" val="1"/>
</p:tagLst>
</file>

<file path=ppt/tags/tag122.xml><?xml version="1.0" encoding="utf-8"?>
<p:tagLst xmlns:a="http://schemas.openxmlformats.org/drawingml/2006/main" xmlns:r="http://schemas.openxmlformats.org/officeDocument/2006/relationships" xmlns:p="http://schemas.openxmlformats.org/presentationml/2006/main">
  <p:tag name="PPSPLIT_ID" val=" 2"/>
</p:tagLst>
</file>

<file path=ppt/tags/tag123.xml><?xml version="1.0" encoding="utf-8"?>
<p:tagLst xmlns:a="http://schemas.openxmlformats.org/drawingml/2006/main" xmlns:r="http://schemas.openxmlformats.org/officeDocument/2006/relationships" xmlns:p="http://schemas.openxmlformats.org/presentationml/2006/main">
  <p:tag name="PPSPLIT_ID" val=" 3"/>
</p:tagLst>
</file>

<file path=ppt/tags/tag124.xml><?xml version="1.0" encoding="utf-8"?>
<p:tagLst xmlns:a="http://schemas.openxmlformats.org/drawingml/2006/main" xmlns:r="http://schemas.openxmlformats.org/officeDocument/2006/relationships" xmlns:p="http://schemas.openxmlformats.org/presentationml/2006/main">
  <p:tag name="PPSPLIT_ID" val=" 4"/>
</p:tagLst>
</file>

<file path=ppt/tags/tag125.xml><?xml version="1.0" encoding="utf-8"?>
<p:tagLst xmlns:a="http://schemas.openxmlformats.org/drawingml/2006/main" xmlns:r="http://schemas.openxmlformats.org/officeDocument/2006/relationships" xmlns:p="http://schemas.openxmlformats.org/presentationml/2006/main">
  <p:tag name="PPSPLIT_ID" val=" 5"/>
</p:tagLst>
</file>

<file path=ppt/tags/tag126.xml><?xml version="1.0" encoding="utf-8"?>
<p:tagLst xmlns:a="http://schemas.openxmlformats.org/drawingml/2006/main" xmlns:r="http://schemas.openxmlformats.org/officeDocument/2006/relationships" xmlns:p="http://schemas.openxmlformats.org/presentationml/2006/main">
  <p:tag name="PPSPLIT_ID" val=" 8"/>
</p:tagLst>
</file>

<file path=ppt/tags/tag127.xml><?xml version="1.0" encoding="utf-8"?>
<p:tagLst xmlns:a="http://schemas.openxmlformats.org/drawingml/2006/main" xmlns:r="http://schemas.openxmlformats.org/officeDocument/2006/relationships" xmlns:p="http://schemas.openxmlformats.org/presentationml/2006/main">
  <p:tag name="PPSPLIT_ID" val=" 9"/>
</p:tagLst>
</file>

<file path=ppt/tags/tag128.xml><?xml version="1.0" encoding="utf-8"?>
<p:tagLst xmlns:a="http://schemas.openxmlformats.org/drawingml/2006/main" xmlns:r="http://schemas.openxmlformats.org/officeDocument/2006/relationships" xmlns:p="http://schemas.openxmlformats.org/presentationml/2006/main">
  <p:tag name="PPSPLIT_ID" val=" 10"/>
</p:tagLst>
</file>

<file path=ppt/tags/tag129.xml><?xml version="1.0" encoding="utf-8"?>
<p:tagLst xmlns:a="http://schemas.openxmlformats.org/drawingml/2006/main" xmlns:r="http://schemas.openxmlformats.org/officeDocument/2006/relationships" xmlns:p="http://schemas.openxmlformats.org/presentationml/2006/main">
  <p:tag name="PPSPLIT_ID" val=" 14"/>
</p:tagLst>
</file>

<file path=ppt/tags/tag13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7"/>
</p:tagLst>
</file>

<file path=ppt/tags/tag131.xml><?xml version="1.0" encoding="utf-8"?>
<p:tagLst xmlns:a="http://schemas.openxmlformats.org/drawingml/2006/main" xmlns:r="http://schemas.openxmlformats.org/officeDocument/2006/relationships" xmlns:p="http://schemas.openxmlformats.org/presentationml/2006/main">
  <p:tag name="PPSPLIT_ID" val=" 2"/>
</p:tagLst>
</file>

<file path=ppt/tags/tag132.xml><?xml version="1.0" encoding="utf-8"?>
<p:tagLst xmlns:a="http://schemas.openxmlformats.org/drawingml/2006/main" xmlns:r="http://schemas.openxmlformats.org/officeDocument/2006/relationships" xmlns:p="http://schemas.openxmlformats.org/presentationml/2006/main">
  <p:tag name="PPSPLIT_ID" val=" 3"/>
</p:tagLst>
</file>

<file path=ppt/tags/tag133.xml><?xml version="1.0" encoding="utf-8"?>
<p:tagLst xmlns:a="http://schemas.openxmlformats.org/drawingml/2006/main" xmlns:r="http://schemas.openxmlformats.org/officeDocument/2006/relationships" xmlns:p="http://schemas.openxmlformats.org/presentationml/2006/main">
  <p:tag name="PPSPLIT_ID" val=" 4"/>
</p:tagLst>
</file>

<file path=ppt/tags/tag134.xml><?xml version="1.0" encoding="utf-8"?>
<p:tagLst xmlns:a="http://schemas.openxmlformats.org/drawingml/2006/main" xmlns:r="http://schemas.openxmlformats.org/officeDocument/2006/relationships" xmlns:p="http://schemas.openxmlformats.org/presentationml/2006/main">
  <p:tag name="PPSPLIT_ID" val=" 5"/>
</p:tagLst>
</file>

<file path=ppt/tags/tag135.xml><?xml version="1.0" encoding="utf-8"?>
<p:tagLst xmlns:a="http://schemas.openxmlformats.org/drawingml/2006/main" xmlns:r="http://schemas.openxmlformats.org/officeDocument/2006/relationships" xmlns:p="http://schemas.openxmlformats.org/presentationml/2006/main">
  <p:tag name="PPSPLIT_ID" val=" 8"/>
</p:tagLst>
</file>

<file path=ppt/tags/tag136.xml><?xml version="1.0" encoding="utf-8"?>
<p:tagLst xmlns:a="http://schemas.openxmlformats.org/drawingml/2006/main" xmlns:r="http://schemas.openxmlformats.org/officeDocument/2006/relationships" xmlns:p="http://schemas.openxmlformats.org/presentationml/2006/main">
  <p:tag name="PPSPLIT_ID" val=" 9"/>
</p:tagLst>
</file>

<file path=ppt/tags/tag137.xml><?xml version="1.0" encoding="utf-8"?>
<p:tagLst xmlns:a="http://schemas.openxmlformats.org/drawingml/2006/main" xmlns:r="http://schemas.openxmlformats.org/officeDocument/2006/relationships" xmlns:p="http://schemas.openxmlformats.org/presentationml/2006/main">
  <p:tag name="PPSPLIT_ID" val=" 10"/>
</p:tagLst>
</file>

<file path=ppt/tags/tag138.xml><?xml version="1.0" encoding="utf-8"?>
<p:tagLst xmlns:a="http://schemas.openxmlformats.org/drawingml/2006/main" xmlns:r="http://schemas.openxmlformats.org/officeDocument/2006/relationships" xmlns:p="http://schemas.openxmlformats.org/presentationml/2006/main">
  <p:tag name="PPSPLIT_ID" val=" 14"/>
</p:tagLst>
</file>

<file path=ppt/tags/tag139.xml><?xml version="1.0" encoding="utf-8"?>
<p:tagLst xmlns:a="http://schemas.openxmlformats.org/drawingml/2006/main" xmlns:r="http://schemas.openxmlformats.org/officeDocument/2006/relationships" xmlns:p="http://schemas.openxmlformats.org/presentationml/2006/main">
  <p:tag name="PPSPLIT_ID" val=" 17"/>
</p:tagLst>
</file>

<file path=ppt/tags/tag140.xml><?xml version="1.0" encoding="utf-8"?>
<p:tagLst xmlns:a="http://schemas.openxmlformats.org/drawingml/2006/main" xmlns:r="http://schemas.openxmlformats.org/officeDocument/2006/relationships" xmlns:p="http://schemas.openxmlformats.org/presentationml/2006/main">
  <p:tag name="PPSPLIT_ID" val=" 18"/>
</p:tagLst>
</file>

<file path=ppt/tags/tag141.xml><?xml version="1.0" encoding="utf-8"?>
<p:tagLst xmlns:a="http://schemas.openxmlformats.org/drawingml/2006/main" xmlns:r="http://schemas.openxmlformats.org/officeDocument/2006/relationships" xmlns:p="http://schemas.openxmlformats.org/presentationml/2006/main">
  <p:tag name="PPSPLIT_ID" val=" 19"/>
</p:tagLst>
</file>

<file path=ppt/tags/tag142.xml><?xml version="1.0" encoding="utf-8"?>
<p:tagLst xmlns:a="http://schemas.openxmlformats.org/drawingml/2006/main" xmlns:r="http://schemas.openxmlformats.org/officeDocument/2006/relationships" xmlns:p="http://schemas.openxmlformats.org/presentationml/2006/main">
  <p:tag name="PPSPLIT_ID" val=" 20"/>
</p:tagLst>
</file>

<file path=ppt/tags/tag14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8"/>
  <p:tag name="PPSPLIT_DONE" val="1"/>
</p:tagLst>
</file>

<file path=ppt/tags/tag144.xml><?xml version="1.0" encoding="utf-8"?>
<p:tagLst xmlns:a="http://schemas.openxmlformats.org/drawingml/2006/main" xmlns:r="http://schemas.openxmlformats.org/officeDocument/2006/relationships" xmlns:p="http://schemas.openxmlformats.org/presentationml/2006/main">
  <p:tag name="PPSPLIT_ID" val=" 2"/>
</p:tagLst>
</file>

<file path=ppt/tags/tag145.xml><?xml version="1.0" encoding="utf-8"?>
<p:tagLst xmlns:a="http://schemas.openxmlformats.org/drawingml/2006/main" xmlns:r="http://schemas.openxmlformats.org/officeDocument/2006/relationships" xmlns:p="http://schemas.openxmlformats.org/presentationml/2006/main">
  <p:tag name="PPSPLIT_ID" val=" 3"/>
</p:tagLst>
</file>

<file path=ppt/tags/tag146.xml><?xml version="1.0" encoding="utf-8"?>
<p:tagLst xmlns:a="http://schemas.openxmlformats.org/drawingml/2006/main" xmlns:r="http://schemas.openxmlformats.org/officeDocument/2006/relationships" xmlns:p="http://schemas.openxmlformats.org/presentationml/2006/main">
  <p:tag name="PPSPLIT_ID" val=" 4"/>
</p:tagLst>
</file>

<file path=ppt/tags/tag147.xml><?xml version="1.0" encoding="utf-8"?>
<p:tagLst xmlns:a="http://schemas.openxmlformats.org/drawingml/2006/main" xmlns:r="http://schemas.openxmlformats.org/officeDocument/2006/relationships" xmlns:p="http://schemas.openxmlformats.org/presentationml/2006/main">
  <p:tag name="PPSPLIT_ID" val=" 5"/>
</p:tagLst>
</file>

<file path=ppt/tags/tag148.xml><?xml version="1.0" encoding="utf-8"?>
<p:tagLst xmlns:a="http://schemas.openxmlformats.org/drawingml/2006/main" xmlns:r="http://schemas.openxmlformats.org/officeDocument/2006/relationships" xmlns:p="http://schemas.openxmlformats.org/presentationml/2006/main">
  <p:tag name="PPSPLIT_ID" val=" 6"/>
</p:tagLst>
</file>

<file path=ppt/tags/tag14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8"/>
</p:tagLst>
</file>

<file path=ppt/tags/tag150.xml><?xml version="1.0" encoding="utf-8"?>
<p:tagLst xmlns:a="http://schemas.openxmlformats.org/drawingml/2006/main" xmlns:r="http://schemas.openxmlformats.org/officeDocument/2006/relationships" xmlns:p="http://schemas.openxmlformats.org/presentationml/2006/main">
  <p:tag name="PPSPLIT_ID" val=" 2"/>
</p:tagLst>
</file>

<file path=ppt/tags/tag151.xml><?xml version="1.0" encoding="utf-8"?>
<p:tagLst xmlns:a="http://schemas.openxmlformats.org/drawingml/2006/main" xmlns:r="http://schemas.openxmlformats.org/officeDocument/2006/relationships" xmlns:p="http://schemas.openxmlformats.org/presentationml/2006/main">
  <p:tag name="PPSPLIT_ID" val=" 3"/>
</p:tagLst>
</file>

<file path=ppt/tags/tag152.xml><?xml version="1.0" encoding="utf-8"?>
<p:tagLst xmlns:a="http://schemas.openxmlformats.org/drawingml/2006/main" xmlns:r="http://schemas.openxmlformats.org/officeDocument/2006/relationships" xmlns:p="http://schemas.openxmlformats.org/presentationml/2006/main">
  <p:tag name="PPSPLIT_ID" val=" 4"/>
</p:tagLst>
</file>

<file path=ppt/tags/tag153.xml><?xml version="1.0" encoding="utf-8"?>
<p:tagLst xmlns:a="http://schemas.openxmlformats.org/drawingml/2006/main" xmlns:r="http://schemas.openxmlformats.org/officeDocument/2006/relationships" xmlns:p="http://schemas.openxmlformats.org/presentationml/2006/main">
  <p:tag name="PPSPLIT_ID" val=" 5"/>
</p:tagLst>
</file>

<file path=ppt/tags/tag154.xml><?xml version="1.0" encoding="utf-8"?>
<p:tagLst xmlns:a="http://schemas.openxmlformats.org/drawingml/2006/main" xmlns:r="http://schemas.openxmlformats.org/officeDocument/2006/relationships" xmlns:p="http://schemas.openxmlformats.org/presentationml/2006/main">
  <p:tag name="PPSPLIT_ID" val=" 6"/>
</p:tagLst>
</file>

<file path=ppt/tags/tag155.xml><?xml version="1.0" encoding="utf-8"?>
<p:tagLst xmlns:a="http://schemas.openxmlformats.org/drawingml/2006/main" xmlns:r="http://schemas.openxmlformats.org/officeDocument/2006/relationships" xmlns:p="http://schemas.openxmlformats.org/presentationml/2006/main">
  <p:tag name="PPSPLIT_ID" val=" 7"/>
</p:tagLst>
</file>

<file path=ppt/tags/tag156.xml><?xml version="1.0" encoding="utf-8"?>
<p:tagLst xmlns:a="http://schemas.openxmlformats.org/drawingml/2006/main" xmlns:r="http://schemas.openxmlformats.org/officeDocument/2006/relationships" xmlns:p="http://schemas.openxmlformats.org/presentationml/2006/main">
  <p:tag name="PPSPLIT_ID" val=" 8"/>
</p:tagLst>
</file>

<file path=ppt/tags/tag157.xml><?xml version="1.0" encoding="utf-8"?>
<p:tagLst xmlns:a="http://schemas.openxmlformats.org/drawingml/2006/main" xmlns:r="http://schemas.openxmlformats.org/officeDocument/2006/relationships" xmlns:p="http://schemas.openxmlformats.org/presentationml/2006/main">
  <p:tag name="PPSPLIT_ID" val=" 9"/>
</p:tagLst>
</file>

<file path=ppt/tags/tag158.xml><?xml version="1.0" encoding="utf-8"?>
<p:tagLst xmlns:a="http://schemas.openxmlformats.org/drawingml/2006/main" xmlns:r="http://schemas.openxmlformats.org/officeDocument/2006/relationships" xmlns:p="http://schemas.openxmlformats.org/presentationml/2006/main">
  <p:tag name="PPSPLIT_ID" val=" 10"/>
</p:tagLst>
</file>

<file path=ppt/tags/tag15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9"/>
  <p:tag name="PPSPLIT_DONE" val="1"/>
</p:tagLst>
</file>

<file path=ppt/tags/tag160.xml><?xml version="1.0" encoding="utf-8"?>
<p:tagLst xmlns:a="http://schemas.openxmlformats.org/drawingml/2006/main" xmlns:r="http://schemas.openxmlformats.org/officeDocument/2006/relationships" xmlns:p="http://schemas.openxmlformats.org/presentationml/2006/main">
  <p:tag name="PPSPLIT_ID" val=" 2"/>
</p:tagLst>
</file>

<file path=ppt/tags/tag161.xml><?xml version="1.0" encoding="utf-8"?>
<p:tagLst xmlns:a="http://schemas.openxmlformats.org/drawingml/2006/main" xmlns:r="http://schemas.openxmlformats.org/officeDocument/2006/relationships" xmlns:p="http://schemas.openxmlformats.org/presentationml/2006/main">
  <p:tag name="PPSPLIT_ID" val=" 3"/>
</p:tagLst>
</file>

<file path=ppt/tags/tag162.xml><?xml version="1.0" encoding="utf-8"?>
<p:tagLst xmlns:a="http://schemas.openxmlformats.org/drawingml/2006/main" xmlns:r="http://schemas.openxmlformats.org/officeDocument/2006/relationships" xmlns:p="http://schemas.openxmlformats.org/presentationml/2006/main">
  <p:tag name="PPSPLIT_ID" val=" 4"/>
</p:tagLst>
</file>

<file path=ppt/tags/tag163.xml><?xml version="1.0" encoding="utf-8"?>
<p:tagLst xmlns:a="http://schemas.openxmlformats.org/drawingml/2006/main" xmlns:r="http://schemas.openxmlformats.org/officeDocument/2006/relationships" xmlns:p="http://schemas.openxmlformats.org/presentationml/2006/main">
  <p:tag name="PPSPLIT_ID" val=" 5"/>
</p:tagLst>
</file>

<file path=ppt/tags/tag164.xml><?xml version="1.0" encoding="utf-8"?>
<p:tagLst xmlns:a="http://schemas.openxmlformats.org/drawingml/2006/main" xmlns:r="http://schemas.openxmlformats.org/officeDocument/2006/relationships" xmlns:p="http://schemas.openxmlformats.org/presentationml/2006/main">
  <p:tag name="PPSPLIT_ID" val=" 6"/>
</p:tagLst>
</file>

<file path=ppt/tags/tag16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9"/>
  <p:tag name="PPSPLIT_DONE" val="1"/>
</p:tagLst>
</file>

<file path=ppt/tags/tag166.xml><?xml version="1.0" encoding="utf-8"?>
<p:tagLst xmlns:a="http://schemas.openxmlformats.org/drawingml/2006/main" xmlns:r="http://schemas.openxmlformats.org/officeDocument/2006/relationships" xmlns:p="http://schemas.openxmlformats.org/presentationml/2006/main">
  <p:tag name="PPSPLIT_ID" val=" 2"/>
</p:tagLst>
</file>

<file path=ppt/tags/tag167.xml><?xml version="1.0" encoding="utf-8"?>
<p:tagLst xmlns:a="http://schemas.openxmlformats.org/drawingml/2006/main" xmlns:r="http://schemas.openxmlformats.org/officeDocument/2006/relationships" xmlns:p="http://schemas.openxmlformats.org/presentationml/2006/main">
  <p:tag name="PPSPLIT_ID" val=" 3"/>
</p:tagLst>
</file>

<file path=ppt/tags/tag168.xml><?xml version="1.0" encoding="utf-8"?>
<p:tagLst xmlns:a="http://schemas.openxmlformats.org/drawingml/2006/main" xmlns:r="http://schemas.openxmlformats.org/officeDocument/2006/relationships" xmlns:p="http://schemas.openxmlformats.org/presentationml/2006/main">
  <p:tag name="PPSPLIT_ID" val=" 4"/>
</p:tagLst>
</file>

<file path=ppt/tags/tag169.xml><?xml version="1.0" encoding="utf-8"?>
<p:tagLst xmlns:a="http://schemas.openxmlformats.org/drawingml/2006/main" xmlns:r="http://schemas.openxmlformats.org/officeDocument/2006/relationships" xmlns:p="http://schemas.openxmlformats.org/presentationml/2006/main">
  <p:tag name="PPSPLIT_ID" val=" 5"/>
</p:tagLst>
</file>

<file path=ppt/tags/tag170.xml><?xml version="1.0" encoding="utf-8"?>
<p:tagLst xmlns:a="http://schemas.openxmlformats.org/drawingml/2006/main" xmlns:r="http://schemas.openxmlformats.org/officeDocument/2006/relationships" xmlns:p="http://schemas.openxmlformats.org/presentationml/2006/main">
  <p:tag name="PPSPLIT_ID" val=" 6"/>
</p:tagLst>
</file>

<file path=ppt/tags/tag171.xml><?xml version="1.0" encoding="utf-8"?>
<p:tagLst xmlns:a="http://schemas.openxmlformats.org/drawingml/2006/main" xmlns:r="http://schemas.openxmlformats.org/officeDocument/2006/relationships" xmlns:p="http://schemas.openxmlformats.org/presentationml/2006/main">
  <p:tag name="PPSPLIT_ID" val=" 10"/>
</p:tagLst>
</file>

<file path=ppt/tags/tag17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9"/>
  <p:tag name="PPSPLIT_DONE" val="1"/>
</p:tagLst>
</file>

<file path=ppt/tags/tag173.xml><?xml version="1.0" encoding="utf-8"?>
<p:tagLst xmlns:a="http://schemas.openxmlformats.org/drawingml/2006/main" xmlns:r="http://schemas.openxmlformats.org/officeDocument/2006/relationships" xmlns:p="http://schemas.openxmlformats.org/presentationml/2006/main">
  <p:tag name="PPSPLIT_ID" val=" 2"/>
</p:tagLst>
</file>

<file path=ppt/tags/tag174.xml><?xml version="1.0" encoding="utf-8"?>
<p:tagLst xmlns:a="http://schemas.openxmlformats.org/drawingml/2006/main" xmlns:r="http://schemas.openxmlformats.org/officeDocument/2006/relationships" xmlns:p="http://schemas.openxmlformats.org/presentationml/2006/main">
  <p:tag name="PPSPLIT_ID" val=" 3"/>
</p:tagLst>
</file>

<file path=ppt/tags/tag175.xml><?xml version="1.0" encoding="utf-8"?>
<p:tagLst xmlns:a="http://schemas.openxmlformats.org/drawingml/2006/main" xmlns:r="http://schemas.openxmlformats.org/officeDocument/2006/relationships" xmlns:p="http://schemas.openxmlformats.org/presentationml/2006/main">
  <p:tag name="PPSPLIT_ID" val=" 4"/>
</p:tagLst>
</file>

<file path=ppt/tags/tag176.xml><?xml version="1.0" encoding="utf-8"?>
<p:tagLst xmlns:a="http://schemas.openxmlformats.org/drawingml/2006/main" xmlns:r="http://schemas.openxmlformats.org/officeDocument/2006/relationships" xmlns:p="http://schemas.openxmlformats.org/presentationml/2006/main">
  <p:tag name="PPSPLIT_ID" val=" 5"/>
</p:tagLst>
</file>

<file path=ppt/tags/tag177.xml><?xml version="1.0" encoding="utf-8"?>
<p:tagLst xmlns:a="http://schemas.openxmlformats.org/drawingml/2006/main" xmlns:r="http://schemas.openxmlformats.org/officeDocument/2006/relationships" xmlns:p="http://schemas.openxmlformats.org/presentationml/2006/main">
  <p:tag name="PPSPLIT_ID" val=" 6"/>
</p:tagLst>
</file>

<file path=ppt/tags/tag178.xml><?xml version="1.0" encoding="utf-8"?>
<p:tagLst xmlns:a="http://schemas.openxmlformats.org/drawingml/2006/main" xmlns:r="http://schemas.openxmlformats.org/officeDocument/2006/relationships" xmlns:p="http://schemas.openxmlformats.org/presentationml/2006/main">
  <p:tag name="PPSPLIT_ID" val=" 7"/>
</p:tagLst>
</file>

<file path=ppt/tags/tag179.xml><?xml version="1.0" encoding="utf-8"?>
<p:tagLst xmlns:a="http://schemas.openxmlformats.org/drawingml/2006/main" xmlns:r="http://schemas.openxmlformats.org/officeDocument/2006/relationships" xmlns:p="http://schemas.openxmlformats.org/presentationml/2006/main">
  <p:tag name="PPSPLIT_ID" val=" 10"/>
</p:tagLst>
</file>

<file path=ppt/tags/tag18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9"/>
</p:tagLst>
</file>

<file path=ppt/tags/tag181.xml><?xml version="1.0" encoding="utf-8"?>
<p:tagLst xmlns:a="http://schemas.openxmlformats.org/drawingml/2006/main" xmlns:r="http://schemas.openxmlformats.org/officeDocument/2006/relationships" xmlns:p="http://schemas.openxmlformats.org/presentationml/2006/main">
  <p:tag name="PPSPLIT_ID" val=" 2"/>
</p:tagLst>
</file>

<file path=ppt/tags/tag182.xml><?xml version="1.0" encoding="utf-8"?>
<p:tagLst xmlns:a="http://schemas.openxmlformats.org/drawingml/2006/main" xmlns:r="http://schemas.openxmlformats.org/officeDocument/2006/relationships" xmlns:p="http://schemas.openxmlformats.org/presentationml/2006/main">
  <p:tag name="PPSPLIT_ID" val=" 3"/>
</p:tagLst>
</file>

<file path=ppt/tags/tag183.xml><?xml version="1.0" encoding="utf-8"?>
<p:tagLst xmlns:a="http://schemas.openxmlformats.org/drawingml/2006/main" xmlns:r="http://schemas.openxmlformats.org/officeDocument/2006/relationships" xmlns:p="http://schemas.openxmlformats.org/presentationml/2006/main">
  <p:tag name="PPSPLIT_ID" val=" 4"/>
</p:tagLst>
</file>

<file path=ppt/tags/tag184.xml><?xml version="1.0" encoding="utf-8"?>
<p:tagLst xmlns:a="http://schemas.openxmlformats.org/drawingml/2006/main" xmlns:r="http://schemas.openxmlformats.org/officeDocument/2006/relationships" xmlns:p="http://schemas.openxmlformats.org/presentationml/2006/main">
  <p:tag name="PPSPLIT_ID" val=" 5"/>
</p:tagLst>
</file>

<file path=ppt/tags/tag185.xml><?xml version="1.0" encoding="utf-8"?>
<p:tagLst xmlns:a="http://schemas.openxmlformats.org/drawingml/2006/main" xmlns:r="http://schemas.openxmlformats.org/officeDocument/2006/relationships" xmlns:p="http://schemas.openxmlformats.org/presentationml/2006/main">
  <p:tag name="PPSPLIT_ID" val=" 6"/>
</p:tagLst>
</file>

<file path=ppt/tags/tag186.xml><?xml version="1.0" encoding="utf-8"?>
<p:tagLst xmlns:a="http://schemas.openxmlformats.org/drawingml/2006/main" xmlns:r="http://schemas.openxmlformats.org/officeDocument/2006/relationships" xmlns:p="http://schemas.openxmlformats.org/presentationml/2006/main">
  <p:tag name="PPSPLIT_ID" val=" 7"/>
</p:tagLst>
</file>

<file path=ppt/tags/tag187.xml><?xml version="1.0" encoding="utf-8"?>
<p:tagLst xmlns:a="http://schemas.openxmlformats.org/drawingml/2006/main" xmlns:r="http://schemas.openxmlformats.org/officeDocument/2006/relationships" xmlns:p="http://schemas.openxmlformats.org/presentationml/2006/main">
  <p:tag name="PPSPLIT_ID" val=" 8"/>
</p:tagLst>
</file>

<file path=ppt/tags/tag188.xml><?xml version="1.0" encoding="utf-8"?>
<p:tagLst xmlns:a="http://schemas.openxmlformats.org/drawingml/2006/main" xmlns:r="http://schemas.openxmlformats.org/officeDocument/2006/relationships" xmlns:p="http://schemas.openxmlformats.org/presentationml/2006/main">
  <p:tag name="PPSPLIT_ID" val=" 9"/>
</p:tagLst>
</file>

<file path=ppt/tags/tag189.xml><?xml version="1.0" encoding="utf-8"?>
<p:tagLst xmlns:a="http://schemas.openxmlformats.org/drawingml/2006/main" xmlns:r="http://schemas.openxmlformats.org/officeDocument/2006/relationships" xmlns:p="http://schemas.openxmlformats.org/presentationml/2006/main">
  <p:tag name="PPSPLIT_ID" val=" 10"/>
</p:tagLst>
</file>

<file path=ppt/tags/tag19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0"/>
</p:tagLst>
</file>

<file path=ppt/tags/tag19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1"/>
</p:tagLst>
</file>

<file path=ppt/tags/tag19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2"/>
</p:tagLst>
</file>

<file path=ppt/tags/tag19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3"/>
</p:tagLst>
</file>

<file path=ppt/theme/theme1.xml><?xml version="1.0" encoding="utf-8"?>
<a:theme xmlns:a="http://schemas.openxmlformats.org/drawingml/2006/main" name="1_Thème Office">
  <a:themeElements>
    <a:clrScheme name="Bleu chaud">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hème Office">
  <a:themeElements>
    <a:clrScheme name="Bleu chaud">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1612</TotalTime>
  <Words>6007</Words>
  <Application>Microsoft Office PowerPoint</Application>
  <PresentationFormat>Grand écran</PresentationFormat>
  <Paragraphs>1021</Paragraphs>
  <Slides>43</Slides>
  <Notes>42</Notes>
  <HiddenSlides>0</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43</vt:i4>
      </vt:variant>
    </vt:vector>
  </HeadingPairs>
  <TitlesOfParts>
    <vt:vector size="51" baseType="lpstr">
      <vt:lpstr>Calibri</vt:lpstr>
      <vt:lpstr>Arimo</vt:lpstr>
      <vt:lpstr>Arial</vt:lpstr>
      <vt:lpstr>Noto Sans Symbols</vt:lpstr>
      <vt:lpstr>Verdana</vt:lpstr>
      <vt:lpstr>Symbol</vt:lpstr>
      <vt:lpstr>1_Thème Office</vt:lpstr>
      <vt:lpstr>1_Thème Office</vt:lpstr>
      <vt:lpstr>Challenge de données dans la validation systématique d’UBEM :  l’interprétabilité et la complétude de données</vt:lpstr>
      <vt:lpstr>Sommaire</vt:lpstr>
      <vt:lpstr>Introduction</vt:lpstr>
      <vt:lpstr>Contexte – sujet de la thèse</vt:lpstr>
      <vt:lpstr>Contexte – sujet de la thèse</vt:lpstr>
      <vt:lpstr>Contexte – sujet de la thèse</vt:lpstr>
      <vt:lpstr>Conflits dans la préparation de données de validation</vt:lpstr>
      <vt:lpstr>Conflits dans la préparation de données de validation</vt:lpstr>
      <vt:lpstr>Conflits dans la préparation de données de validation</vt:lpstr>
      <vt:lpstr>Conflits dans la préparation de données de validation</vt:lpstr>
      <vt:lpstr>Qualité de données</vt:lpstr>
      <vt:lpstr>Garantir la fiabilité des données de validation</vt:lpstr>
      <vt:lpstr>Garantir la fiabilité des données de validation</vt:lpstr>
      <vt:lpstr>Garantir la fiabilité des données de validation</vt:lpstr>
      <vt:lpstr>Garantir la fiabilité des données de validation</vt:lpstr>
      <vt:lpstr>Garantir la fiabilité des données de validation</vt:lpstr>
      <vt:lpstr>Sources d’écarts entre les mesures et les simulations</vt:lpstr>
      <vt:lpstr>Quantification : tolérance de mesure</vt:lpstr>
      <vt:lpstr>Anomalie – points</vt:lpstr>
      <vt:lpstr>Anomalie – anomalie collective</vt:lpstr>
      <vt:lpstr>Détection d’anomalie – regression + densité de données </vt:lpstr>
      <vt:lpstr>Détection d’anomalie - LSTM-autoencoder</vt:lpstr>
      <vt:lpstr>Détails techniques</vt:lpstr>
      <vt:lpstr>Disponibilité de données</vt:lpstr>
      <vt:lpstr>Problématique &amp; hypothèse</vt:lpstr>
      <vt:lpstr>Problématique &amp; hypothèse</vt:lpstr>
      <vt:lpstr>Méthodes d’ajustement de biais</vt:lpstr>
      <vt:lpstr>Méthodes d’ajustement de biais</vt:lpstr>
      <vt:lpstr>Méthodes d’ajustement de biais</vt:lpstr>
      <vt:lpstr>Méthodes d’ajustement de biais</vt:lpstr>
      <vt:lpstr>Méthodes d’ajustement de biais</vt:lpstr>
      <vt:lpstr>Méthodes d’ajustement de biais</vt:lpstr>
      <vt:lpstr>Méthodes d’ajustement de biais</vt:lpstr>
      <vt:lpstr>Evaluation des méthodes</vt:lpstr>
      <vt:lpstr>Evaluation des méthodes</vt:lpstr>
      <vt:lpstr>Résultats</vt:lpstr>
      <vt:lpstr>Résultats</vt:lpstr>
      <vt:lpstr>Résultats</vt:lpstr>
      <vt:lpstr>Résultats</vt:lpstr>
      <vt:lpstr>Réutilisabilité de données manquantes </vt:lpstr>
      <vt:lpstr>Conclusions </vt:lpstr>
      <vt:lpstr>Conclusions</vt:lpstr>
      <vt:lpstr>Merci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LEFORT Lucie</dc:creator>
  <cp:lastModifiedBy>WANG Chunxiao</cp:lastModifiedBy>
  <cp:revision>3</cp:revision>
  <dcterms:created xsi:type="dcterms:W3CDTF">2020-09-30T14:52:26Z</dcterms:created>
  <dcterms:modified xsi:type="dcterms:W3CDTF">2026-01-19T22:12:30Z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0x010100E02B87E6A427F347A39FB33C17BE774D</vt:lpwstr>
  </property>
</Properties>
</file>